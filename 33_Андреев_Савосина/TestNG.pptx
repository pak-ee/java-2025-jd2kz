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70" r:id="rId14"/>
    <p:sldId id="271" r:id="rId15"/>
    <p:sldId id="272" r:id="rId16"/>
    <p:sldId id="273" r:id="rId17"/>
    <p:sldId id="274" r:id="rId18"/>
    <p:sldId id="275" r:id="rId19"/>
    <p:sldId id="277" r:id="rId20"/>
    <p:sldId id="27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15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96" y="2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C0C782DE-08A9-4EB2-8C79-C0DFA5429D69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0F84DA35-F0F0-4581-ADC5-8300B6EEE8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6068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782DE-08A9-4EB2-8C79-C0DFA5429D69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4DA35-F0F0-4581-ADC5-8300B6EEE8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0603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782DE-08A9-4EB2-8C79-C0DFA5429D69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4DA35-F0F0-4581-ADC5-8300B6EEE8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925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782DE-08A9-4EB2-8C79-C0DFA5429D69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4DA35-F0F0-4581-ADC5-8300B6EEE8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8653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782DE-08A9-4EB2-8C79-C0DFA5429D69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4DA35-F0F0-4581-ADC5-8300B6EEE8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3820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782DE-08A9-4EB2-8C79-C0DFA5429D69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4DA35-F0F0-4581-ADC5-8300B6EEE8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6864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782DE-08A9-4EB2-8C79-C0DFA5429D69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4DA35-F0F0-4581-ADC5-8300B6EEE8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9278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782DE-08A9-4EB2-8C79-C0DFA5429D69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4DA35-F0F0-4581-ADC5-8300B6EEE8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0865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782DE-08A9-4EB2-8C79-C0DFA5429D69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4DA35-F0F0-4581-ADC5-8300B6EEE8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2778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782DE-08A9-4EB2-8C79-C0DFA5429D69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4DA35-F0F0-4581-ADC5-8300B6EEE8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214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782DE-08A9-4EB2-8C79-C0DFA5429D69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4DA35-F0F0-4581-ADC5-8300B6EEE8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09554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782DE-08A9-4EB2-8C79-C0DFA5429D69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4DA35-F0F0-4581-ADC5-8300B6EEE8BF}" type="slidenum">
              <a:rPr lang="ru-RU" smtClean="0"/>
              <a:t>‹#›</a:t>
            </a:fld>
            <a:endParaRPr lang="ru-R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877026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782DE-08A9-4EB2-8C79-C0DFA5429D69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4DA35-F0F0-4581-ADC5-8300B6EEE8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86799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782DE-08A9-4EB2-8C79-C0DFA5429D69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4DA35-F0F0-4581-ADC5-8300B6EEE8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40770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782DE-08A9-4EB2-8C79-C0DFA5429D69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4DA35-F0F0-4581-ADC5-8300B6EEE8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74377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782DE-08A9-4EB2-8C79-C0DFA5429D69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4DA35-F0F0-4581-ADC5-8300B6EEE8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30158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782DE-08A9-4EB2-8C79-C0DFA5429D69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4DA35-F0F0-4581-ADC5-8300B6EEE8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0867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C782DE-08A9-4EB2-8C79-C0DFA5429D69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4DA35-F0F0-4581-ADC5-8300B6EEE8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52666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EA2858-CCB1-4C76-BDD1-4ABA9181FF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63725"/>
            <a:ext cx="9144000" cy="2405063"/>
          </a:xfrm>
        </p:spPr>
        <p:txBody>
          <a:bodyPr anchor="ctr" anchorCtr="0">
            <a:normAutofit/>
          </a:bodyPr>
          <a:lstStyle/>
          <a:p>
            <a:pPr algn="ctr"/>
            <a:r>
              <a:rPr lang="ru-RU" sz="4000" b="1" kern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scadia Code" panose="020B0609020000020004" pitchFamily="49" charset="0"/>
              </a:rPr>
              <a:t>T</a:t>
            </a:r>
            <a:r>
              <a:rPr lang="en-US" sz="4000" b="1" kern="180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Cascadia Code" panose="020B0609020000020004" pitchFamily="49" charset="0"/>
              </a:rPr>
              <a:t>est</a:t>
            </a:r>
            <a:r>
              <a:rPr lang="ru-RU" sz="4000" b="1" kern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scadia Code" panose="020B0609020000020004" pitchFamily="49" charset="0"/>
              </a:rPr>
              <a:t>NG</a:t>
            </a:r>
            <a:br>
              <a:rPr lang="en-US" sz="4000" b="1" kern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scadia Code" panose="020B0609020000020004" pitchFamily="49" charset="0"/>
              </a:rPr>
            </a:br>
            <a:endParaRPr lang="ru-RU" b="1" dirty="0">
              <a:latin typeface="Cambria" panose="02040503050406030204" pitchFamily="18" charset="0"/>
              <a:ea typeface="Cambria" panose="02040503050406030204" pitchFamily="18" charset="0"/>
              <a:cs typeface="Microsoft Sans Serif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706EBA-26FF-E4FC-581D-F8179B7B6020}"/>
              </a:ext>
            </a:extLst>
          </p:cNvPr>
          <p:cNvSpPr txBox="1"/>
          <p:nvPr/>
        </p:nvSpPr>
        <p:spPr>
          <a:xfrm>
            <a:off x="6255657" y="3231848"/>
            <a:ext cx="44123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800" b="1" kern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scadia Code" panose="020B0609020000020004" pitchFamily="49" charset="0"/>
              </a:rPr>
              <a:t>Савосина Дарья</a:t>
            </a:r>
            <a:br>
              <a:rPr lang="ru-RU" sz="1800" b="1" kern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scadia Code" panose="020B0609020000020004" pitchFamily="49" charset="0"/>
              </a:rPr>
            </a:br>
            <a:r>
              <a:rPr lang="ru-RU" sz="1800" b="1" kern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scadia Code" panose="020B0609020000020004" pitchFamily="49" charset="0"/>
              </a:rPr>
              <a:t>Андреев Александр</a:t>
            </a:r>
            <a:br>
              <a:rPr lang="ru-RU" sz="1800" b="1" kern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scadia Code" panose="020B0609020000020004" pitchFamily="49" charset="0"/>
              </a:rPr>
            </a:br>
            <a:r>
              <a:rPr lang="ru-RU" sz="1800" b="1" kern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scadia Code" panose="020B0609020000020004" pitchFamily="49" charset="0"/>
              </a:rPr>
              <a:t>5030102</a:t>
            </a:r>
            <a:r>
              <a:rPr lang="en-US" sz="1800" b="1" kern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scadia Code" panose="020B0609020000020004" pitchFamily="49" charset="0"/>
              </a:rPr>
              <a:t>/30401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7257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935EBF-96EE-40BD-949D-FB30FBF18BD5}"/>
              </a:ext>
            </a:extLst>
          </p:cNvPr>
          <p:cNvSpPr txBox="1"/>
          <p:nvPr/>
        </p:nvSpPr>
        <p:spPr>
          <a:xfrm>
            <a:off x="1181100" y="1028700"/>
            <a:ext cx="9324975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Cambria" panose="02040503050406030204" pitchFamily="18" charset="0"/>
                <a:ea typeface="Cambria" panose="02040503050406030204" pitchFamily="18" charset="0"/>
                <a:cs typeface="Cascadia Code" panose="020B0609020000020004" pitchFamily="49" charset="0"/>
              </a:rPr>
              <a:t>Введение</a:t>
            </a:r>
          </a:p>
          <a:p>
            <a:endParaRPr lang="ru-RU" b="1" dirty="0">
              <a:latin typeface="Cambria" panose="02040503050406030204" pitchFamily="18" charset="0"/>
              <a:ea typeface="Cambria" panose="02040503050406030204" pitchFamily="18" charset="0"/>
              <a:cs typeface="Cascadia Code" panose="020B0609020000020004" pitchFamily="49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scadia Code" panose="020B0609020000020004" pitchFamily="49" charset="0"/>
              </a:rPr>
              <a:t>	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  <a:cs typeface="Cascadia Code" panose="020B0609020000020004" pitchFamily="49" charset="0"/>
              </a:rPr>
              <a:t>Тестирование является неотъемлемой частью разработки программного обеспечения. Оно позволяет убедиться, что программа работает так, </a:t>
            </a:r>
          </a:p>
          <a:p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  <a:cs typeface="Cascadia Code" panose="020B0609020000020004" pitchFamily="49" charset="0"/>
              </a:rPr>
              <a:t>как задумано, а изменения в коде не нарушают его функциональность.</a:t>
            </a:r>
          </a:p>
          <a:p>
            <a:endParaRPr lang="ru-RU" dirty="0">
              <a:latin typeface="Cambria" panose="02040503050406030204" pitchFamily="18" charset="0"/>
              <a:ea typeface="Cambria" panose="02040503050406030204" pitchFamily="18" charset="0"/>
              <a:cs typeface="Cascadia Code" panose="020B0609020000020004" pitchFamily="49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scadia Code" panose="020B0609020000020004" pitchFamily="49" charset="0"/>
              </a:rPr>
              <a:t>	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  <a:cs typeface="Cascadia Code" panose="020B0609020000020004" pitchFamily="49" charset="0"/>
              </a:rPr>
              <a:t>В Java одним из популярных инструментов для автоматизации тестирования является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cs typeface="Cascadia Code" panose="020B0609020000020004" pitchFamily="49" charset="0"/>
              </a:rPr>
              <a:t>TestNG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  <a:cs typeface="Cascadia Code" panose="020B0609020000020004" pitchFamily="49" charset="0"/>
              </a:rPr>
              <a:t>. Это мощная и гибкая библиотека, созданная для поддержки различных типов тестирования.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3390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935EBF-96EE-40BD-949D-FB30FBF18BD5}"/>
              </a:ext>
            </a:extLst>
          </p:cNvPr>
          <p:cNvSpPr txBox="1"/>
          <p:nvPr/>
        </p:nvSpPr>
        <p:spPr>
          <a:xfrm>
            <a:off x="1181100" y="1028700"/>
            <a:ext cx="9324975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Cambria" panose="02040503050406030204" pitchFamily="18" charset="0"/>
                <a:ea typeface="Cambria" panose="02040503050406030204" pitchFamily="18" charset="0"/>
              </a:rPr>
              <a:t>Зачем нужны тесты в </a:t>
            </a:r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Java</a:t>
            </a:r>
            <a:r>
              <a:rPr lang="ru-RU" sz="3200" b="1" dirty="0">
                <a:latin typeface="Cambria" panose="02040503050406030204" pitchFamily="18" charset="0"/>
                <a:ea typeface="Cambria" panose="02040503050406030204" pitchFamily="18" charset="0"/>
              </a:rPr>
              <a:t>?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Контроль качества кода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: Тесты помогают проверить, что методы и классы программы работают так, как задумано.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Раннее обнаружение ошибок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: Тесты позволяют находить дефекты на этапе разработки, что экономит время и снижает затраты на исправление.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Обеспечение стабильности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: При внесении изменений тесты проверяют, что существующая функциональность остаётся работоспособной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Автоматизация проверок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: Ручное тестирование утомительно и неэффективно для больших систем. Автоматизация решает эту проблему.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Документация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: Тесты служат примером использования методов и помогают другим разработчикам понять, как работает код.</a:t>
            </a:r>
          </a:p>
          <a:p>
            <a:endParaRPr lang="ru-RU" dirty="0">
              <a:latin typeface="Century Gothic" panose="020B0502020202020204" pitchFamily="34" charset="0"/>
            </a:endParaRPr>
          </a:p>
          <a:p>
            <a:endParaRPr lang="ru-RU" dirty="0">
              <a:latin typeface="Century Gothic" panose="020B0502020202020204" pitchFamily="34" charset="0"/>
            </a:endParaRPr>
          </a:p>
          <a:p>
            <a:endParaRPr lang="ru-RU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0520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935EBF-96EE-40BD-949D-FB30FBF18BD5}"/>
              </a:ext>
            </a:extLst>
          </p:cNvPr>
          <p:cNvSpPr txBox="1"/>
          <p:nvPr/>
        </p:nvSpPr>
        <p:spPr>
          <a:xfrm>
            <a:off x="1181100" y="1028700"/>
            <a:ext cx="9324975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Cambria" panose="02040503050406030204" pitchFamily="18" charset="0"/>
                <a:ea typeface="Cambria" panose="02040503050406030204" pitchFamily="18" charset="0"/>
              </a:rPr>
              <a:t>Как работают тесты в Java?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Тесты в Java представляют собой набор методов, написанных с использованием тестового фреймворка, такого как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TestNG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Эти методы проверяют: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1)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Результаты выполнения функций,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2)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Значения переменных,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3)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Поведение программы в нестандартных ситуациях.</a:t>
            </a:r>
          </a:p>
          <a:p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ru-RU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9202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935EBF-96EE-40BD-949D-FB30FBF18BD5}"/>
              </a:ext>
            </a:extLst>
          </p:cNvPr>
          <p:cNvSpPr txBox="1"/>
          <p:nvPr/>
        </p:nvSpPr>
        <p:spPr>
          <a:xfrm>
            <a:off x="1181100" y="1028700"/>
            <a:ext cx="932497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Cambria" panose="02040503050406030204" pitchFamily="18" charset="0"/>
                <a:ea typeface="Cambria" panose="02040503050406030204" pitchFamily="18" charset="0"/>
              </a:rPr>
              <a:t>Как работают тесты в Java?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Работа теста состоит из следующих этапов:</a:t>
            </a:r>
          </a:p>
          <a:p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) Подготовка данных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: Создаются входные данные, необходимые для выполнения теста.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) Вызов тестируемого метода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: Проверяемая функция вызывается с заданными параметрами.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) Сравнение результата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: Фактический результат выполнения метода сравнивается с ожидаемым с помощью утверждений 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assertions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).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) Отчёт о тестировании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: По итогам выполнения тестов генерируется отчёт с результатами.</a:t>
            </a:r>
          </a:p>
          <a:p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Фреймворк автоматизирует процесс: запускает тесты, фиксирует их успех или неудачу, и создаёт отчёты.</a:t>
            </a:r>
          </a:p>
          <a:p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ru-RU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644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935EBF-96EE-40BD-949D-FB30FBF18BD5}"/>
              </a:ext>
            </a:extLst>
          </p:cNvPr>
          <p:cNvSpPr txBox="1"/>
          <p:nvPr/>
        </p:nvSpPr>
        <p:spPr>
          <a:xfrm>
            <a:off x="1181100" y="1028700"/>
            <a:ext cx="932497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Cambria" panose="02040503050406030204" pitchFamily="18" charset="0"/>
                <a:ea typeface="Cambria" panose="02040503050406030204" pitchFamily="18" charset="0"/>
              </a:rPr>
              <a:t>Как работают тесты в Java?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Работа теста состоит из следующих этапов:</a:t>
            </a:r>
          </a:p>
          <a:p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) Подготовка данных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: Создаются входные данные, необходимые для выполнения теста.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) Вызов тестируемого метода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: Проверяемая функция вызывается с заданными параметрами.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) Сравнение результата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: Фактический результат выполнения метода сравнивается с ожидаемым с помощью утверждений 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assertions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).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) Отчёт о тестировании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: По итогам выполнения тестов генерируется отчёт с результатами.</a:t>
            </a:r>
          </a:p>
          <a:p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Фреймворк автоматизирует процесс: запускает тесты, фиксирует их успех или неудачу, и создаёт отчёты.</a:t>
            </a:r>
          </a:p>
          <a:p>
            <a:endParaRPr lang="ru-RU" dirty="0">
              <a:latin typeface="Century Gothic" panose="020B0502020202020204" pitchFamily="34" charset="0"/>
            </a:endParaRPr>
          </a:p>
          <a:p>
            <a:endParaRPr lang="ru-RU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1584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935EBF-96EE-40BD-949D-FB30FBF18BD5}"/>
              </a:ext>
            </a:extLst>
          </p:cNvPr>
          <p:cNvSpPr txBox="1"/>
          <p:nvPr/>
        </p:nvSpPr>
        <p:spPr>
          <a:xfrm>
            <a:off x="1181100" y="1028700"/>
            <a:ext cx="932497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Cambria" panose="02040503050406030204" pitchFamily="18" charset="0"/>
                <a:ea typeface="Cambria" panose="02040503050406030204" pitchFamily="18" charset="0"/>
              </a:rPr>
              <a:t>Как работают тесты в Java?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Работа теста состоит из следующих этапов:</a:t>
            </a:r>
          </a:p>
          <a:p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) Подготовка данных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: Создаются входные данные, необходимые для выполнения теста.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) Вызов тестируемого метода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: Проверяемая функция вызывается с заданными параметрами.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) Сравнение результата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: Фактический результат выполнения метода сравнивается с ожидаемым с помощью утверждений 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assertions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).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) Отчёт о тестировании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: По итогам выполнения тестов генерируется отчёт с результатами.</a:t>
            </a:r>
          </a:p>
          <a:p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Фреймворк автоматизирует процесс: запускает тесты, фиксирует их успех или неудачу, и создаёт отчёты.</a:t>
            </a:r>
          </a:p>
          <a:p>
            <a:endParaRPr lang="ru-RU" dirty="0">
              <a:latin typeface="Century Gothic" panose="020B0502020202020204" pitchFamily="34" charset="0"/>
            </a:endParaRPr>
          </a:p>
          <a:p>
            <a:endParaRPr lang="ru-RU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2235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935EBF-96EE-40BD-949D-FB30FBF18BD5}"/>
              </a:ext>
            </a:extLst>
          </p:cNvPr>
          <p:cNvSpPr txBox="1"/>
          <p:nvPr/>
        </p:nvSpPr>
        <p:spPr>
          <a:xfrm>
            <a:off x="1181100" y="1028700"/>
            <a:ext cx="932497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Cambria" panose="02040503050406030204" pitchFamily="18" charset="0"/>
                <a:ea typeface="Cambria" panose="02040503050406030204" pitchFamily="18" charset="0"/>
              </a:rPr>
              <a:t>Что такое </a:t>
            </a:r>
            <a:r>
              <a:rPr lang="ru-RU" sz="3200" b="1" dirty="0" err="1">
                <a:latin typeface="Cambria" panose="02040503050406030204" pitchFamily="18" charset="0"/>
                <a:ea typeface="Cambria" panose="02040503050406030204" pitchFamily="18" charset="0"/>
              </a:rPr>
              <a:t>TestNG</a:t>
            </a:r>
            <a:r>
              <a:rPr lang="ru-RU" sz="3200" b="1" dirty="0">
                <a:latin typeface="Cambria" panose="02040503050406030204" pitchFamily="18" charset="0"/>
                <a:ea typeface="Cambria" panose="02040503050406030204" pitchFamily="18" charset="0"/>
              </a:rPr>
              <a:t>?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TestNG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(Test Next Generation) — это фреймворк для тестирования, созданный как более мощная альтернатива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JUnit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Он поддерживает современные подходы к тестированию и предоставляет расширенные возможности.</a:t>
            </a:r>
          </a:p>
          <a:p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Преимущества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TestNG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) Гибкость аннотаций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: Упрощает написание и организацию тестов.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) Группировка тестов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: Позволяет запускать только определённые тестовые группы.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) Параллельное выполнение тестов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: Ускоряет проверку на многопоточных системах.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) Поддержка параметризации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: Легко тестировать с разными наборами данных.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5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) Интеграция с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Maven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Jenkins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Selenium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и другими инструментами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6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) Генерация отчётов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: После завершения тестов создаются подробные HTML-отчёты с результатами.</a:t>
            </a:r>
          </a:p>
          <a:p>
            <a:endParaRPr lang="ru-RU" dirty="0">
              <a:latin typeface="Century Gothic" panose="020B0502020202020204" pitchFamily="34" charset="0"/>
            </a:endParaRPr>
          </a:p>
          <a:p>
            <a:endParaRPr lang="ru-RU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4266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935EBF-96EE-40BD-949D-FB30FBF18BD5}"/>
              </a:ext>
            </a:extLst>
          </p:cNvPr>
          <p:cNvSpPr txBox="1"/>
          <p:nvPr/>
        </p:nvSpPr>
        <p:spPr>
          <a:xfrm>
            <a:off x="1181100" y="1028700"/>
            <a:ext cx="9324975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Cambria" panose="02040503050406030204" pitchFamily="18" charset="0"/>
                <a:ea typeface="Cambria" panose="02040503050406030204" pitchFamily="18" charset="0"/>
              </a:rPr>
              <a:t>Основные аннотации </a:t>
            </a:r>
            <a:r>
              <a:rPr lang="ru-RU" sz="3200" b="1" dirty="0" err="1">
                <a:latin typeface="Cambria" panose="02040503050406030204" pitchFamily="18" charset="0"/>
                <a:ea typeface="Cambria" panose="02040503050406030204" pitchFamily="18" charset="0"/>
              </a:rPr>
              <a:t>TestNG</a:t>
            </a:r>
            <a:endParaRPr lang="ru-RU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ru-RU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@Test</a:t>
            </a:r>
            <a:b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Обозначает метод как тестовый.</a:t>
            </a:r>
          </a:p>
          <a:p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@BeforeMethod</a:t>
            </a:r>
            <a:b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Выполняется перед каждым тестом. Используется для подготовки окружения.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@AfterMethod</a:t>
            </a:r>
            <a:b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Выполняется после каждого теста. Используется для очистки данных.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ru-RU" b="1" dirty="0">
              <a:latin typeface="Century Gothic" panose="020B0502020202020204" pitchFamily="34" charset="0"/>
            </a:endParaRPr>
          </a:p>
          <a:p>
            <a:endParaRPr lang="ru-RU" b="1" dirty="0">
              <a:latin typeface="Century Gothic" panose="020B0502020202020204" pitchFamily="34" charset="0"/>
            </a:endParaRPr>
          </a:p>
          <a:p>
            <a:endParaRPr lang="en-US" dirty="0">
              <a:latin typeface="Century Gothic" panose="020B0502020202020204" pitchFamily="34" charset="0"/>
            </a:endParaRPr>
          </a:p>
          <a:p>
            <a:endParaRPr lang="ru-RU" dirty="0">
              <a:latin typeface="Century Gothic" panose="020B0502020202020204" pitchFamily="34" charset="0"/>
            </a:endParaRPr>
          </a:p>
          <a:p>
            <a:endParaRPr lang="ru-RU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806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935EBF-96EE-40BD-949D-FB30FBF18BD5}"/>
              </a:ext>
            </a:extLst>
          </p:cNvPr>
          <p:cNvSpPr txBox="1"/>
          <p:nvPr/>
        </p:nvSpPr>
        <p:spPr>
          <a:xfrm>
            <a:off x="1181100" y="1028700"/>
            <a:ext cx="9324975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Cambria" panose="02040503050406030204" pitchFamily="18" charset="0"/>
                <a:ea typeface="Cambria" panose="02040503050406030204" pitchFamily="18" charset="0"/>
              </a:rPr>
              <a:t>Основные аннотации </a:t>
            </a:r>
            <a:r>
              <a:rPr lang="ru-RU" sz="3200" b="1" dirty="0" err="1">
                <a:latin typeface="Cambria" panose="02040503050406030204" pitchFamily="18" charset="0"/>
                <a:ea typeface="Cambria" panose="02040503050406030204" pitchFamily="18" charset="0"/>
              </a:rPr>
              <a:t>TestNG</a:t>
            </a:r>
            <a:endParaRPr lang="ru-RU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@BeforeClass</a:t>
            </a:r>
            <a:b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Выполняется один раз перед всеми тестами в текущем классе.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@AfterClass</a:t>
            </a:r>
            <a:b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Выполняется один раз после выполнения всех тестов класса.</a:t>
            </a:r>
          </a:p>
          <a:p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@DataProvider</a:t>
            </a:r>
            <a:b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Позволяет выполнять один и тот же тест с разными наборами входных данных.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@Parameters</a:t>
            </a:r>
            <a:b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Используется для передачи параметров из XML-конфигурации.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ru-RU" b="1" dirty="0">
              <a:latin typeface="Century Gothic" panose="020B0502020202020204" pitchFamily="34" charset="0"/>
            </a:endParaRPr>
          </a:p>
          <a:p>
            <a:endParaRPr lang="ru-RU" b="1" dirty="0">
              <a:latin typeface="Century Gothic" panose="020B0502020202020204" pitchFamily="34" charset="0"/>
            </a:endParaRPr>
          </a:p>
          <a:p>
            <a:endParaRPr lang="en-US" dirty="0">
              <a:latin typeface="Century Gothic" panose="020B0502020202020204" pitchFamily="34" charset="0"/>
            </a:endParaRPr>
          </a:p>
          <a:p>
            <a:endParaRPr lang="ru-RU" dirty="0">
              <a:latin typeface="Century Gothic" panose="020B0502020202020204" pitchFamily="34" charset="0"/>
            </a:endParaRPr>
          </a:p>
          <a:p>
            <a:endParaRPr lang="ru-RU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8007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935EBF-96EE-40BD-949D-FB30FBF18BD5}"/>
              </a:ext>
            </a:extLst>
          </p:cNvPr>
          <p:cNvSpPr txBox="1"/>
          <p:nvPr/>
        </p:nvSpPr>
        <p:spPr>
          <a:xfrm>
            <a:off x="1181100" y="1028700"/>
            <a:ext cx="9324975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Cambria" panose="02040503050406030204" pitchFamily="18" charset="0"/>
                <a:ea typeface="Cambria" panose="02040503050406030204" pitchFamily="18" charset="0"/>
              </a:rPr>
              <a:t>Примеры использования </a:t>
            </a:r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TestNG</a:t>
            </a:r>
            <a:endParaRPr lang="ru-RU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ru-RU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Рассмотрим класс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BankAccount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>
              <a:latin typeface="Century Gothic" panose="020B0502020202020204" pitchFamily="34" charset="0"/>
            </a:endParaRPr>
          </a:p>
          <a:p>
            <a:endParaRPr lang="en-US" dirty="0">
              <a:latin typeface="Century Gothic" panose="020B0502020202020204" pitchFamily="34" charset="0"/>
            </a:endParaRPr>
          </a:p>
          <a:p>
            <a:endParaRPr lang="en-US" dirty="0">
              <a:latin typeface="Century Gothic" panose="020B0502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339D010-D23C-48FC-8B8D-6824CC205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2480487"/>
            <a:ext cx="6569279" cy="3106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811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935EBF-96EE-40BD-949D-FB30FBF18BD5}"/>
              </a:ext>
            </a:extLst>
          </p:cNvPr>
          <p:cNvSpPr txBox="1"/>
          <p:nvPr/>
        </p:nvSpPr>
        <p:spPr>
          <a:xfrm>
            <a:off x="1181100" y="1028700"/>
            <a:ext cx="9324975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Cambria" panose="02040503050406030204" pitchFamily="18" charset="0"/>
                <a:ea typeface="Cambria" panose="02040503050406030204" pitchFamily="18" charset="0"/>
              </a:rPr>
              <a:t>Примеры использования </a:t>
            </a:r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TestNG</a:t>
            </a:r>
            <a:endParaRPr lang="ru-RU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ru-RU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Рассмотрим класс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BankAccount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>
              <a:latin typeface="Century Gothic" panose="020B0502020202020204" pitchFamily="34" charset="0"/>
            </a:endParaRPr>
          </a:p>
          <a:p>
            <a:endParaRPr lang="en-US" dirty="0">
              <a:latin typeface="Century Gothic" panose="020B0502020202020204" pitchFamily="34" charset="0"/>
            </a:endParaRPr>
          </a:p>
          <a:p>
            <a:endParaRPr lang="en-US" dirty="0">
              <a:latin typeface="Century Gothic" panose="020B0502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AEC82A4-91C0-420C-85C6-F6BF2420E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2479534"/>
            <a:ext cx="6092242" cy="3504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25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935EBF-96EE-40BD-949D-FB30FBF18BD5}"/>
              </a:ext>
            </a:extLst>
          </p:cNvPr>
          <p:cNvSpPr txBox="1"/>
          <p:nvPr/>
        </p:nvSpPr>
        <p:spPr>
          <a:xfrm>
            <a:off x="1181100" y="1028700"/>
            <a:ext cx="9324975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Cambria" panose="02040503050406030204" pitchFamily="18" charset="0"/>
                <a:ea typeface="Cambria" panose="02040503050406030204" pitchFamily="18" charset="0"/>
              </a:rPr>
              <a:t>Пример</a:t>
            </a:r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sz="3200" b="1" dirty="0">
                <a:latin typeface="Cambria" panose="02040503050406030204" pitchFamily="18" charset="0"/>
                <a:ea typeface="Cambria" panose="02040503050406030204" pitchFamily="18" charset="0"/>
              </a:rPr>
              <a:t>гибкости аннотаций </a:t>
            </a:r>
          </a:p>
          <a:p>
            <a:endParaRPr lang="en-US" dirty="0">
              <a:latin typeface="Century Gothic" panose="020B0502020202020204" pitchFamily="34" charset="0"/>
            </a:endParaRPr>
          </a:p>
          <a:p>
            <a:endParaRPr lang="en-US" dirty="0">
              <a:latin typeface="Century Gothic" panose="020B0502020202020204" pitchFamily="34" charset="0"/>
            </a:endParaRPr>
          </a:p>
          <a:p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3061D5-2832-45A1-9230-120AD54BB318}"/>
              </a:ext>
            </a:extLst>
          </p:cNvPr>
          <p:cNvSpPr txBox="1"/>
          <p:nvPr/>
        </p:nvSpPr>
        <p:spPr>
          <a:xfrm>
            <a:off x="10401301" y="5780782"/>
            <a:ext cx="17907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{0}</a:t>
            </a:r>
          </a:p>
          <a:p>
            <a:endParaRPr lang="ru-RU" sz="32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F3852CA-EF70-43FD-920E-14D00BDC5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1904354"/>
            <a:ext cx="5893397" cy="400778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FA58A20-1A11-4EEE-A8DF-957921B62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0" y="1904354"/>
            <a:ext cx="2981325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0677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935EBF-96EE-40BD-949D-FB30FBF18BD5}"/>
              </a:ext>
            </a:extLst>
          </p:cNvPr>
          <p:cNvSpPr txBox="1"/>
          <p:nvPr/>
        </p:nvSpPr>
        <p:spPr>
          <a:xfrm>
            <a:off x="1181100" y="1028700"/>
            <a:ext cx="9324975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Cambria" panose="02040503050406030204" pitchFamily="18" charset="0"/>
                <a:ea typeface="Cambria" panose="02040503050406030204" pitchFamily="18" charset="0"/>
              </a:rPr>
              <a:t>Пример</a:t>
            </a:r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sz="3200" b="1" dirty="0">
                <a:latin typeface="Cambria" panose="02040503050406030204" pitchFamily="18" charset="0"/>
                <a:ea typeface="Cambria" panose="02040503050406030204" pitchFamily="18" charset="0"/>
              </a:rPr>
              <a:t>гибкости аннотаций </a:t>
            </a:r>
          </a:p>
          <a:p>
            <a:endParaRPr lang="en-US" dirty="0">
              <a:latin typeface="Century Gothic" panose="020B0502020202020204" pitchFamily="34" charset="0"/>
            </a:endParaRPr>
          </a:p>
          <a:p>
            <a:endParaRPr lang="en-US" dirty="0">
              <a:latin typeface="Century Gothic" panose="020B0502020202020204" pitchFamily="34" charset="0"/>
            </a:endParaRPr>
          </a:p>
          <a:p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3061D5-2832-45A1-9230-120AD54BB318}"/>
              </a:ext>
            </a:extLst>
          </p:cNvPr>
          <p:cNvSpPr txBox="1"/>
          <p:nvPr/>
        </p:nvSpPr>
        <p:spPr>
          <a:xfrm>
            <a:off x="10401301" y="5780782"/>
            <a:ext cx="17907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{0}</a:t>
            </a:r>
          </a:p>
          <a:p>
            <a:endParaRPr lang="ru-RU" sz="32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63C82D9-4E86-4D6A-B2C0-6C30B1A88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252" y="3429000"/>
            <a:ext cx="6167743" cy="277911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A9CFC55-0ED4-4EF7-BDE4-3693C4578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00" y="1875083"/>
            <a:ext cx="6171895" cy="1553917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0036A42-A18A-4191-8032-C88AAFC1EE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25" y="1875083"/>
            <a:ext cx="2647950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8677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935EBF-96EE-40BD-949D-FB30FBF18BD5}"/>
              </a:ext>
            </a:extLst>
          </p:cNvPr>
          <p:cNvSpPr txBox="1"/>
          <p:nvPr/>
        </p:nvSpPr>
        <p:spPr>
          <a:xfrm>
            <a:off x="1181100" y="1028700"/>
            <a:ext cx="932497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Cambria" panose="02040503050406030204" pitchFamily="18" charset="0"/>
                <a:ea typeface="Cambria" panose="02040503050406030204" pitchFamily="18" charset="0"/>
              </a:rPr>
              <a:t>Пример</a:t>
            </a:r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sz="3200" b="1" dirty="0">
                <a:latin typeface="Cambria" panose="02040503050406030204" pitchFamily="18" charset="0"/>
                <a:ea typeface="Cambria" panose="02040503050406030204" pitchFamily="18" charset="0"/>
              </a:rPr>
              <a:t>группировки тестов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3061D5-2832-45A1-9230-120AD54BB318}"/>
              </a:ext>
            </a:extLst>
          </p:cNvPr>
          <p:cNvSpPr txBox="1"/>
          <p:nvPr/>
        </p:nvSpPr>
        <p:spPr>
          <a:xfrm>
            <a:off x="10401301" y="5780782"/>
            <a:ext cx="17907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{</a:t>
            </a:r>
            <a:r>
              <a:rPr lang="ru-RU" sz="3200" dirty="0"/>
              <a:t>1</a:t>
            </a:r>
            <a:r>
              <a:rPr lang="en-US" sz="3200" dirty="0"/>
              <a:t>}</a:t>
            </a:r>
          </a:p>
          <a:p>
            <a:endParaRPr lang="ru-RU" sz="32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341C801-8FDB-4357-974C-B1F39CA38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179" y="1875083"/>
            <a:ext cx="5736278" cy="401067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B9F657E-F281-411C-BB06-CE59AEDF4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890474"/>
            <a:ext cx="2733675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782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935EBF-96EE-40BD-949D-FB30FBF18BD5}"/>
              </a:ext>
            </a:extLst>
          </p:cNvPr>
          <p:cNvSpPr txBox="1"/>
          <p:nvPr/>
        </p:nvSpPr>
        <p:spPr>
          <a:xfrm>
            <a:off x="1181100" y="1028700"/>
            <a:ext cx="932497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Cambria" panose="02040503050406030204" pitchFamily="18" charset="0"/>
                <a:ea typeface="Cambria" panose="02040503050406030204" pitchFamily="18" charset="0"/>
              </a:rPr>
              <a:t>Пример параллельного выполнения тестов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3061D5-2832-45A1-9230-120AD54BB318}"/>
              </a:ext>
            </a:extLst>
          </p:cNvPr>
          <p:cNvSpPr txBox="1"/>
          <p:nvPr/>
        </p:nvSpPr>
        <p:spPr>
          <a:xfrm>
            <a:off x="10401301" y="5780782"/>
            <a:ext cx="17907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{</a:t>
            </a:r>
            <a:r>
              <a:rPr lang="ru-RU" sz="3200" dirty="0"/>
              <a:t>2</a:t>
            </a:r>
            <a:r>
              <a:rPr lang="en-US" sz="3200" dirty="0"/>
              <a:t>}</a:t>
            </a:r>
          </a:p>
          <a:p>
            <a:endParaRPr lang="ru-RU" sz="32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73B66F3-7BD5-434A-8F55-487982C5E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1890474"/>
            <a:ext cx="6751041" cy="2022128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947C2C39-5339-4916-B94F-A8B9C4E031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" y="4312711"/>
            <a:ext cx="702461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threadPoolSize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=3 — задаёт количество потоков.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invocationCount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=6 — указывает, сколько раз будет запущен тест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2296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935EBF-96EE-40BD-949D-FB30FBF18BD5}"/>
              </a:ext>
            </a:extLst>
          </p:cNvPr>
          <p:cNvSpPr txBox="1"/>
          <p:nvPr/>
        </p:nvSpPr>
        <p:spPr>
          <a:xfrm>
            <a:off x="1181100" y="1028700"/>
            <a:ext cx="932497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Cambria" panose="02040503050406030204" pitchFamily="18" charset="0"/>
                <a:ea typeface="Cambria" panose="02040503050406030204" pitchFamily="18" charset="0"/>
              </a:rPr>
              <a:t>Поддержка параметризации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3061D5-2832-45A1-9230-120AD54BB318}"/>
              </a:ext>
            </a:extLst>
          </p:cNvPr>
          <p:cNvSpPr txBox="1"/>
          <p:nvPr/>
        </p:nvSpPr>
        <p:spPr>
          <a:xfrm>
            <a:off x="10401301" y="5780782"/>
            <a:ext cx="17907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{</a:t>
            </a:r>
            <a:r>
              <a:rPr lang="ru-RU" sz="3200" dirty="0"/>
              <a:t>3</a:t>
            </a:r>
            <a:r>
              <a:rPr lang="en-US" sz="3200" dirty="0"/>
              <a:t>}</a:t>
            </a:r>
          </a:p>
          <a:p>
            <a:endParaRPr lang="ru-RU" sz="32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E8E65C-8DD1-4C6A-9743-FB38D66283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7"/>
          <a:stretch/>
        </p:blipFill>
        <p:spPr>
          <a:xfrm>
            <a:off x="1181100" y="1779454"/>
            <a:ext cx="6308608" cy="4112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8909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935EBF-96EE-40BD-949D-FB30FBF18BD5}"/>
              </a:ext>
            </a:extLst>
          </p:cNvPr>
          <p:cNvSpPr txBox="1"/>
          <p:nvPr/>
        </p:nvSpPr>
        <p:spPr>
          <a:xfrm>
            <a:off x="1181100" y="1028700"/>
            <a:ext cx="9324975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Cambria" panose="02040503050406030204" pitchFamily="18" charset="0"/>
                <a:ea typeface="Cambria" panose="02040503050406030204" pitchFamily="18" charset="0"/>
              </a:rPr>
              <a:t>Интеграция с </a:t>
            </a:r>
            <a:r>
              <a:rPr lang="ru-RU" sz="3200" b="1" dirty="0" err="1">
                <a:latin typeface="Cambria" panose="02040503050406030204" pitchFamily="18" charset="0"/>
                <a:ea typeface="Cambria" panose="02040503050406030204" pitchFamily="18" charset="0"/>
              </a:rPr>
              <a:t>Maven</a:t>
            </a:r>
            <a:endParaRPr lang="ru-RU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>
              <a:latin typeface="Century Gothic" panose="020B0502020202020204" pitchFamily="34" charset="0"/>
            </a:endParaRPr>
          </a:p>
          <a:p>
            <a:endParaRPr lang="en-US" dirty="0">
              <a:latin typeface="Century Gothic" panose="020B0502020202020204" pitchFamily="34" charset="0"/>
            </a:endParaRPr>
          </a:p>
          <a:p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3061D5-2832-45A1-9230-120AD54BB318}"/>
              </a:ext>
            </a:extLst>
          </p:cNvPr>
          <p:cNvSpPr txBox="1"/>
          <p:nvPr/>
        </p:nvSpPr>
        <p:spPr>
          <a:xfrm>
            <a:off x="10401301" y="5780782"/>
            <a:ext cx="17907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{</a:t>
            </a:r>
            <a:r>
              <a:rPr lang="ru-RU" sz="3200" dirty="0"/>
              <a:t>4</a:t>
            </a:r>
            <a:r>
              <a:rPr lang="en-US" sz="3200" dirty="0"/>
              <a:t>}</a:t>
            </a:r>
          </a:p>
          <a:p>
            <a:endParaRPr lang="ru-RU" sz="32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AB119E5-60C3-4818-8D4F-24D40D8F0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1879853"/>
            <a:ext cx="6171895" cy="1488516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F9934E07-F502-403A-B99A-D335A04D9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3797" y="4025401"/>
            <a:ext cx="778531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Этот код нужно вставить в файл 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pom.xml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вашего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Maven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-проекта.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Файл 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pom.xml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находится в корневой папке проекта и используется для настройки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Maven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включая плагины, зависимости и параметры сборки.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B8AEDA5-4B82-46DA-853D-262F4393A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5950" y="1879853"/>
            <a:ext cx="1000125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2146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935EBF-96EE-40BD-949D-FB30FBF18BD5}"/>
              </a:ext>
            </a:extLst>
          </p:cNvPr>
          <p:cNvSpPr txBox="1"/>
          <p:nvPr/>
        </p:nvSpPr>
        <p:spPr>
          <a:xfrm>
            <a:off x="1181100" y="1028700"/>
            <a:ext cx="9324975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Cambria" panose="02040503050406030204" pitchFamily="18" charset="0"/>
                <a:ea typeface="Cambria" panose="02040503050406030204" pitchFamily="18" charset="0"/>
              </a:rPr>
              <a:t>Генерация отчетов</a:t>
            </a:r>
          </a:p>
          <a:p>
            <a:endParaRPr lang="en-US" dirty="0">
              <a:latin typeface="Century Gothic" panose="020B0502020202020204" pitchFamily="34" charset="0"/>
            </a:endParaRPr>
          </a:p>
          <a:p>
            <a:endParaRPr lang="en-US" dirty="0">
              <a:latin typeface="Century Gothic" panose="020B0502020202020204" pitchFamily="34" charset="0"/>
            </a:endParaRPr>
          </a:p>
          <a:p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3061D5-2832-45A1-9230-120AD54BB318}"/>
              </a:ext>
            </a:extLst>
          </p:cNvPr>
          <p:cNvSpPr txBox="1"/>
          <p:nvPr/>
        </p:nvSpPr>
        <p:spPr>
          <a:xfrm>
            <a:off x="10401301" y="5780782"/>
            <a:ext cx="17907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{</a:t>
            </a:r>
            <a:r>
              <a:rPr lang="ru-RU" sz="3200" dirty="0"/>
              <a:t>5</a:t>
            </a:r>
            <a:r>
              <a:rPr lang="en-US" sz="3200" dirty="0"/>
              <a:t>}</a:t>
            </a:r>
          </a:p>
          <a:p>
            <a:endParaRPr lang="ru-RU" sz="3200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F9934E07-F502-403A-B99A-D335A04D9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" y="1892983"/>
            <a:ext cx="536928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После выполнения тестов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TestNG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автоматически создаёт HTML-отчёты</a:t>
            </a:r>
            <a:r>
              <a:rPr lang="ru-RU" dirty="0">
                <a:latin typeface="Century Gothic" panose="020B0502020202020204" pitchFamily="34" charset="0"/>
              </a:rPr>
              <a:t>.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DDF4EDF-73EB-4346-818A-B4379F70B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2680387"/>
            <a:ext cx="4181475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2561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935EBF-96EE-40BD-949D-FB30FBF18BD5}"/>
              </a:ext>
            </a:extLst>
          </p:cNvPr>
          <p:cNvSpPr txBox="1"/>
          <p:nvPr/>
        </p:nvSpPr>
        <p:spPr>
          <a:xfrm>
            <a:off x="1181100" y="1028700"/>
            <a:ext cx="9324975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Cambria" panose="02040503050406030204" pitchFamily="18" charset="0"/>
                <a:ea typeface="Cambria" panose="02040503050406030204" pitchFamily="18" charset="0"/>
                <a:cs typeface="Cascadia Code" panose="020B0609020000020004" pitchFamily="49" charset="0"/>
              </a:rPr>
              <a:t>Заключение</a:t>
            </a:r>
          </a:p>
          <a:p>
            <a:endParaRPr lang="ru-RU" b="1" dirty="0">
              <a:latin typeface="Cambria" panose="02040503050406030204" pitchFamily="18" charset="0"/>
              <a:ea typeface="Cambria" panose="02040503050406030204" pitchFamily="18" charset="0"/>
              <a:cs typeface="Cascadia Code" panose="020B0609020000020004" pitchFamily="49" charset="0"/>
            </a:endParaRPr>
          </a:p>
          <a:p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TestNG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— это мощный инструмент для автоматизированного тестирования, который идеально подходит для использования в проектах разного масштаба. Его гибкость, возможность параллельного выполнения и удобные инструменты для работы с отчётами делают его отличным выбором для тестирования на Java.</a:t>
            </a:r>
          </a:p>
        </p:txBody>
      </p:sp>
    </p:spTree>
    <p:extLst>
      <p:ext uri="{BB962C8B-B14F-4D97-AF65-F5344CB8AC3E}">
        <p14:creationId xmlns:p14="http://schemas.microsoft.com/office/powerpoint/2010/main" val="7800738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Контур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Контур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онтур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TM04033919[[fn=Контур]]</Template>
  <TotalTime>516</TotalTime>
  <Words>840</Words>
  <Application>Microsoft Office PowerPoint</Application>
  <PresentationFormat>Широкоэкранный</PresentationFormat>
  <Paragraphs>126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6" baseType="lpstr">
      <vt:lpstr>Arial</vt:lpstr>
      <vt:lpstr>Cambria</vt:lpstr>
      <vt:lpstr>Century Gothic</vt:lpstr>
      <vt:lpstr>Courier New</vt:lpstr>
      <vt:lpstr>Tw Cen MT</vt:lpstr>
      <vt:lpstr>Контур</vt:lpstr>
      <vt:lpstr>TestNG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Доклад о библиотеке тестирования TestNG в Java</dc:title>
  <dc:creator>Кристина Голева</dc:creator>
  <cp:lastModifiedBy>Саша Андреев</cp:lastModifiedBy>
  <cp:revision>19</cp:revision>
  <dcterms:created xsi:type="dcterms:W3CDTF">2024-12-15T14:16:30Z</dcterms:created>
  <dcterms:modified xsi:type="dcterms:W3CDTF">2025-12-08T18:57:25Z</dcterms:modified>
</cp:coreProperties>
</file>