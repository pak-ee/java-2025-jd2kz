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presProps.xml" ContentType="application/vnd.openxmlformats-officedocument.presentationml.presPro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D05E92-0C18-4BAD-80B7-D8B1B06EE89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1145F3-E32E-480A-AC8B-E8A0186027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86D49D-4A79-4EEE-B408-E0CD71253B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66F610-550C-404B-86A6-F3FEC397837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2A9D78-17AD-463E-8241-27635A31437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47640" y="25848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2F9EF2-6CD8-42FA-AD1A-A59705B81D2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4764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A0F41F-67C7-474B-AA0C-7437D6F79B8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03576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B019EA-6E45-4105-9389-D1A58CF7E0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4764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4069BD-7605-4DE5-92F1-4569BDD546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4764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EBE5D4-36C6-44FA-8DFA-EDA3D2ECE11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4764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03576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152914-D11A-472F-AAA9-D07D23F9C84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20300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75872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476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20300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75872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94947E-B68D-49E7-BDDF-CD59F63CE2D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C60C9E-F26F-4246-9807-C14751D4B3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00F304-35A0-4F97-A6D8-19C109BEE2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D19F31-14CE-4845-A1FA-31BD3161C2E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960980-C5BE-4FE4-B5AE-D055EFC2AE5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5E18B1-8A45-4BBD-9D5F-6626A8639AD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47640" y="25848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51AF7F-3B73-4D32-AAC8-60413C3F65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4764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F8D631-8AAD-4B2A-A682-B38377697AF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03576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FF00BD-D868-4647-BE28-B4766E10EF5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4764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6EA46A-1EEA-4033-A1A1-3D02D6C5D0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4764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7A2BF5-1B25-4D69-AAA1-21150752C00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4764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03576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507DB6-22ED-44F5-A076-DDA7EC664CD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20300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75872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476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20300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75872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D84AFF-3AE9-4B1A-A24A-AE03D2DF3F2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323000"/>
            <a:ext cx="9143640" cy="218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88000"/>
          </a:bodyPr>
          <a:p>
            <a:pPr indent="0" algn="ctr">
              <a:lnSpc>
                <a:spcPct val="13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 Light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 Light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 Light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 Light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 Light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 Light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 Light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 Light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 Light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 Light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alibri Light"/>
              </a:rPr>
              <a:t>Second level </a:t>
            </a:r>
            <a:endParaRPr b="0" lang="en-US" sz="2400" spc="-1" strike="noStrike">
              <a:solidFill>
                <a:srgbClr val="000000"/>
              </a:solidFill>
              <a:latin typeface="Calibri Light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Calibri Light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 Light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Calibri Light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Calibri Light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523880" y="1323000"/>
            <a:ext cx="9143640" cy="218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71000"/>
          </a:bodyPr>
          <a:p>
            <a:pPr indent="0" algn="ctr">
              <a:lnSpc>
                <a:spcPct val="130000"/>
              </a:lnSpc>
              <a:buNone/>
            </a:pPr>
            <a:r>
              <a:rPr b="1" lang="ru-RU" sz="6000" spc="-1" strike="noStrike">
                <a:solidFill>
                  <a:srgbClr val="000000"/>
                </a:solidFill>
                <a:latin typeface="Calibri Light"/>
              </a:rPr>
              <a:t>П</a:t>
            </a:r>
            <a:r>
              <a:rPr b="1" lang="en-US" sz="6000" spc="-1" strike="noStrike">
                <a:solidFill>
                  <a:srgbClr val="000000"/>
                </a:solidFill>
                <a:latin typeface="Calibri Light"/>
              </a:rPr>
              <a:t>ринципы проектирования программного обеспечения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1523880" y="4541040"/>
            <a:ext cx="10158480" cy="1654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000"/>
          </a:bodyPr>
          <a:p>
            <a:pPr indent="0" algn="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404040"/>
                </a:solidFill>
                <a:latin typeface="Calibri Light"/>
              </a:rPr>
              <a:t>группа 5030102/30002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404040"/>
                </a:solidFill>
                <a:latin typeface="Calibri Light"/>
              </a:rPr>
              <a:t>студенты: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404040"/>
                </a:solidFill>
                <a:latin typeface="Calibri Light"/>
              </a:rPr>
              <a:t>Суханов Ф.А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404040"/>
                </a:solidFill>
                <a:latin typeface="Calibri Light"/>
              </a:rPr>
              <a:t>Санин Д.Д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Введение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17960" y="1584360"/>
            <a:ext cx="5966640" cy="4648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000"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В рамках настоящего выступления будут рассмотрены фундаментальные принципы проектирования программного обеспечения, применяемые в разработке на языке Java. 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Поскольку принципы SOLID были подробно изучены ранее, акцент будет сделан на дополнительных, но не менее значимых концепциях. 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Структура доклада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5240" cy="4599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7000"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3430" spc="-1" strike="noStrike">
                <a:solidFill>
                  <a:srgbClr val="404040"/>
                </a:solidFill>
                <a:latin typeface="Calibri Light"/>
              </a:rPr>
              <a:t>1.Принципы модульного проектирования</a:t>
            </a:r>
            <a:endParaRPr b="0" lang="en-US" sz="343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404040"/>
                </a:solidFill>
                <a:latin typeface="Calibri Light"/>
              </a:rPr>
              <a:t>- </a:t>
            </a: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Высокая связность (High Cohesion)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404040"/>
                </a:solidFill>
                <a:latin typeface="Calibri Light"/>
              </a:rPr>
              <a:t>- </a:t>
            </a: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Слабое зацепление (Low Coupling)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3430" spc="-1" strike="noStrike">
                <a:solidFill>
                  <a:srgbClr val="404040"/>
                </a:solidFill>
                <a:latin typeface="Calibri Light"/>
              </a:rPr>
              <a:t>2.Принципы проектирования пакетов и компонентов</a:t>
            </a:r>
            <a:endParaRPr b="0" lang="en-US" sz="343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404040"/>
                </a:solidFill>
                <a:latin typeface="Calibri Light"/>
              </a:rPr>
              <a:t>- </a:t>
            </a: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Устойчивость пакетов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404040"/>
                </a:solidFill>
                <a:latin typeface="Calibri Light"/>
              </a:rPr>
              <a:t>- </a:t>
            </a: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Направление зависимостей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3430" spc="-1" strike="noStrike">
                <a:solidFill>
                  <a:srgbClr val="404040"/>
                </a:solidFill>
                <a:latin typeface="Calibri Light"/>
              </a:rPr>
              <a:t>3.Прагматичные принципы разработки</a:t>
            </a:r>
            <a:endParaRPr b="0" lang="en-US" sz="343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404040"/>
                </a:solidFill>
                <a:latin typeface="Calibri Light"/>
              </a:rPr>
              <a:t>- </a:t>
            </a: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DRY 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404040"/>
                </a:solidFill>
                <a:latin typeface="Calibri Light"/>
              </a:rPr>
              <a:t>- </a:t>
            </a: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KISS 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404040"/>
                </a:solidFill>
                <a:latin typeface="Calibri Light"/>
              </a:rPr>
              <a:t>- </a:t>
            </a: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YAGNI 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404040"/>
                </a:solidFill>
                <a:latin typeface="Calibri Light"/>
              </a:rPr>
              <a:t>- </a:t>
            </a: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Закон Деметры 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Принцип высокой связности 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404040"/>
                </a:solidFill>
                <a:latin typeface="Calibri Light"/>
              </a:rPr>
              <a:t>Связность </a:t>
            </a: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— метрика, характеризующая степень фокусировки элементов класса (или модуля) на выполнении единой логической задачи.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404040"/>
                </a:solidFill>
                <a:latin typeface="Calibri Light"/>
              </a:rPr>
              <a:t>- </a:t>
            </a:r>
            <a:r>
              <a:rPr b="1" lang="en-US" sz="2800" spc="-1" strike="noStrike">
                <a:solidFill>
                  <a:srgbClr val="404040"/>
                </a:solidFill>
                <a:latin typeface="Calibri Light"/>
              </a:rPr>
              <a:t>Высокая связность</a:t>
            </a: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 свидетельствует о корректном распределении ответственности: класс решает чётко определённую задачу.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404040"/>
                </a:solidFill>
                <a:latin typeface="Calibri Light"/>
              </a:rPr>
              <a:t>- </a:t>
            </a:r>
            <a:r>
              <a:rPr b="1" lang="en-US" sz="2800" spc="-1" strike="noStrike">
                <a:solidFill>
                  <a:srgbClr val="404040"/>
                </a:solidFill>
                <a:latin typeface="Calibri Light"/>
              </a:rPr>
              <a:t>Низкая связность</a:t>
            </a: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 является индикатором нарушения принципа единой ответственности: класс реализует разнородную функциональность, что усложняет его сопровождение и тестирование.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1" lang="en-US" sz="3550" spc="-1" strike="noStrike">
                <a:solidFill>
                  <a:srgbClr val="000000"/>
                </a:solidFill>
                <a:latin typeface="Calibri Light"/>
              </a:rPr>
              <a:t>Пример с нарушением принципа (низкая связность)</a:t>
            </a:r>
            <a:endParaRPr b="0" lang="en-US" sz="355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91" name="Рисунок 1" descr="Изображение выглядит как текст, снимок экрана, программное обеспечение, дисплей&#10;&#10;Содержимое, созданное искусственным интеллектом, может быть неверным."/>
          <p:cNvPicPr/>
          <p:nvPr/>
        </p:nvPicPr>
        <p:blipFill>
          <a:blip r:embed="rId1"/>
          <a:stretch/>
        </p:blipFill>
        <p:spPr>
          <a:xfrm>
            <a:off x="2559600" y="1426320"/>
            <a:ext cx="6692040" cy="4961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Пример корректной реализации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Пример корректной реализации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pic>
        <p:nvPicPr>
          <p:cNvPr id="94" name="Рисунок 1" descr="Изображение выглядит как текст, снимок экрана, программное обеспечение, Шрифт&#10;&#10;Содержимое, созданное искусственным интеллектом, может быть неверным."/>
          <p:cNvPicPr/>
          <p:nvPr/>
        </p:nvPicPr>
        <p:blipFill>
          <a:blip r:embed="rId1"/>
          <a:stretch/>
        </p:blipFill>
        <p:spPr>
          <a:xfrm>
            <a:off x="252360" y="1514160"/>
            <a:ext cx="5940000" cy="4662360"/>
          </a:xfrm>
          <a:prstGeom prst="rect">
            <a:avLst/>
          </a:prstGeom>
          <a:ln w="0">
            <a:noFill/>
          </a:ln>
        </p:spPr>
      </p:pic>
      <p:pic>
        <p:nvPicPr>
          <p:cNvPr id="95" name="Рисунок 1" descr="Изображение выглядит как текст, снимок экрана, Шрифт&#10;&#10;Содержимое, созданное искусственным интеллектом, может быть неверным."/>
          <p:cNvPicPr/>
          <p:nvPr/>
        </p:nvPicPr>
        <p:blipFill>
          <a:blip r:embed="rId2"/>
          <a:stretch/>
        </p:blipFill>
        <p:spPr>
          <a:xfrm>
            <a:off x="6251400" y="2288520"/>
            <a:ext cx="5721120" cy="2396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Принцип слабого зацепления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404040"/>
                </a:solidFill>
                <a:latin typeface="Calibri Light"/>
              </a:rPr>
              <a:t>Зацепление </a:t>
            </a: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— метрика, характеризующая степень взаимозависимости между классами или модулями.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404040"/>
                </a:solidFill>
                <a:latin typeface="Calibri Light"/>
              </a:rPr>
              <a:t>- </a:t>
            </a:r>
            <a:r>
              <a:rPr b="1" lang="en-US" sz="2800" spc="-1" strike="noStrike">
                <a:solidFill>
                  <a:srgbClr val="404040"/>
                </a:solidFill>
                <a:latin typeface="Calibri Light"/>
              </a:rPr>
              <a:t>Слабое зацепление</a:t>
            </a: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 достигается через взаимодействие по контрактам (интерфейсам), что минимизирует взаимные знания о внутренней реализации.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404040"/>
                </a:solidFill>
                <a:latin typeface="Calibri Light"/>
              </a:rPr>
              <a:t>- </a:t>
            </a:r>
            <a:r>
              <a:rPr b="1" lang="en-US" sz="2800" spc="-1" strike="noStrike">
                <a:solidFill>
                  <a:srgbClr val="404040"/>
                </a:solidFill>
                <a:latin typeface="Calibri Light"/>
              </a:rPr>
              <a:t>Сильное зацепление</a:t>
            </a: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 возникает при использовании конкретных реализаций и ведёт к каскадным изменениям при модификации системы.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Принципы проектирования пакетов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404040"/>
                </a:solidFill>
                <a:latin typeface="Calibri Light"/>
              </a:rPr>
              <a:t>- </a:t>
            </a:r>
            <a:r>
              <a:rPr b="1" lang="en-US" sz="2800" spc="-1" strike="noStrike">
                <a:solidFill>
                  <a:srgbClr val="404040"/>
                </a:solidFill>
                <a:latin typeface="Calibri Light"/>
              </a:rPr>
              <a:t>Абстрактные (неустойчивые) пакеты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Содержат интерфейсы и абстрактные классы, редко подверженные изменениям.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Пример: javax.servlet.* (интерфейсы Servlet, ServletRequest)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404040"/>
                </a:solidFill>
                <a:latin typeface="Calibri Light"/>
              </a:rPr>
              <a:t>- </a:t>
            </a:r>
            <a:r>
              <a:rPr b="1" lang="en-US" sz="2800" spc="-1" strike="noStrike">
                <a:solidFill>
                  <a:srgbClr val="404040"/>
                </a:solidFill>
                <a:latin typeface="Calibri Light"/>
              </a:rPr>
              <a:t>Конкретные (устойчивые) пакеты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Содержат реализации, которые могут изменяться относительно часто.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Прагматичный принцип DRY 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404040"/>
                </a:solidFill>
                <a:latin typeface="Calibri Light"/>
              </a:rPr>
              <a:t>Пример нарушения принципа: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pic>
        <p:nvPicPr>
          <p:cNvPr id="102" name="Рисунок 1" descr="Изображение выглядит как снимок экрана, текст, Мультимедийное программное обеспечение, программное обеспечение&#10;&#10;Содержимое, созданное искусственным интеллектом, может быть неверным."/>
          <p:cNvPicPr/>
          <p:nvPr/>
        </p:nvPicPr>
        <p:blipFill>
          <a:blip r:embed="rId1"/>
          <a:stretch/>
        </p:blipFill>
        <p:spPr>
          <a:xfrm>
            <a:off x="693360" y="2502360"/>
            <a:ext cx="10805400" cy="3530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Корректная реализация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4" name="Рисунок 1" descr="Изображение выглядит как текст, снимок экрана, программное обеспечение, дисплей&#10;&#10;Содержимое, созданное искусственным интеллектом, может быть неверным."/>
          <p:cNvPicPr/>
          <p:nvPr/>
        </p:nvPicPr>
        <p:blipFill>
          <a:blip r:embed="rId1"/>
          <a:stretch/>
        </p:blipFill>
        <p:spPr>
          <a:xfrm>
            <a:off x="2690640" y="1297440"/>
            <a:ext cx="6315480" cy="5004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Дополнительные прагматичные принципы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404040"/>
                </a:solidFill>
                <a:latin typeface="Calibri Light"/>
              </a:rPr>
              <a:t>Принцип KISS</a:t>
            </a: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 (Keep It Simple, Stupid)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Требует выбора наиболее простого и очевидного решения задачи. Избыточные абстракции, созданные "на перспективу", усложняют понимание системы.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404040"/>
                </a:solidFill>
                <a:latin typeface="Calibri Light"/>
              </a:rPr>
              <a:t>Принцип YAGNI</a:t>
            </a: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 (You Ain't Gonna Need It)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Запрещает реализацию функциональности, отсутствующей в текущих требованиях. Разработка "на вырост" приводит к увеличению сложности кодовой базы без реальной необходимости.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Дополнительные прагматичные принципы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404040"/>
                </a:solidFill>
                <a:latin typeface="Calibri Light"/>
              </a:rPr>
              <a:t>Закон Деметры</a:t>
            </a: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 (Law of Demeter / Principle of Least Knowledge)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Ограничивает область знаний объекта: метод должен взаимодействовать только с: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1.Параметрами, переданными в метод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2.Собственными атрибутами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3.Объектами, созданными внутри метода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4.Непосредственно связанными компонентами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Закон Деметры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Нарушение закона Деметры: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Корректная реализация: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  <p:pic>
        <p:nvPicPr>
          <p:cNvPr id="111" name="Рисунок 1" descr=""/>
          <p:cNvPicPr/>
          <p:nvPr/>
        </p:nvPicPr>
        <p:blipFill>
          <a:blip r:embed="rId1"/>
          <a:stretch/>
        </p:blipFill>
        <p:spPr>
          <a:xfrm>
            <a:off x="1593360" y="2532960"/>
            <a:ext cx="8389440" cy="633240"/>
          </a:xfrm>
          <a:prstGeom prst="rect">
            <a:avLst/>
          </a:prstGeom>
          <a:ln w="0">
            <a:noFill/>
          </a:ln>
        </p:spPr>
      </p:pic>
      <p:pic>
        <p:nvPicPr>
          <p:cNvPr id="112" name="Рисунок 1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/>
          <p:cNvPicPr/>
          <p:nvPr/>
        </p:nvPicPr>
        <p:blipFill>
          <a:blip r:embed="rId2"/>
          <a:stretch/>
        </p:blipFill>
        <p:spPr>
          <a:xfrm>
            <a:off x="1749960" y="3840480"/>
            <a:ext cx="7979760" cy="2762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Заключение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000"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i="1" lang="en-US" sz="3200" spc="-1" strike="noStrike" u="sng">
                <a:solidFill>
                  <a:srgbClr val="404040"/>
                </a:solidFill>
                <a:uFillTx/>
                <a:latin typeface="Calibri Light"/>
              </a:rPr>
              <a:t>Ключевые выводы:</a:t>
            </a:r>
            <a:endParaRPr b="0" lang="en-US" sz="32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404040"/>
                </a:solidFill>
                <a:latin typeface="Calibri Light"/>
              </a:rPr>
              <a:t>1.Принципы модульного проектирования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oВысокая связность и слабое зацепление являются базисом для создания сопровождаемых систем.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404040"/>
                </a:solidFill>
                <a:latin typeface="Calibri Light"/>
              </a:rPr>
              <a:t>2.Принципы пакетного проектирования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oКорректное распределение зависимостей между устойчивыми и неустойчивыми компонентами повышает стабильность архитектуры.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404040"/>
                </a:solidFill>
                <a:latin typeface="Calibri Light"/>
              </a:rPr>
              <a:t>3.Прагматичные принципы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404040"/>
                </a:solidFill>
                <a:latin typeface="Calibri Light"/>
              </a:rPr>
              <a:t>oDRY, KISS, YAGNI и Закон Деметры служат практическими ориентирами в повседневной разработке.</a:t>
            </a:r>
            <a:endParaRPr b="0" lang="en-US" sz="28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  <Words>3194</Words>
  <Paragraphs>96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2025-07-23T00:59:00Z</dcterms:created>
  <dc:creator/>
  <dc:description/>
  <dc:language>en-US</dc:language>
  <cp:lastModifiedBy/>
  <dcterms:modified xsi:type="dcterms:W3CDTF">2025-12-12T23:25:00Z</dcterms:modified>
  <cp:revision>6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493F22F0351C483EA3B393D7FC6B02B7_11</vt:lpwstr>
  </property>
  <property fmtid="{D5CDD505-2E9C-101B-9397-08002B2CF9AE}" pid="3" name="KSOProductBuildVer">
    <vt:lpwstr>1049-12.2.0.23155</vt:lpwstr>
  </property>
  <property fmtid="{D5CDD505-2E9C-101B-9397-08002B2CF9AE}" pid="4" name="PresentationFormat">
    <vt:lpwstr>宽屏</vt:lpwstr>
  </property>
  <property fmtid="{D5CDD505-2E9C-101B-9397-08002B2CF9AE}" pid="5" name="Slides">
    <vt:i4>14</vt:i4>
  </property>
</Properties>
</file>