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handoutMasterIdLst>
    <p:handoutMasterId r:id="rId16"/>
  </p:handoutMasterIdLst>
  <p:sldIdLst>
    <p:sldId id="312" r:id="rId5"/>
    <p:sldId id="304" r:id="rId6"/>
    <p:sldId id="307" r:id="rId7"/>
    <p:sldId id="281" r:id="rId8"/>
    <p:sldId id="282" r:id="rId9"/>
    <p:sldId id="319" r:id="rId10"/>
    <p:sldId id="315" r:id="rId11"/>
    <p:sldId id="317" r:id="rId12"/>
    <p:sldId id="320" r:id="rId13"/>
    <p:sldId id="321" r:id="rId14"/>
  </p:sldIdLst>
  <p:sldSz cx="12192000" cy="6858000"/>
  <p:notesSz cx="13716000" cy="24384000"/>
  <p:defaultTextStyle>
    <a:defPPr rtl="0">
      <a:defRPr lang="ru-RU"/>
    </a:defPPr>
    <a:lvl1pPr marL="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lang="ru-RU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388" autoAdjust="0"/>
  </p:normalViewPr>
  <p:slideViewPr>
    <p:cSldViewPr snapToGrid="0" snapToObjects="1">
      <p:cViewPr varScale="1">
        <p:scale>
          <a:sx n="104" d="100"/>
          <a:sy n="104" d="100"/>
        </p:scale>
        <p:origin x="816" y="102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37" d="100"/>
          <a:sy n="37" d="100"/>
        </p:scale>
        <p:origin x="3384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ru-RU" sz="1200"/>
            </a:lvl1pPr>
          </a:lstStyle>
          <a:p>
            <a:pPr rtl="0"/>
            <a:fld id="{F16EF179-AC8C-44A3-9ED6-6152B0CF8E1F}" type="datetimeyyyy">
              <a:rPr lang="ru-RU" smtClean="0"/>
              <a:t>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ru-RU" sz="1200"/>
            </a:lvl1pPr>
          </a:lstStyle>
          <a:p>
            <a:pPr rtl="0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ru-RU" sz="1200"/>
            </a:lvl1pPr>
          </a:lstStyle>
          <a:p>
            <a:pPr rtl="0"/>
            <a:fld id="{420BD0AB-C59E-4A46-83D3-F07787446B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lang="ru-RU"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9493127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68653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C628C-A9B3-6D3E-68BA-D981229835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52EA9AB-55CA-9B48-3398-0864D64F73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3D76A40-2D81-E4AB-3EB4-3F2685B9B1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9950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95F9B-5F40-F762-3C29-8AC480FFA7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2E5AAAA9-CAD9-9948-114A-A8F8382F4F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B6E82EA-6293-AA8B-B38F-5BA3BCC8FB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 rtlCol="0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94258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Изображение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0" name="Полилиния: фигура 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: фигура 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rtlCol="0" anchor="ctr" anchorCtr="0">
            <a:noAutofit/>
          </a:bodyPr>
          <a:lstStyle>
            <a:lvl1pPr algn="ctr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вест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Полилиния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8" name="Полилиния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grpSp>
        <p:nvGrpSpPr>
          <p:cNvPr id="9" name="Группа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Полилиния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  <p:sp>
          <p:nvSpPr>
            <p:cNvPr id="11" name="Полилиния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14" name="Изображение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50000"/>
              </a:lnSpc>
              <a:spcBef>
                <a:spcPts val="0"/>
              </a:spcBef>
              <a:defRPr lang="ru-RU" sz="2000"/>
            </a:lvl2pPr>
            <a:lvl3pPr marL="685800">
              <a:lnSpc>
                <a:spcPct val="150000"/>
              </a:lnSpc>
              <a:spcBef>
                <a:spcPts val="0"/>
              </a:spcBef>
              <a:defRPr lang="ru-RU" sz="18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ведение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grpSp>
        <p:nvGrpSpPr>
          <p:cNvPr id="18" name="Группа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Полилиния: Фигура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15" name="Полилиния: фигура 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16" name="Изображение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2" name="Заголовок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rtlCol="0" anchor="ctr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8" name="Рисунок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 dirty="0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36" name="Полилиния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3" name="Полилиния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lvl="0" algn="ctr" rtl="0"/>
            <a:endParaRPr lang="ru-RU" dirty="0"/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Текст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</p:txBody>
      </p:sp>
      <p:sp>
        <p:nvSpPr>
          <p:cNvPr id="52" name="Рисунок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Изображение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53" name="Полилиния: фигура 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9" name="Полилиния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1" name="Полилиния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33" name="Изображение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 b="1">
                <a:latin typeface="+mj-lt"/>
                <a:cs typeface="Arial" panose="020B0604020202020204" pitchFamily="34" charset="0"/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Номер слайда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равнение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1" name="Изображение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3" name="Изображение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Полилиния: фигура 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7" name="Изображение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19" name="Изображение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Объект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Полилиния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8" name="Полилиния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6" name="Полилиния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0" name="Заголовок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 dirty="0"/>
              <a:t>Заголовок слайда</a:t>
            </a:r>
          </a:p>
        </p:txBody>
      </p:sp>
      <p:sp>
        <p:nvSpPr>
          <p:cNvPr id="19" name="Номер слайда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3" name="Объект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  <p:sp>
        <p:nvSpPr>
          <p:cNvPr id="25" name="Объект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marL="283464" indent="-283464">
              <a:spcBef>
                <a:spcPts val="1000"/>
              </a:spcBef>
              <a:defRPr lang="ru-RU" sz="1800"/>
            </a:lvl2pPr>
            <a:lvl3pPr marL="283464" indent="-283464">
              <a:spcBef>
                <a:spcPts val="1000"/>
              </a:spcBef>
              <a:defRPr lang="ru-RU" sz="1800"/>
            </a:lvl3pPr>
            <a:lvl4pPr marL="283464" indent="-283464">
              <a:spcBef>
                <a:spcPts val="1000"/>
              </a:spcBef>
              <a:defRPr lang="ru-RU" sz="1800"/>
            </a:lvl4pPr>
            <a:lvl5pPr marL="283464"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 dirty="0"/>
              <a:t>Текст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 rtlCol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lang="ru-RU"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lang="ru-RU"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lang="ru-RU"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1000"/>
              </a:spcBef>
              <a:buNone/>
              <a:defRPr lang="ru-RU" sz="1800"/>
            </a:lvl1pPr>
            <a:lvl2pPr indent="-283464">
              <a:spcBef>
                <a:spcPts val="1000"/>
              </a:spcBef>
              <a:defRPr lang="ru-RU" sz="1800"/>
            </a:lvl2pPr>
            <a:lvl3pPr indent="-283464">
              <a:spcBef>
                <a:spcPts val="1000"/>
              </a:spcBef>
              <a:defRPr lang="ru-RU" sz="1800"/>
            </a:lvl3pPr>
            <a:lvl4pPr indent="-283464">
              <a:spcBef>
                <a:spcPts val="1000"/>
              </a:spcBef>
              <a:defRPr lang="ru-RU" sz="1800"/>
            </a:lvl4pPr>
            <a:lvl5pPr indent="-283464"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31" name="Рисунок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 rtlCol="0">
            <a:noAutofit/>
          </a:bodyPr>
          <a:lstStyle>
            <a:lvl1pPr marL="0" indent="0">
              <a:buNone/>
              <a:defRPr lang="ru-RU" sz="1800"/>
            </a:lvl1pPr>
          </a:lstStyle>
          <a:p>
            <a:pPr lvl="0" rtl="0"/>
            <a:r>
              <a:rPr lang="ru-RU"/>
              <a:t>Щелкните, чтобы добавить рисунок</a:t>
            </a:r>
          </a:p>
        </p:txBody>
      </p:sp>
      <p:grpSp>
        <p:nvGrpSpPr>
          <p:cNvPr id="32" name="Группа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Полилиния: Фигура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/>
            </a:p>
          </p:txBody>
        </p:sp>
        <p:sp>
          <p:nvSpPr>
            <p:cNvPr id="21" name="Полилиния: Фигура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2" name="Полилиния: фигура 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ru-RU"/>
              </a:defPPr>
            </a:lstStyle>
            <a:p>
              <a:pPr lvl="0" rtl="0"/>
              <a:endParaRPr lang="ru-RU" dirty="0">
                <a:solidFill>
                  <a:schemeClr val="tx1"/>
                </a:solidFill>
              </a:endParaRPr>
            </a:p>
          </p:txBody>
        </p:sp>
        <p:sp>
          <p:nvSpPr>
            <p:cNvPr id="23" name="Изображение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>
              <a:defPPr>
                <a:defRPr lang="ru-RU"/>
              </a:defPPr>
            </a:lstStyle>
            <a:p>
              <a:pPr rtl="0"/>
              <a:endParaRPr lang="ru-RU" dirty="0"/>
            </a:p>
          </p:txBody>
        </p:sp>
      </p:grpSp>
      <p:sp>
        <p:nvSpPr>
          <p:cNvPr id="44" name="Номер слайда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олилиния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6" name="Изображение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4" name="Полилиния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21" name="Изображение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0" name="Объект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 rtlCol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lang="ru-RU" sz="2400"/>
            </a:lvl1pPr>
            <a:lvl2pPr marL="347472">
              <a:lnSpc>
                <a:spcPct val="100000"/>
              </a:lnSpc>
              <a:spcBef>
                <a:spcPts val="0"/>
              </a:spcBef>
              <a:defRPr lang="ru-RU" sz="2400"/>
            </a:lvl2pPr>
            <a:lvl3pPr marL="685800">
              <a:lnSpc>
                <a:spcPct val="100000"/>
              </a:lnSpc>
              <a:spcBef>
                <a:spcPts val="0"/>
              </a:spcBef>
              <a:defRPr lang="ru-RU" sz="2400"/>
            </a:lvl3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</p:txBody>
      </p:sp>
      <p:sp>
        <p:nvSpPr>
          <p:cNvPr id="10" name="Рисунок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 rtlCol="0">
            <a:normAutofit/>
          </a:bodyPr>
          <a:lstStyle>
            <a:lvl1pPr marL="0" indent="0">
              <a:buNone/>
              <a:defRPr lang="ru-RU" sz="1800"/>
            </a:lvl1pPr>
          </a:lstStyle>
          <a:p>
            <a:pPr rtl="0"/>
            <a:r>
              <a:rPr lang="ru-RU"/>
              <a:t>Вставка рисунка</a:t>
            </a:r>
            <a:endParaRPr lang="ru-RU" dirty="0"/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олилиния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/>
          </a:p>
        </p:txBody>
      </p:sp>
      <p:sp>
        <p:nvSpPr>
          <p:cNvPr id="10" name="Полилиния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30" name="Изображение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 rtlCol="0"/>
          <a:lstStyle>
            <a:lvl1pPr algn="l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" name="Текст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rtlCol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lang="ru-RU" sz="1800"/>
            </a:lvl1pPr>
          </a:lstStyle>
          <a:p>
            <a:pPr rtl="0"/>
            <a:r>
              <a:rPr lang="ru-RU"/>
              <a:t>Подзаголовок слайда</a:t>
            </a:r>
          </a:p>
        </p:txBody>
      </p:sp>
      <p:sp>
        <p:nvSpPr>
          <p:cNvPr id="9" name="Объект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 rtlCol="0">
            <a:normAutofit/>
          </a:bodyPr>
          <a:lstStyle>
            <a:lvl1pPr>
              <a:defRPr lang="ru-RU" sz="1800"/>
            </a:lvl1pPr>
            <a:lvl2pPr>
              <a:defRPr lang="ru-RU" sz="1800"/>
            </a:lvl2pPr>
            <a:lvl3pPr>
              <a:defRPr lang="ru-RU" sz="1800"/>
            </a:lvl3pPr>
            <a:lvl4pPr>
              <a:defRPr lang="ru-RU" sz="1800"/>
            </a:lvl4pPr>
            <a:lvl5pPr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0" name="Номер слайда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водка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Графический объект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 rtlCol="0">
            <a:noAutofit/>
          </a:bodyPr>
          <a:lstStyle>
            <a:lvl1pPr algn="l">
              <a:lnSpc>
                <a:spcPct val="100000"/>
              </a:lnSpc>
              <a:defRPr lang="ru-RU" sz="3600" b="1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49" name="Полилиния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sp>
        <p:nvSpPr>
          <p:cNvPr id="16" name="Объект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8" name="Объект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27" name="Номер слайда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43" name="Графический объект 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Графический объект 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Изображение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Временная шкала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>
            <a:defPPr>
              <a:defRPr lang="ru-RU"/>
            </a:defPPr>
          </a:lstStyle>
          <a:p>
            <a:pPr algn="ctr" rtl="0"/>
            <a:endParaRPr lang="ru-RU" sz="450" dirty="0"/>
          </a:p>
        </p:txBody>
      </p:sp>
      <p:sp>
        <p:nvSpPr>
          <p:cNvPr id="34" name="Прямоугольник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ru-RU"/>
            </a:defPPr>
          </a:lstStyle>
          <a:p>
            <a:pPr algn="ctr" rtl="0"/>
            <a:endParaRPr lang="ru-RU" sz="1600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 rtlCol="0"/>
          <a:lstStyle>
            <a:lvl1pPr algn="ctr">
              <a:lnSpc>
                <a:spcPct val="100000"/>
              </a:lnSpc>
              <a:defRPr lang="ru-RU" sz="3600">
                <a:solidFill>
                  <a:schemeClr val="accent6"/>
                </a:solidFill>
              </a:defRPr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14" name="Объект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 rtlCol="0">
            <a:normAutofit/>
          </a:bodyPr>
          <a:lstStyle>
            <a:lvl1pPr>
              <a:spcBef>
                <a:spcPts val="1000"/>
              </a:spcBef>
              <a:defRPr lang="ru-RU" sz="1800"/>
            </a:lvl1pPr>
            <a:lvl2pPr>
              <a:spcBef>
                <a:spcPts val="1000"/>
              </a:spcBef>
              <a:defRPr lang="ru-RU" sz="1800"/>
            </a:lvl2pPr>
            <a:lvl3pPr>
              <a:spcBef>
                <a:spcPts val="1000"/>
              </a:spcBef>
              <a:defRPr lang="ru-RU" sz="1800"/>
            </a:lvl3pPr>
            <a:lvl4pPr>
              <a:spcBef>
                <a:spcPts val="1000"/>
              </a:spcBef>
              <a:defRPr lang="ru-RU" sz="1800"/>
            </a:lvl4pPr>
            <a:lvl5pPr>
              <a:spcBef>
                <a:spcPts val="1000"/>
              </a:spcBef>
              <a:defRPr lang="ru-RU" sz="1800"/>
            </a:lvl5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  <p:sp>
        <p:nvSpPr>
          <p:cNvPr id="16" name="Номер слайда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lvl1pPr>
              <a:defRPr lang="ru-RU" sz="1600">
                <a:latin typeface="+mj-lt"/>
              </a:defRPr>
            </a:lvl1pPr>
          </a:lstStyle>
          <a:p>
            <a:pPr rtl="0"/>
            <a:fld id="{48F63A3B-78C7-47BE-AE5E-E10140E04643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ключение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: Фигура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19" name="Полилиния: фигура 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>
            <a:defPPr>
              <a:defRPr lang="ru-RU"/>
            </a:defPPr>
          </a:lstStyle>
          <a:p>
            <a:pPr rtl="0"/>
            <a:endParaRPr lang="ru-RU" dirty="0"/>
          </a:p>
        </p:txBody>
      </p:sp>
      <p:pic>
        <p:nvPicPr>
          <p:cNvPr id="9" name="Изображение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rtlCol="0" anchor="b" anchorCtr="0">
            <a:noAutofit/>
          </a:bodyPr>
          <a:lstStyle>
            <a:lvl1pPr algn="l">
              <a:lnSpc>
                <a:spcPct val="100000"/>
              </a:lnSpc>
              <a:defRPr lang="ru-RU" sz="36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rtlCol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lang="ru-RU" sz="2400"/>
            </a:lvl1pPr>
            <a:lvl2pPr marL="457200" indent="0" algn="ctr">
              <a:buNone/>
              <a:defRPr lang="ru-RU" sz="2000"/>
            </a:lvl2pPr>
            <a:lvl3pPr marL="914400" indent="0" algn="ctr">
              <a:buNone/>
              <a:defRPr lang="ru-RU" sz="1800"/>
            </a:lvl3pPr>
            <a:lvl4pPr marL="1371600" indent="0" algn="ctr">
              <a:buNone/>
              <a:defRPr lang="ru-RU" sz="1600"/>
            </a:lvl4pPr>
            <a:lvl5pPr marL="1828800" indent="0" algn="ctr">
              <a:buNone/>
              <a:defRPr lang="ru-RU" sz="1600"/>
            </a:lvl5pPr>
            <a:lvl6pPr marL="2286000" indent="0" algn="ctr">
              <a:buNone/>
              <a:defRPr lang="ru-RU" sz="1600"/>
            </a:lvl6pPr>
            <a:lvl7pPr marL="2743200" indent="0" algn="ctr">
              <a:buNone/>
              <a:defRPr lang="ru-RU" sz="1600"/>
            </a:lvl7pPr>
            <a:lvl8pPr marL="3200400" indent="0" algn="ctr">
              <a:buNone/>
              <a:defRPr lang="ru-RU" sz="1600"/>
            </a:lvl8pPr>
            <a:lvl9pPr marL="3657600" indent="0" algn="ctr">
              <a:buNone/>
              <a:defRPr lang="ru-RU" sz="1600"/>
            </a:lvl9pPr>
          </a:lstStyle>
          <a:p>
            <a:pPr rtl="0"/>
            <a:r>
              <a:rPr lang="ru-RU"/>
              <a:t>Подзаголовок слайда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олилиния: Фигура 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9" name="Полилиния: фигура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/>
        <p:txBody>
          <a:bodyPr rtlCol="0" anchor="ctr" anchorCtr="0"/>
          <a:lstStyle>
            <a:defPPr>
              <a:defRPr lang="ru-RU"/>
            </a:def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олилиния: Фигура 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8" name="Полилиния: фигура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 rtlCol="0"/>
          <a:lstStyle>
            <a:lvl1pPr>
              <a:defRPr lang="ru-RU" sz="3200"/>
            </a:lvl1pPr>
            <a:lvl2pPr>
              <a:defRPr lang="ru-RU" sz="2800"/>
            </a:lvl2pPr>
            <a:lvl3pPr>
              <a:defRPr lang="ru-RU" sz="2400"/>
            </a:lvl3pPr>
            <a:lvl4pPr>
              <a:defRPr lang="ru-RU" sz="2000"/>
            </a:lvl4pPr>
            <a:lvl5pPr>
              <a:defRPr lang="ru-RU" sz="2000"/>
            </a:lvl5pPr>
            <a:lvl6pPr>
              <a:defRPr lang="ru-RU" sz="2000"/>
            </a:lvl6pPr>
            <a:lvl7pPr>
              <a:defRPr lang="ru-RU" sz="2000"/>
            </a:lvl7pPr>
            <a:lvl8pPr>
              <a:defRPr lang="ru-RU" sz="2000"/>
            </a:lvl8pPr>
            <a:lvl9pPr>
              <a:defRPr lang="ru-RU" sz="2000"/>
            </a:lvl9pPr>
          </a:lstStyle>
          <a:p>
            <a:pPr lvl="0" rtl="0"/>
            <a:r>
              <a:rPr lang="ru-RU"/>
              <a:t>Текст слайда</a:t>
            </a:r>
          </a:p>
          <a:p>
            <a:pPr lvl="1" rtl="0"/>
            <a:r>
              <a:rPr lang="ru-RU"/>
              <a:t>Второй уровень</a:t>
            </a:r>
          </a:p>
          <a:p>
            <a:pPr lvl="2" rtl="0"/>
            <a:r>
              <a:rPr lang="ru-RU"/>
              <a:t>Третий уровень</a:t>
            </a:r>
          </a:p>
          <a:p>
            <a:pPr lvl="3" rtl="0"/>
            <a:r>
              <a:rPr lang="ru-RU"/>
              <a:t>Четвертый уровень</a:t>
            </a:r>
          </a:p>
          <a:p>
            <a:pPr lvl="4" rtl="0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олилиния: фигура 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ru-RU"/>
            </a:defPPr>
          </a:lstStyle>
          <a:p>
            <a:pPr lvl="0" rtl="0"/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rtlCol="0" anchor="b"/>
          <a:lstStyle>
            <a:lvl1pPr>
              <a:lnSpc>
                <a:spcPct val="100000"/>
              </a:lnSpc>
              <a:defRPr lang="ru-RU" sz="3200"/>
            </a:lvl1pPr>
          </a:lstStyle>
          <a:p>
            <a:pPr rtl="0"/>
            <a:r>
              <a:rPr lang="ru-RU"/>
              <a:t>Заголовок слайда</a:t>
            </a:r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 lang="ru-RU">
                <a:latin typeface="+mn-lt"/>
                <a:cs typeface="+mn-cs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 rtlCol="0"/>
          <a:lstStyle>
            <a:lvl1pPr marL="0" indent="0">
              <a:buNone/>
              <a:defRPr lang="ru-RU" sz="1600"/>
            </a:lvl1pPr>
            <a:lvl2pPr marL="457200" indent="0">
              <a:buNone/>
              <a:defRPr lang="ru-RU" sz="1400"/>
            </a:lvl2pPr>
            <a:lvl3pPr marL="914400" indent="0">
              <a:buNone/>
              <a:defRPr lang="ru-RU" sz="1200"/>
            </a:lvl3pPr>
            <a:lvl4pPr marL="1371600" indent="0">
              <a:buNone/>
              <a:defRPr lang="ru-RU" sz="1000"/>
            </a:lvl4pPr>
            <a:lvl5pPr marL="1828800" indent="0">
              <a:buNone/>
              <a:defRPr lang="ru-RU" sz="1000"/>
            </a:lvl5pPr>
            <a:lvl6pPr marL="2286000" indent="0">
              <a:buNone/>
              <a:defRPr lang="ru-RU" sz="1000"/>
            </a:lvl6pPr>
            <a:lvl7pPr marL="2743200" indent="0">
              <a:buNone/>
              <a:defRPr lang="ru-RU" sz="1000"/>
            </a:lvl7pPr>
            <a:lvl8pPr marL="3200400" indent="0">
              <a:buNone/>
              <a:defRPr lang="ru-RU" sz="1000"/>
            </a:lvl8pPr>
            <a:lvl9pPr marL="3657600" indent="0">
              <a:buNone/>
              <a:defRPr lang="ru-RU" sz="1000"/>
            </a:lvl9pPr>
          </a:lstStyle>
          <a:p>
            <a:pPr lvl="0" rtl="0"/>
            <a:r>
              <a:rPr lang="ru-RU"/>
              <a:t>Текст слайда</a:t>
            </a:r>
          </a:p>
        </p:txBody>
      </p:sp>
      <p:sp>
        <p:nvSpPr>
          <p:cNvPr id="3" name="Рисунок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lang="ru-RU" sz="2800"/>
            </a:lvl1pPr>
            <a:lvl2pPr marL="457200" indent="0">
              <a:buNone/>
              <a:defRPr lang="ru-RU" sz="2800"/>
            </a:lvl2pPr>
            <a:lvl3pPr marL="914400" indent="0">
              <a:buNone/>
              <a:defRPr lang="ru-RU" sz="2400"/>
            </a:lvl3pPr>
            <a:lvl4pPr marL="1371600" indent="0">
              <a:buNone/>
              <a:defRPr lang="ru-RU" sz="2000"/>
            </a:lvl4pPr>
            <a:lvl5pPr marL="1828800" indent="0">
              <a:buNone/>
              <a:defRPr lang="ru-RU" sz="2000"/>
            </a:lvl5pPr>
            <a:lvl6pPr marL="2286000" indent="0">
              <a:buNone/>
              <a:defRPr lang="ru-RU" sz="2000"/>
            </a:lvl6pPr>
            <a:lvl7pPr marL="2743200" indent="0">
              <a:buNone/>
              <a:defRPr lang="ru-RU" sz="2000"/>
            </a:lvl7pPr>
            <a:lvl8pPr marL="3200400" indent="0">
              <a:buNone/>
              <a:defRPr lang="ru-RU" sz="2000"/>
            </a:lvl8pPr>
            <a:lvl9pPr marL="3657600" indent="0">
              <a:buNone/>
              <a:defRPr lang="ru-RU" sz="2000"/>
            </a:lvl9pPr>
          </a:lstStyle>
          <a:p>
            <a:pPr rtl="0"/>
            <a:r>
              <a:rPr lang="ru-RU"/>
              <a:t>Щелкните, чтобы добавить рисунок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lang="ru-RU" sz="1200">
                <a:solidFill>
                  <a:schemeClr val="accent6"/>
                </a:solidFill>
                <a:latin typeface="+mn-lt"/>
                <a:cs typeface="+mn-cs" panose="020B0604020202020204" pitchFamily="34" charset="0"/>
              </a:defRPr>
            </a:lvl1pPr>
          </a:lstStyle>
          <a:p>
            <a:fld id="{48F63A3B-78C7-47BE-AE5E-E10140E04643}" type="slidenum">
              <a:rPr lang="ru-RU" smtClean="0"/>
              <a:pPr/>
              <a:t>‹#›</a:t>
            </a:fld>
            <a:endParaRPr lang="ru-RU" dirty="0">
              <a:latin typeface="+mn-lt"/>
            </a:endParaRPr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defPPr>
              <a:defRPr lang="ru-RU"/>
            </a:defPPr>
          </a:lstStyle>
          <a:p>
            <a:pPr rtl="0"/>
            <a:r>
              <a:rPr lang="ru-RU" dirty="0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ru-RU"/>
            </a:defPPr>
          </a:lstStyle>
          <a:p>
            <a:pPr lvl="0" rtl="0"/>
            <a:r>
              <a:rPr lang="ru-RU" dirty="0"/>
              <a:t>Щелкните, чтобы изменить стили текста образца слайда</a:t>
            </a:r>
          </a:p>
          <a:p>
            <a:pPr lvl="1" rtl="0"/>
            <a:r>
              <a:rPr lang="ru-RU" dirty="0"/>
              <a:t>Второй уровень</a:t>
            </a:r>
          </a:p>
          <a:p>
            <a:pPr lvl="2" rtl="0"/>
            <a:r>
              <a:rPr lang="ru-RU" dirty="0"/>
              <a:t>Третий уровень</a:t>
            </a:r>
          </a:p>
          <a:p>
            <a:pPr lvl="3" rtl="0"/>
            <a:r>
              <a:rPr lang="ru-RU" dirty="0"/>
              <a:t>Четвертый уровень</a:t>
            </a:r>
          </a:p>
          <a:p>
            <a:pPr lvl="4" rtl="0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lang="ru-RU"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lang="ru-RU"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1pPr>
      <a:lvl2pPr marL="457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2pPr>
      <a:lvl3pPr marL="914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3pPr>
      <a:lvl4pPr marL="1371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4pPr>
      <a:lvl5pPr marL="18288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5pPr>
      <a:lvl6pPr marL="22860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6pPr>
      <a:lvl7pPr marL="27432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7pPr>
      <a:lvl8pPr marL="32004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8pPr>
      <a:lvl9pPr marL="3657600" algn="l" defTabSz="914400" rtl="0" eaLnBrk="1" latinLnBrk="0" hangingPunct="1">
        <a:defRPr lang="ru-RU" sz="1800" kern="1200">
          <a:solidFill>
            <a:schemeClr val="tx1"/>
          </a:solidFill>
          <a:latin typeface="+mn-cs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22930" y="774013"/>
            <a:ext cx="5746140" cy="2331325"/>
          </a:xfrm>
        </p:spPr>
        <p:txBody>
          <a:bodyPr rtlCol="0" anchor="ctr"/>
          <a:lstStyle>
            <a:defPPr>
              <a:defRPr lang="ru-RU"/>
            </a:defPPr>
          </a:lstStyle>
          <a:p>
            <a:pPr rtl="0"/>
            <a:r>
              <a:rPr lang="ru-RU" dirty="0"/>
              <a:t>Обзор технологий запуска </a:t>
            </a:r>
            <a:r>
              <a:rPr lang="en-US" dirty="0"/>
              <a:t>Hot-java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D24A890-EF31-E9FD-2537-9B666B1FDD46}"/>
              </a:ext>
            </a:extLst>
          </p:cNvPr>
          <p:cNvSpPr txBox="1"/>
          <p:nvPr/>
        </p:nvSpPr>
        <p:spPr>
          <a:xfrm>
            <a:off x="3535378" y="3429000"/>
            <a:ext cx="512124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solidFill>
                  <a:schemeClr val="accent6"/>
                </a:solidFill>
                <a:latin typeface="Franklin Gothic Demi" panose="020B0703020102020204" pitchFamily="34" charset="0"/>
              </a:rPr>
              <a:t>Выполнили студенты группы 5030102</a:t>
            </a:r>
            <a:r>
              <a:rPr lang="en-US" dirty="0">
                <a:solidFill>
                  <a:schemeClr val="accent6"/>
                </a:solidFill>
                <a:latin typeface="Franklin Gothic Demi" panose="020B0703020102020204" pitchFamily="34" charset="0"/>
              </a:rPr>
              <a:t>/30101</a:t>
            </a:r>
            <a:r>
              <a:rPr lang="ru-RU" dirty="0">
                <a:solidFill>
                  <a:schemeClr val="accent6"/>
                </a:solidFill>
                <a:latin typeface="Franklin Gothic Demi" panose="020B0703020102020204" pitchFamily="34" charset="0"/>
              </a:rPr>
              <a:t>:</a:t>
            </a:r>
          </a:p>
          <a:p>
            <a:pPr algn="ctr"/>
            <a:r>
              <a:rPr lang="ru-RU" dirty="0">
                <a:solidFill>
                  <a:schemeClr val="accent6"/>
                </a:solidFill>
                <a:latin typeface="Franklin Gothic Demi" panose="020B0703020102020204" pitchFamily="34" charset="0"/>
              </a:rPr>
              <a:t>Никифоров Владислав</a:t>
            </a:r>
          </a:p>
          <a:p>
            <a:pPr algn="ctr"/>
            <a:r>
              <a:rPr lang="ru-RU" dirty="0">
                <a:solidFill>
                  <a:schemeClr val="accent6"/>
                </a:solidFill>
                <a:latin typeface="Franklin Gothic Demi" panose="020B0703020102020204" pitchFamily="34" charset="0"/>
              </a:rPr>
              <a:t>Пятницын Матвей</a:t>
            </a:r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4D22962-3C7F-E480-5C35-7F4860A098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780" y="1825328"/>
            <a:ext cx="6583680" cy="3207344"/>
          </a:xfrm>
        </p:spPr>
        <p:txBody>
          <a:bodyPr rtlCol="0">
            <a:normAutofit lnSpcReduction="10000"/>
          </a:bodyPr>
          <a:lstStyle>
            <a:defPPr>
              <a:defRPr lang="ru-RU"/>
            </a:defPPr>
          </a:lstStyle>
          <a:p>
            <a:pPr algn="just"/>
            <a:r>
              <a:rPr lang="ru-RU" dirty="0"/>
              <a:t>Технологии запуска </a:t>
            </a:r>
            <a:r>
              <a:rPr lang="en-US" dirty="0"/>
              <a:t>Hot</a:t>
            </a:r>
            <a:r>
              <a:rPr lang="ru-RU" dirty="0"/>
              <a:t>-</a:t>
            </a:r>
            <a:r>
              <a:rPr lang="en-US" dirty="0"/>
              <a:t>java</a:t>
            </a:r>
            <a:r>
              <a:rPr lang="ru-RU" dirty="0"/>
              <a:t> – механизмы загрузки, интерпретации и выполнения </a:t>
            </a:r>
            <a:r>
              <a:rPr lang="en-US" dirty="0"/>
              <a:t>Java</a:t>
            </a:r>
            <a:r>
              <a:rPr lang="ru-RU" dirty="0"/>
              <a:t>-кода </a:t>
            </a:r>
            <a:r>
              <a:rPr lang="ru-RU" dirty="0">
                <a:solidFill>
                  <a:schemeClr val="tx1"/>
                </a:solidFill>
                <a:latin typeface="Franklin Gothic Demi" panose="020B0703020102020204" pitchFamily="34" charset="0"/>
              </a:rPr>
              <a:t>(</a:t>
            </a:r>
            <a:r>
              <a:rPr lang="ru-RU" b="1" dirty="0">
                <a:solidFill>
                  <a:schemeClr val="tx1"/>
                </a:solidFill>
                <a:latin typeface="Franklin Gothic Demi" panose="020B0703020102020204" pitchFamily="34" charset="0"/>
              </a:rPr>
              <a:t>апплетов</a:t>
            </a:r>
            <a:r>
              <a:rPr lang="ru-RU" dirty="0">
                <a:solidFill>
                  <a:schemeClr val="tx1"/>
                </a:solidFill>
                <a:latin typeface="Franklin Gothic Demi" panose="020B0703020102020204" pitchFamily="34" charset="0"/>
              </a:rPr>
              <a:t>) </a:t>
            </a:r>
            <a:r>
              <a:rPr lang="ru-RU" dirty="0"/>
              <a:t>внутри браузера. Иными словами – это технологии, которые позволяли браузеру динамически загружать и исполнять программы, встроенные в веб-страницы.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D5CFA2-4E67-F157-5FFD-A246307D41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fld id="{48F63A3B-78C7-47BE-AE5E-E10140E04643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1">
            <a:extLst>
              <a:ext uri="{FF2B5EF4-FFF2-40B4-BE49-F238E27FC236}">
                <a16:creationId xmlns:a16="http://schemas.microsoft.com/office/drawing/2014/main" id="{5716732C-789C-F0CD-1A4B-946A87FCF8EE}"/>
              </a:ext>
            </a:extLst>
          </p:cNvPr>
          <p:cNvSpPr txBox="1">
            <a:spLocks/>
          </p:cNvSpPr>
          <p:nvPr/>
        </p:nvSpPr>
        <p:spPr>
          <a:xfrm>
            <a:off x="479733" y="648547"/>
            <a:ext cx="6600080" cy="715225"/>
          </a:xfrm>
          <a:prstGeom prst="rect">
            <a:avLst/>
          </a:prstGeom>
        </p:spPr>
        <p:txBody>
          <a:bodyPr vert="horz" lIns="91440" tIns="0" rIns="91440" bIns="0" rtlCol="0" anchor="ctr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/>
              <a:t>Что такое </a:t>
            </a:r>
            <a:r>
              <a:rPr lang="en-US" sz="3200" dirty="0"/>
              <a:t>Hot-java</a:t>
            </a:r>
            <a:r>
              <a:rPr lang="ru-RU" sz="3200" dirty="0"/>
              <a:t>?</a:t>
            </a:r>
            <a:endParaRPr lang="en-US" sz="32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91BFDD4-AD8E-4EA8-DA5F-08E2408F5D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10" y="31121"/>
            <a:ext cx="1492690" cy="14926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56F56C1C-F480-877E-14CD-1097751B1EB0}"/>
              </a:ext>
            </a:extLst>
          </p:cNvPr>
          <p:cNvSpPr txBox="1"/>
          <p:nvPr/>
        </p:nvSpPr>
        <p:spPr>
          <a:xfrm>
            <a:off x="588374" y="1759767"/>
            <a:ext cx="4988561" cy="3916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ru-RU" sz="2200" dirty="0" err="1">
                <a:latin typeface="Franklin Gothic Demi" panose="020B0703020102020204" pitchFamily="34" charset="0"/>
              </a:rPr>
              <a:t>HotJava</a:t>
            </a:r>
            <a:r>
              <a:rPr lang="ru-RU" sz="2200" dirty="0">
                <a:solidFill>
                  <a:schemeClr val="accent6"/>
                </a:solidFill>
                <a:latin typeface="Franklin Gothic Demi" panose="020B0703020102020204" pitchFamily="34" charset="0"/>
              </a:rPr>
              <a:t> — </a:t>
            </a:r>
            <a:r>
              <a:rPr lang="ru-RU" sz="2200" dirty="0">
                <a:solidFill>
                  <a:schemeClr val="accent6"/>
                </a:solidFill>
              </a:rPr>
              <a:t>первый веб-браузер, написанный на Java компанией Sun Microsystems </a:t>
            </a:r>
          </a:p>
          <a:p>
            <a:pPr algn="just"/>
            <a:endParaRPr lang="en-US" sz="2200" dirty="0">
              <a:solidFill>
                <a:schemeClr val="accent6"/>
              </a:solidFill>
              <a:latin typeface="Franklin Gothic Demi" panose="020B0703020102020204" pitchFamily="34" charset="0"/>
            </a:endParaRPr>
          </a:p>
          <a:p>
            <a:pPr algn="just"/>
            <a:r>
              <a:rPr lang="ru-RU" sz="2200" b="1" dirty="0">
                <a:latin typeface="Franklin Gothic Demi" panose="020B0703020102020204" pitchFamily="34" charset="0"/>
              </a:rPr>
              <a:t>Главная особенность:</a:t>
            </a:r>
          </a:p>
          <a:p>
            <a:pPr algn="just"/>
            <a:r>
              <a:rPr lang="ru-RU" sz="2200" dirty="0">
                <a:solidFill>
                  <a:schemeClr val="accent6"/>
                </a:solidFill>
              </a:rPr>
              <a:t>Браузер, можно было легко расширять. В то время другие браузеры были "зашитыми" — чтобы добавить поддержку нового формата файлов или протокола, нужно было выпускать новую версию.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EA61753-F7B2-E844-BBA1-F0DB92BAC5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7662" y="2463958"/>
            <a:ext cx="5447993" cy="374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491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A2E339BF-E6D7-DD0E-AF02-6813852EE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2919" y="788535"/>
            <a:ext cx="9958812" cy="4538545"/>
          </a:xfrm>
        </p:spPr>
        <p:txBody>
          <a:bodyPr rtlCol="0">
            <a:noAutofit/>
          </a:bodyPr>
          <a:lstStyle>
            <a:defPPr>
              <a:defRPr lang="ru-RU"/>
            </a:defPPr>
          </a:lstStyle>
          <a:p>
            <a:r>
              <a:rPr lang="ru-RU" sz="2200" b="1" dirty="0">
                <a:solidFill>
                  <a:schemeClr val="tx1"/>
                </a:solidFill>
                <a:latin typeface="Franklin Gothic Demi" panose="020B0703020102020204" pitchFamily="34" charset="0"/>
              </a:rPr>
              <a:t>Преимущества:</a:t>
            </a:r>
          </a:p>
          <a:p>
            <a:endParaRPr lang="ru-RU" sz="2200" dirty="0">
              <a:latin typeface="Franklin Gothic Demi" panose="020B0703020102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ru-RU" sz="2200" dirty="0"/>
              <a:t>Написан на Java, поэтому мог работать на разных операционных системах (Windows, Solaris, Linux) без изменений.</a:t>
            </a:r>
          </a:p>
          <a:p>
            <a:pPr marL="457200" indent="-457200">
              <a:buFont typeface="+mj-lt"/>
              <a:buAutoNum type="arabicPeriod"/>
            </a:pPr>
            <a:endParaRPr lang="ru-RU" sz="2200" dirty="0"/>
          </a:p>
          <a:p>
            <a:pPr marL="457200" indent="-457200">
              <a:buFont typeface="+mj-lt"/>
              <a:buAutoNum type="arabicPeriod"/>
            </a:pPr>
            <a:r>
              <a:rPr lang="ru-RU" sz="2200" dirty="0"/>
              <a:t>Если браузер встречал неизвестный тип файла (например, новый формат изображения), он мог автоматически скачать с сервера нужную программу-обработчик (на Java) и сразу начать с ним работать. Это происходило без перезапуска браузера.</a:t>
            </a:r>
          </a:p>
          <a:p>
            <a:pPr marL="457200" indent="-457200">
              <a:buFont typeface="+mj-lt"/>
              <a:buAutoNum type="arabicPeriod"/>
            </a:pPr>
            <a:endParaRPr lang="ru-RU" sz="2200" dirty="0"/>
          </a:p>
          <a:p>
            <a:pPr marL="457200" indent="-457200">
              <a:buFont typeface="+mj-lt"/>
              <a:buAutoNum type="arabicPeriod"/>
            </a:pPr>
            <a:r>
              <a:rPr lang="ru-RU" sz="2200" dirty="0"/>
              <a:t>Это же позволяло добавлять поддержку новых сетевых протоколов.</a:t>
            </a:r>
          </a:p>
          <a:p>
            <a:endParaRPr lang="ru-RU" sz="2200" dirty="0">
              <a:latin typeface="Franklin Gothic Demi" panose="020B0703020102020204" pitchFamily="34" charset="0"/>
            </a:endParaRPr>
          </a:p>
          <a:p>
            <a:r>
              <a:rPr lang="ru-RU" sz="2200" b="1" dirty="0">
                <a:solidFill>
                  <a:schemeClr val="tx1"/>
                </a:solidFill>
                <a:latin typeface="Franklin Gothic Demi" panose="020B0703020102020204" pitchFamily="34" charset="0"/>
              </a:rPr>
              <a:t>Основная идея:</a:t>
            </a:r>
            <a:r>
              <a:rPr lang="ru-RU" sz="2200" dirty="0">
                <a:solidFill>
                  <a:schemeClr val="tx1"/>
                </a:solidFill>
                <a:latin typeface="Franklin Gothic Demi" panose="020B0703020102020204" pitchFamily="34" charset="0"/>
              </a:rPr>
              <a:t> </a:t>
            </a:r>
            <a:br>
              <a:rPr lang="ru-RU" sz="2200" dirty="0">
                <a:solidFill>
                  <a:schemeClr val="tx1"/>
                </a:solidFill>
                <a:latin typeface="Franklin Gothic Demi" panose="020B0703020102020204" pitchFamily="34" charset="0"/>
              </a:rPr>
            </a:br>
            <a:r>
              <a:rPr lang="ru-RU" sz="2200" dirty="0" err="1"/>
              <a:t>HotJava</a:t>
            </a:r>
            <a:r>
              <a:rPr lang="ru-RU" sz="2200" dirty="0"/>
              <a:t> стал первым браузером, который поддерживал </a:t>
            </a:r>
            <a:r>
              <a:rPr lang="ru-RU" sz="2200" b="1" dirty="0"/>
              <a:t>апплеты</a:t>
            </a:r>
            <a:r>
              <a:rPr lang="ru-RU" sz="2200" dirty="0"/>
              <a:t> — небольшие программы на Java, встроенные прямо в веб-страницу.</a:t>
            </a:r>
          </a:p>
          <a:p>
            <a:br>
              <a:rPr lang="ru-RU" sz="2200" dirty="0">
                <a:latin typeface="Franklin Gothic Demi" panose="020B0703020102020204" pitchFamily="34" charset="0"/>
              </a:rPr>
            </a:br>
            <a:endParaRPr lang="ru-RU" sz="2200" dirty="0">
              <a:latin typeface="Franklin Gothic Demi" panose="020B07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29238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7922" y="195358"/>
            <a:ext cx="9341035" cy="994164"/>
          </a:xfrm>
        </p:spPr>
        <p:txBody>
          <a:bodyPr rtlCol="0"/>
          <a:lstStyle>
            <a:defPPr>
              <a:defRPr lang="ru-RU"/>
            </a:defPPr>
          </a:lstStyle>
          <a:p>
            <a:r>
              <a:rPr lang="ru-RU" dirty="0"/>
              <a:t> Апплеты — как это работало?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84FE9ED1-D927-6D42-EFD3-84E7AD295C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017822" y="1955549"/>
            <a:ext cx="8501204" cy="39990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200" b="1" dirty="0">
                <a:solidFill>
                  <a:schemeClr val="tx1"/>
                </a:solidFill>
                <a:latin typeface="Franklin Gothic Demi" panose="020B0703020102020204" pitchFamily="34" charset="0"/>
              </a:rPr>
              <a:t>Апплет</a:t>
            </a:r>
            <a:r>
              <a:rPr lang="ru-RU" sz="2200" dirty="0">
                <a:latin typeface="Franklin Gothic Demi" panose="020B0703020102020204" pitchFamily="34" charset="0"/>
              </a:rPr>
              <a:t> </a:t>
            </a:r>
            <a:r>
              <a:rPr lang="ru-RU" sz="2200" dirty="0"/>
              <a:t>— это программа на Java, которая компилируется в специальный байт-код (файлы .</a:t>
            </a:r>
            <a:r>
              <a:rPr lang="ru-RU" sz="2200" dirty="0" err="1"/>
              <a:t>class</a:t>
            </a:r>
            <a:r>
              <a:rPr lang="ru-RU" sz="2200" dirty="0"/>
              <a:t>).</a:t>
            </a:r>
          </a:p>
          <a:p>
            <a:pPr marL="0" indent="0">
              <a:buNone/>
            </a:pPr>
            <a:r>
              <a:rPr lang="ru-RU" sz="2200" b="1" dirty="0">
                <a:solidFill>
                  <a:schemeClr val="tx1"/>
                </a:solidFill>
                <a:latin typeface="Franklin Gothic Demi" panose="020B0703020102020204" pitchFamily="34" charset="0"/>
              </a:rPr>
              <a:t>Процесс запуска апплета в браузере:</a:t>
            </a:r>
          </a:p>
          <a:p>
            <a:pPr marL="0" indent="0">
              <a:buNone/>
            </a:pPr>
            <a:r>
              <a:rPr lang="ru-RU" sz="2200" b="1" dirty="0">
                <a:latin typeface="Franklin Gothic Demi" panose="020B0703020102020204" pitchFamily="34" charset="0"/>
              </a:rPr>
              <a:t>1. Обнаружение:</a:t>
            </a:r>
            <a:r>
              <a:rPr lang="ru-RU" sz="2200" dirty="0">
                <a:latin typeface="Franklin Gothic Demi" panose="020B0703020102020204" pitchFamily="34" charset="0"/>
              </a:rPr>
              <a:t> </a:t>
            </a:r>
            <a:r>
              <a:rPr lang="ru-RU" sz="2200" dirty="0"/>
              <a:t>Браузер видит в HTML-коде страницы специальный тег: &lt;</a:t>
            </a:r>
            <a:r>
              <a:rPr lang="ru-RU" sz="2200" dirty="0" err="1"/>
              <a:t>applet</a:t>
            </a:r>
            <a:r>
              <a:rPr lang="ru-RU" sz="2200" dirty="0"/>
              <a:t> </a:t>
            </a:r>
            <a:r>
              <a:rPr lang="ru-RU" sz="2200" dirty="0" err="1"/>
              <a:t>code</a:t>
            </a:r>
            <a:r>
              <a:rPr lang="ru-RU" sz="2200" dirty="0"/>
              <a:t>="</a:t>
            </a:r>
            <a:r>
              <a:rPr lang="ru-RU" sz="2200" dirty="0" err="1"/>
              <a:t>Game.class</a:t>
            </a:r>
            <a:r>
              <a:rPr lang="ru-RU" sz="2200" dirty="0"/>
              <a:t>" </a:t>
            </a:r>
            <a:r>
              <a:rPr lang="ru-RU" sz="2200" dirty="0" err="1"/>
              <a:t>width</a:t>
            </a:r>
            <a:r>
              <a:rPr lang="ru-RU" sz="2200" dirty="0"/>
              <a:t>="400" </a:t>
            </a:r>
            <a:r>
              <a:rPr lang="ru-RU" sz="2200" dirty="0" err="1"/>
              <a:t>height</a:t>
            </a:r>
            <a:r>
              <a:rPr lang="ru-RU" sz="2200" dirty="0"/>
              <a:t>="300"&gt;.</a:t>
            </a:r>
          </a:p>
          <a:p>
            <a:pPr marL="0" indent="0">
              <a:buNone/>
            </a:pPr>
            <a:r>
              <a:rPr lang="ru-RU" sz="2200" b="1" dirty="0">
                <a:latin typeface="Franklin Gothic Demi" panose="020B0703020102020204" pitchFamily="34" charset="0"/>
              </a:rPr>
              <a:t>2. Загрузка:</a:t>
            </a:r>
            <a:r>
              <a:rPr lang="ru-RU" sz="2200" dirty="0">
                <a:latin typeface="Franklin Gothic Demi" panose="020B0703020102020204" pitchFamily="34" charset="0"/>
              </a:rPr>
              <a:t> </a:t>
            </a:r>
            <a:r>
              <a:rPr lang="ru-RU" sz="2200" dirty="0"/>
              <a:t>Браузер запрашивает у веб-сервера файлы .</a:t>
            </a:r>
            <a:r>
              <a:rPr lang="ru-RU" sz="2200" dirty="0" err="1"/>
              <a:t>class</a:t>
            </a:r>
            <a:r>
              <a:rPr lang="ru-RU" sz="2200" dirty="0"/>
              <a:t>, указанные в теге. Часто они запакованы в .</a:t>
            </a:r>
            <a:r>
              <a:rPr lang="ru-RU" sz="2200" dirty="0" err="1"/>
              <a:t>jar</a:t>
            </a:r>
            <a:r>
              <a:rPr lang="ru-RU" sz="2200" dirty="0"/>
              <a:t>-архив.</a:t>
            </a:r>
          </a:p>
          <a:p>
            <a:pPr marL="0" indent="0">
              <a:buNone/>
            </a:pPr>
            <a:r>
              <a:rPr lang="ru-RU" sz="2200" b="1" dirty="0">
                <a:latin typeface="Franklin Gothic Demi" panose="020B0703020102020204" pitchFamily="34" charset="0"/>
              </a:rPr>
              <a:t>3. Запуск:</a:t>
            </a:r>
            <a:r>
              <a:rPr lang="ru-RU" sz="2200" dirty="0">
                <a:latin typeface="Franklin Gothic Demi" panose="020B0703020102020204" pitchFamily="34" charset="0"/>
              </a:rPr>
              <a:t> </a:t>
            </a:r>
            <a:r>
              <a:rPr lang="ru-RU" sz="2200" dirty="0"/>
              <a:t>Для исполнения апплета используется </a:t>
            </a:r>
            <a:r>
              <a:rPr lang="ru-RU" sz="2200" b="1" dirty="0"/>
              <a:t>Java Virtual Machine (JVM)</a:t>
            </a:r>
            <a:r>
              <a:rPr lang="ru-RU" sz="2200" dirty="0"/>
              <a:t>. В случае с </a:t>
            </a:r>
            <a:r>
              <a:rPr lang="ru-RU" sz="2200" dirty="0" err="1"/>
              <a:t>HotJava</a:t>
            </a:r>
            <a:r>
              <a:rPr lang="ru-RU" sz="2200" dirty="0"/>
              <a:t> она была частью браузера.</a:t>
            </a:r>
            <a:endParaRPr lang="ru-RU" sz="2400" dirty="0"/>
          </a:p>
          <a:p>
            <a:pPr marL="457200" indent="-457200">
              <a:buFont typeface="+mj-lt"/>
              <a:buAutoNum type="arabicPeriod"/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Объект 4">
            <a:extLst>
              <a:ext uri="{FF2B5EF4-FFF2-40B4-BE49-F238E27FC236}">
                <a16:creationId xmlns:a16="http://schemas.microsoft.com/office/drawing/2014/main" id="{5AF84334-A800-3025-26DE-6C3AEEC3D776}"/>
              </a:ext>
            </a:extLst>
          </p:cNvPr>
          <p:cNvSpPr txBox="1">
            <a:spLocks/>
          </p:cNvSpPr>
          <p:nvPr/>
        </p:nvSpPr>
        <p:spPr>
          <a:xfrm>
            <a:off x="1312753" y="923454"/>
            <a:ext cx="11027121" cy="5830432"/>
          </a:xfrm>
          <a:prstGeom prst="rect">
            <a:avLst/>
          </a:prstGeom>
        </p:spPr>
        <p:txBody>
          <a:bodyPr>
            <a:normAutofit fontScale="70000" lnSpcReduction="20000"/>
          </a:bodyPr>
          <a:lstStyle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900" b="1" dirty="0">
                <a:latin typeface="Franklin Gothic Demi" panose="020B0703020102020204" pitchFamily="34" charset="0"/>
              </a:rPr>
              <a:t>4. Изоляция ("Песочница"):</a:t>
            </a:r>
            <a:r>
              <a:rPr lang="ru-RU" sz="2900" dirty="0">
                <a:latin typeface="Franklin Gothic Demi" panose="020B0703020102020204" pitchFamily="34" charset="0"/>
              </a:rPr>
              <a:t> </a:t>
            </a:r>
            <a:r>
              <a:rPr lang="ru-RU" sz="2900" dirty="0"/>
              <a:t>JVM запускает апплет в изолированной среде — "песочнице". </a:t>
            </a:r>
          </a:p>
          <a:p>
            <a:pPr marL="0" indent="0">
              <a:buNone/>
            </a:pPr>
            <a:r>
              <a:rPr lang="ru-RU" sz="2900" dirty="0"/>
              <a:t>По умолчанию у апплета нет прав:</a:t>
            </a:r>
          </a:p>
          <a:p>
            <a:pPr lvl="1"/>
            <a:r>
              <a:rPr lang="ru-RU" sz="2900" dirty="0"/>
              <a:t>Читать или записывать файлы на жестком диске пользователя.</a:t>
            </a:r>
          </a:p>
          <a:p>
            <a:pPr lvl="1"/>
            <a:r>
              <a:rPr lang="ru-RU" sz="2900" dirty="0"/>
              <a:t>Подключаться к любым сетевым адресам (только к серверу, с которого он был загружен).</a:t>
            </a:r>
          </a:p>
          <a:p>
            <a:pPr lvl="1"/>
            <a:r>
              <a:rPr lang="ru-RU" sz="2900" dirty="0"/>
              <a:t>Запускать другие программы на компьютере.</a:t>
            </a:r>
          </a:p>
          <a:p>
            <a:pPr marL="0" indent="0">
              <a:buNone/>
            </a:pPr>
            <a:endParaRPr lang="ru-RU" sz="2900" b="1" dirty="0">
              <a:latin typeface="Franklin Gothic Demi" panose="020B0703020102020204" pitchFamily="34" charset="0"/>
            </a:endParaRPr>
          </a:p>
          <a:p>
            <a:pPr marL="0" indent="0">
              <a:buNone/>
            </a:pPr>
            <a:r>
              <a:rPr lang="ru-RU" sz="2900" b="1" dirty="0">
                <a:latin typeface="Franklin Gothic Demi" panose="020B0703020102020204" pitchFamily="34" charset="0"/>
              </a:rPr>
              <a:t>5. Жизненный цикл:</a:t>
            </a:r>
            <a:r>
              <a:rPr lang="ru-RU" sz="2900" dirty="0">
                <a:latin typeface="Franklin Gothic Demi" panose="020B0703020102020204" pitchFamily="34" charset="0"/>
              </a:rPr>
              <a:t> </a:t>
            </a:r>
            <a:r>
              <a:rPr lang="ru-RU" sz="2900" dirty="0"/>
              <a:t>Управление апплетом происходит через стандартные методы, которые вызывает браузер:</a:t>
            </a:r>
          </a:p>
          <a:p>
            <a:pPr lvl="1"/>
            <a:r>
              <a:rPr lang="ru-RU" sz="2900" dirty="0" err="1"/>
              <a:t>init</a:t>
            </a:r>
            <a:r>
              <a:rPr lang="ru-RU" sz="2900" dirty="0"/>
              <a:t>() — инициализация (вызывается один раз).</a:t>
            </a:r>
          </a:p>
          <a:p>
            <a:pPr lvl="1"/>
            <a:r>
              <a:rPr lang="ru-RU" sz="2900" dirty="0" err="1"/>
              <a:t>start</a:t>
            </a:r>
            <a:r>
              <a:rPr lang="ru-RU" sz="2900" dirty="0"/>
              <a:t>() — начало работы.</a:t>
            </a:r>
          </a:p>
          <a:p>
            <a:pPr lvl="1"/>
            <a:r>
              <a:rPr lang="ru-RU" sz="2900" dirty="0" err="1"/>
              <a:t>paint</a:t>
            </a:r>
            <a:r>
              <a:rPr lang="ru-RU" sz="2900" dirty="0"/>
              <a:t>() — отрисовка графики.</a:t>
            </a:r>
          </a:p>
          <a:p>
            <a:pPr lvl="1"/>
            <a:r>
              <a:rPr lang="ru-RU" sz="2900" dirty="0" err="1"/>
              <a:t>stop</a:t>
            </a:r>
            <a:r>
              <a:rPr lang="ru-RU" sz="2900" dirty="0"/>
              <a:t>() — пауза (например, когда ушли с вкладки).</a:t>
            </a:r>
          </a:p>
          <a:p>
            <a:pPr lvl="1"/>
            <a:r>
              <a:rPr lang="ru-RU" sz="2900" dirty="0" err="1"/>
              <a:t>destroy</a:t>
            </a:r>
            <a:r>
              <a:rPr lang="ru-RU" sz="2900" dirty="0"/>
              <a:t>() — завершение работы.</a:t>
            </a:r>
          </a:p>
          <a:p>
            <a:pPr marL="338328" lvl="1" indent="0">
              <a:buNone/>
            </a:pPr>
            <a:endParaRPr lang="ru-RU" sz="2900" dirty="0">
              <a:solidFill>
                <a:schemeClr val="tx1"/>
              </a:solidFill>
              <a:latin typeface="Franklin Gothic Demi" panose="020B0703020102020204" pitchFamily="34" charset="0"/>
            </a:endParaRPr>
          </a:p>
          <a:p>
            <a:pPr marL="0" indent="0">
              <a:buNone/>
            </a:pPr>
            <a:r>
              <a:rPr lang="ru-RU" sz="2900" b="1" dirty="0">
                <a:solidFill>
                  <a:schemeClr val="tx1"/>
                </a:solidFill>
                <a:latin typeface="Franklin Gothic Demi" panose="020B0703020102020204" pitchFamily="34" charset="0"/>
              </a:rPr>
              <a:t>Что дала технология апплетов разработчикам?</a:t>
            </a:r>
          </a:p>
          <a:p>
            <a:pPr marL="0" indent="0">
              <a:buNone/>
            </a:pPr>
            <a:endParaRPr lang="ru-RU" sz="2900" b="1" dirty="0">
              <a:latin typeface="Franklin Gothic Demi" panose="020B0703020102020204" pitchFamily="34" charset="0"/>
            </a:endParaRPr>
          </a:p>
          <a:p>
            <a:pPr marL="0" indent="0">
              <a:buNone/>
            </a:pPr>
            <a:r>
              <a:rPr lang="ru-RU" sz="2900" dirty="0"/>
              <a:t>Страницы стали интерактивными. Можно было делать анимации, игры, интерактивные графики и формы прямо в браузере, без перезагрузки страницы.</a:t>
            </a:r>
          </a:p>
          <a:p>
            <a:pPr marL="0" indent="0">
              <a:buNone/>
            </a:pP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709" y="399178"/>
            <a:ext cx="8329189" cy="712496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Причины ухода апплетов</a:t>
            </a:r>
          </a:p>
        </p:txBody>
      </p:sp>
      <p:sp>
        <p:nvSpPr>
          <p:cNvPr id="16" name="Объект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16459" y="1828799"/>
            <a:ext cx="8021369" cy="4499573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r>
              <a:rPr lang="ru-RU" sz="2000" b="1" dirty="0">
                <a:latin typeface="Franklin Gothic Demi" panose="020B0703020102020204" pitchFamily="34" charset="0"/>
              </a:rPr>
              <a:t>1. Производительность:</a:t>
            </a:r>
            <a:r>
              <a:rPr lang="ru-RU" sz="2000" dirty="0">
                <a:latin typeface="Franklin Gothic Demi" panose="020B0703020102020204" pitchFamily="34" charset="0"/>
              </a:rPr>
              <a:t> </a:t>
            </a:r>
            <a:r>
              <a:rPr lang="ru-RU" sz="2000" dirty="0"/>
              <a:t>Ранние JVM были медленными, особенно до появления JIT-компиляции. Апплеты тормозили по сравнению с нативными программами и плагинами вроде Flash.</a:t>
            </a:r>
          </a:p>
          <a:p>
            <a:r>
              <a:rPr lang="ru-RU" sz="2000" b="1" dirty="0">
                <a:latin typeface="Franklin Gothic Demi" panose="020B0703020102020204" pitchFamily="34" charset="0"/>
              </a:rPr>
              <a:t>2. Время загрузки:</a:t>
            </a:r>
            <a:r>
              <a:rPr lang="ru-RU" sz="2000" dirty="0">
                <a:latin typeface="Franklin Gothic Demi" panose="020B0703020102020204" pitchFamily="34" charset="0"/>
              </a:rPr>
              <a:t> </a:t>
            </a:r>
            <a:r>
              <a:rPr lang="ru-RU" sz="2000" dirty="0"/>
              <a:t>Чтобы запустить даже простой апплет, нужно было загрузить JVM и все библиотеки. При медленном интернете это занимало десятки секунд.</a:t>
            </a:r>
          </a:p>
          <a:p>
            <a:r>
              <a:rPr lang="ru-RU" sz="2000" b="1" dirty="0">
                <a:latin typeface="Franklin Gothic Demi" panose="020B0703020102020204" pitchFamily="34" charset="0"/>
              </a:rPr>
              <a:t>3. Потребление ресурсов:</a:t>
            </a:r>
            <a:r>
              <a:rPr lang="ru-RU" sz="2000" dirty="0">
                <a:latin typeface="Franklin Gothic Demi" panose="020B0703020102020204" pitchFamily="34" charset="0"/>
              </a:rPr>
              <a:t> </a:t>
            </a:r>
            <a:r>
              <a:rPr lang="ru-RU" sz="2000" dirty="0"/>
              <a:t>JVM "съедала" много оперативной памяти, что было критично для компьютеров того времени.</a:t>
            </a:r>
          </a:p>
          <a:p>
            <a:r>
              <a:rPr lang="ru-RU" sz="2000" b="1" dirty="0">
                <a:latin typeface="Franklin Gothic Demi" panose="020B0703020102020204" pitchFamily="34" charset="0"/>
              </a:rPr>
              <a:t>4. Проблемы с безопасностью:</a:t>
            </a:r>
            <a:r>
              <a:rPr lang="ru-RU" sz="2000" dirty="0">
                <a:latin typeface="Franklin Gothic Demi" panose="020B0703020102020204" pitchFamily="34" charset="0"/>
              </a:rPr>
              <a:t> </a:t>
            </a:r>
            <a:r>
              <a:rPr lang="ru-RU" sz="2000" dirty="0"/>
              <a:t>В модели безопасности "песочницы" постоянно находили дыры. Злоумышленники создавали вредоносные апплеты, которые могли обойти ограничения. Это привело к необходимости частых обновлений плагина и снижению доверия.</a:t>
            </a:r>
          </a:p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2260" y="502233"/>
            <a:ext cx="8283920" cy="689947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Причины ухода апплетов</a:t>
            </a:r>
          </a:p>
        </p:txBody>
      </p:sp>
      <p:sp>
        <p:nvSpPr>
          <p:cNvPr id="14" name="Объект 7">
            <a:extLst>
              <a:ext uri="{FF2B5EF4-FFF2-40B4-BE49-F238E27FC236}">
                <a16:creationId xmlns:a16="http://schemas.microsoft.com/office/drawing/2014/main" id="{749C7CD1-A9AA-49E3-6734-AD9546F2DF5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33329" y="1711105"/>
            <a:ext cx="8845237" cy="4735733"/>
          </a:xfrm>
        </p:spPr>
        <p:txBody>
          <a:bodyPr rtlCol="0">
            <a:normAutofit/>
          </a:bodyPr>
          <a:lstStyle>
            <a:defPPr>
              <a:defRPr lang="ru-RU"/>
            </a:defPPr>
          </a:lstStyle>
          <a:p>
            <a:pPr marL="0" indent="0">
              <a:buNone/>
            </a:pPr>
            <a:r>
              <a:rPr lang="ru-RU" sz="2000" b="1" dirty="0">
                <a:latin typeface="Franklin Gothic Demi" panose="020B0703020102020204" pitchFamily="34" charset="0"/>
              </a:rPr>
              <a:t>5. Сложность разработки и отладки:</a:t>
            </a:r>
            <a:r>
              <a:rPr lang="ru-RU" sz="2000" dirty="0">
                <a:latin typeface="Franklin Gothic Demi" panose="020B0703020102020204" pitchFamily="34" charset="0"/>
              </a:rPr>
              <a:t> </a:t>
            </a:r>
            <a:r>
              <a:rPr lang="ru-RU" sz="2000" dirty="0"/>
              <a:t>Написать и отладить апплет было сложнее, чем скрипт на JavaScript. Также возникали проблемы с совместимостью между JVM от разных производителей (Sun, Microsoft, IBM).</a:t>
            </a:r>
          </a:p>
          <a:p>
            <a:pPr marL="0" indent="0">
              <a:buNone/>
            </a:pPr>
            <a:r>
              <a:rPr lang="ru-RU" sz="2000" b="1" dirty="0">
                <a:latin typeface="Franklin Gothic Demi" panose="020B0703020102020204" pitchFamily="34" charset="0"/>
              </a:rPr>
              <a:t>6. Появление альтернатив:</a:t>
            </a:r>
            <a:endParaRPr lang="ru-RU" sz="2000" dirty="0">
              <a:latin typeface="Franklin Gothic Demi" panose="020B0703020102020204" pitchFamily="34" charset="0"/>
            </a:endParaRPr>
          </a:p>
          <a:p>
            <a:pPr lvl="1"/>
            <a:r>
              <a:rPr lang="ru-RU" sz="2000" b="1" dirty="0"/>
              <a:t>JavaScript</a:t>
            </a:r>
            <a:r>
              <a:rPr lang="ru-RU" sz="2000" dirty="0"/>
              <a:t> сильно развился. Вместе с </a:t>
            </a:r>
            <a:r>
              <a:rPr lang="ru-RU" sz="2000" b="1" dirty="0"/>
              <a:t>DHTML</a:t>
            </a:r>
            <a:r>
              <a:rPr lang="ru-RU" sz="2000" dirty="0"/>
              <a:t> и позже </a:t>
            </a:r>
            <a:r>
              <a:rPr lang="ru-RU" sz="2000" b="1" dirty="0"/>
              <a:t>AJAX</a:t>
            </a:r>
            <a:r>
              <a:rPr lang="ru-RU" sz="2000" dirty="0"/>
              <a:t>, он позволил создавать динамичные интерфейсы без плагинов.</a:t>
            </a:r>
          </a:p>
          <a:p>
            <a:pPr lvl="1"/>
            <a:r>
              <a:rPr lang="ru-RU" sz="2000" b="1" dirty="0"/>
              <a:t>Adobe Flash</a:t>
            </a:r>
            <a:r>
              <a:rPr lang="ru-RU" sz="2000" dirty="0"/>
              <a:t> стал де-факто стандартом для мультимедиа и игр в вебе, так как был легче и быстрее для этой задачи.</a:t>
            </a:r>
          </a:p>
          <a:p>
            <a:pPr lvl="1"/>
            <a:r>
              <a:rPr lang="ru-RU" sz="2000" b="1" dirty="0"/>
              <a:t>Мобильные устройства</a:t>
            </a:r>
            <a:r>
              <a:rPr lang="ru-RU" sz="2000" dirty="0"/>
              <a:t> (iPhone, </a:t>
            </a:r>
            <a:r>
              <a:rPr lang="ru-RU" sz="2000" dirty="0" err="1"/>
              <a:t>Android</a:t>
            </a:r>
            <a:r>
              <a:rPr lang="ru-RU" sz="2000" dirty="0"/>
              <a:t>) изначально не поддерживали Java-апплеты, что окончательно похоронило технологию.</a:t>
            </a:r>
          </a:p>
          <a:p>
            <a:pPr marL="0" indent="0">
              <a:buNone/>
            </a:pPr>
            <a:r>
              <a:rPr lang="ru-RU" sz="2000" b="1" dirty="0">
                <a:solidFill>
                  <a:schemeClr val="tx1"/>
                </a:solidFill>
                <a:latin typeface="Franklin Gothic Demi" panose="020B0703020102020204" pitchFamily="34" charset="0"/>
              </a:rPr>
              <a:t>Итог:</a:t>
            </a:r>
            <a:r>
              <a:rPr lang="ru-RU" sz="2000" dirty="0">
                <a:solidFill>
                  <a:schemeClr val="tx1"/>
                </a:solidFill>
                <a:latin typeface="Franklin Gothic Demi" panose="020B0703020102020204" pitchFamily="34" charset="0"/>
              </a:rPr>
              <a:t> </a:t>
            </a:r>
            <a:r>
              <a:rPr lang="ru-RU" sz="2000" dirty="0"/>
              <a:t>Плюсы технологии апплетов (кроссплатформенность, интерактивность) перевесили её минусы (медлительность, небезопасность, сложность).</a:t>
            </a:r>
          </a:p>
          <a:p>
            <a:pPr rt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8A8CD-1729-6305-4EBB-97ED77AD9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00BFAC3-9BFD-4D9D-BEB5-EE00B052E4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9310" y="31121"/>
            <a:ext cx="1492690" cy="1492690"/>
          </a:xfrm>
          <a:prstGeom prst="rect">
            <a:avLst/>
          </a:prstGeom>
        </p:spPr>
      </p:pic>
      <p:sp>
        <p:nvSpPr>
          <p:cNvPr id="4" name="Объект 3">
            <a:extLst>
              <a:ext uri="{FF2B5EF4-FFF2-40B4-BE49-F238E27FC236}">
                <a16:creationId xmlns:a16="http://schemas.microsoft.com/office/drawing/2014/main" id="{ACE55D3D-AA24-CF53-6679-29B3C83F7646}"/>
              </a:ext>
            </a:extLst>
          </p:cNvPr>
          <p:cNvSpPr txBox="1">
            <a:spLocks/>
          </p:cNvSpPr>
          <p:nvPr/>
        </p:nvSpPr>
        <p:spPr>
          <a:xfrm>
            <a:off x="809207" y="1523812"/>
            <a:ext cx="8687879" cy="4544838"/>
          </a:xfrm>
          <a:prstGeom prst="rect">
            <a:avLst/>
          </a:prstGeom>
        </p:spPr>
        <p:txBody>
          <a:bodyPr rtlCol="0">
            <a:normAutofit/>
          </a:bodyPr>
          <a:lstStyle>
            <a:defPPr>
              <a:defRPr lang="ru-RU"/>
            </a:defPPr>
            <a:lvl1pPr marL="347472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2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1pPr>
            <a:lvl2pPr marL="6858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24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2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347472" algn="l" defTabSz="914400" rtl="0" eaLnBrk="1" latinLnBrk="0" hangingPunct="1">
              <a:lnSpc>
                <a:spcPct val="100000"/>
              </a:lnSpc>
              <a:spcBef>
                <a:spcPts val="36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ru-RU" sz="1800" kern="1200">
                <a:solidFill>
                  <a:schemeClr val="tx1"/>
                </a:solidFill>
                <a:latin typeface="+mn-cs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2400" b="1" dirty="0">
                <a:solidFill>
                  <a:schemeClr val="tx1"/>
                </a:solidFill>
                <a:latin typeface="Franklin Gothic Demi" panose="020B0703020102020204" pitchFamily="34" charset="0"/>
              </a:rPr>
              <a:t>Итог развития технологии:</a:t>
            </a:r>
          </a:p>
          <a:p>
            <a:pPr marL="0" indent="0">
              <a:buNone/>
            </a:pPr>
            <a:endParaRPr lang="ru-RU" sz="2400" dirty="0">
              <a:solidFill>
                <a:schemeClr val="tx1"/>
              </a:solidFill>
              <a:latin typeface="Franklin Gothic Demi" panose="020B0703020102020204" pitchFamily="34" charset="0"/>
            </a:endParaRPr>
          </a:p>
          <a:p>
            <a:r>
              <a:rPr lang="ru-RU" sz="2400" b="1" dirty="0" err="1">
                <a:latin typeface="Franklin Gothic Demi" panose="020B0703020102020204" pitchFamily="34" charset="0"/>
              </a:rPr>
              <a:t>HotJava</a:t>
            </a:r>
            <a:r>
              <a:rPr lang="ru-RU" sz="2400" b="1" dirty="0">
                <a:latin typeface="Franklin Gothic Demi" panose="020B0703020102020204" pitchFamily="34" charset="0"/>
              </a:rPr>
              <a:t> и апплеты</a:t>
            </a:r>
            <a:r>
              <a:rPr lang="ru-RU" sz="2400" dirty="0">
                <a:latin typeface="Franklin Gothic Demi" panose="020B0703020102020204" pitchFamily="34" charset="0"/>
              </a:rPr>
              <a:t> </a:t>
            </a:r>
            <a:r>
              <a:rPr lang="ru-RU" sz="2400" dirty="0"/>
              <a:t>были первым практическим доказательством, что браузер может быть платформой для выполнения программ, а не просто для просмотра страниц.</a:t>
            </a:r>
          </a:p>
          <a:p>
            <a:r>
              <a:rPr lang="ru-RU" sz="2400" b="1" dirty="0">
                <a:latin typeface="Franklin Gothic Demi" panose="020B0703020102020204" pitchFamily="34" charset="0"/>
              </a:rPr>
              <a:t>Эта технология устарела</a:t>
            </a:r>
            <a:r>
              <a:rPr lang="ru-RU" sz="2400" dirty="0">
                <a:latin typeface="Franklin Gothic Demi" panose="020B0703020102020204" pitchFamily="34" charset="0"/>
              </a:rPr>
              <a:t> </a:t>
            </a:r>
            <a:r>
              <a:rPr lang="ru-RU" sz="2400" dirty="0"/>
              <a:t>из-за фундаментальных проблем: низкая производительность, большие требования к памяти, проблемы с безопасностью и сложность разработки.</a:t>
            </a:r>
          </a:p>
          <a:p>
            <a:r>
              <a:rPr lang="ru-RU" sz="2400" b="1" dirty="0">
                <a:latin typeface="Franklin Gothic Demi" panose="020B0703020102020204" pitchFamily="34" charset="0"/>
              </a:rPr>
              <a:t>Прямой запуск JVM в браузере</a:t>
            </a:r>
            <a:r>
              <a:rPr lang="ru-RU" sz="2400" dirty="0">
                <a:latin typeface="Franklin Gothic Demi" panose="020B0703020102020204" pitchFamily="34" charset="0"/>
              </a:rPr>
              <a:t> </a:t>
            </a:r>
            <a:r>
              <a:rPr lang="ru-RU" sz="2400" dirty="0"/>
              <a:t>(модель апплетов) окончательно прекратился с прекращением поддержки Java-плагина в основных браузерах.</a:t>
            </a:r>
          </a:p>
        </p:txBody>
      </p:sp>
      <p:sp>
        <p:nvSpPr>
          <p:cNvPr id="2" name="Заголовок 2">
            <a:extLst>
              <a:ext uri="{FF2B5EF4-FFF2-40B4-BE49-F238E27FC236}">
                <a16:creationId xmlns:a16="http://schemas.microsoft.com/office/drawing/2014/main" id="{279EADD4-1C48-BC3F-F6EA-36EDF493D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9207" y="317324"/>
            <a:ext cx="7843837" cy="686242"/>
          </a:xfrm>
        </p:spPr>
        <p:txBody>
          <a:bodyPr rtlCol="0"/>
          <a:lstStyle>
            <a:defPPr>
              <a:defRPr lang="ru-RU"/>
            </a:defPPr>
          </a:lstStyle>
          <a:p>
            <a:pPr rtl="0"/>
            <a:r>
              <a:rPr lang="ru-RU" dirty="0"/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40704873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24E5C-9906-8EB4-47F3-83F23F003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197FB4E6-5A7D-0C5F-C397-3F8F19587D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848823" y="1584356"/>
            <a:ext cx="9174179" cy="468064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dirty="0">
                <a:solidFill>
                  <a:schemeClr val="tx1"/>
                </a:solidFill>
                <a:latin typeface="Franklin Gothic Demi" panose="020B0703020102020204" pitchFamily="34" charset="0"/>
              </a:rPr>
              <a:t>Что осталось от этой идеи:</a:t>
            </a:r>
            <a:endParaRPr lang="ru-RU" sz="2000" dirty="0">
              <a:solidFill>
                <a:schemeClr val="tx1"/>
              </a:solidFill>
              <a:latin typeface="Franklin Gothic Demi" panose="020B0703020102020204" pitchFamily="34" charset="0"/>
            </a:endParaRPr>
          </a:p>
          <a:p>
            <a:r>
              <a:rPr lang="ru-RU" sz="2000" b="1" dirty="0">
                <a:latin typeface="Franklin Gothic Demi" panose="020B0703020102020204" pitchFamily="34" charset="0"/>
              </a:rPr>
              <a:t>Базовый принцип</a:t>
            </a:r>
            <a:r>
              <a:rPr lang="ru-RU" sz="2000" dirty="0">
                <a:latin typeface="Franklin Gothic Demi" panose="020B0703020102020204" pitchFamily="34" charset="0"/>
              </a:rPr>
              <a:t> </a:t>
            </a:r>
            <a:r>
              <a:rPr lang="ru-RU" sz="2000" dirty="0"/>
              <a:t>— выполнение кода на стороне клиента — теперь реализован через </a:t>
            </a:r>
            <a:r>
              <a:rPr lang="ru-RU" sz="2000" b="1" dirty="0"/>
              <a:t>JavaScript</a:t>
            </a:r>
            <a:r>
              <a:rPr lang="ru-RU" sz="2000" dirty="0"/>
              <a:t> и </a:t>
            </a:r>
            <a:r>
              <a:rPr lang="ru-RU" sz="2000" b="1" dirty="0" err="1"/>
              <a:t>WebAssembly</a:t>
            </a:r>
            <a:r>
              <a:rPr lang="ru-RU" sz="2000" dirty="0"/>
              <a:t>.</a:t>
            </a:r>
          </a:p>
          <a:p>
            <a:r>
              <a:rPr lang="ru-RU" sz="2000" b="1" dirty="0">
                <a:latin typeface="Franklin Gothic Demi" panose="020B0703020102020204" pitchFamily="34" charset="0"/>
              </a:rPr>
              <a:t>Модель безопасности "песочницы"</a:t>
            </a:r>
            <a:r>
              <a:rPr lang="ru-RU" sz="2000" dirty="0">
                <a:latin typeface="Franklin Gothic Demi" panose="020B0703020102020204" pitchFamily="34" charset="0"/>
              </a:rPr>
              <a:t> </a:t>
            </a:r>
            <a:r>
              <a:rPr lang="ru-RU" sz="2000" dirty="0"/>
              <a:t>стала стандартом для исполнения любого кода в браузере.</a:t>
            </a:r>
          </a:p>
          <a:p>
            <a:r>
              <a:rPr lang="ru-RU" sz="2000" b="1" dirty="0">
                <a:latin typeface="Franklin Gothic Demi" panose="020B0703020102020204" pitchFamily="34" charset="0"/>
              </a:rPr>
              <a:t>Сама Java</a:t>
            </a:r>
            <a:r>
              <a:rPr lang="ru-RU" sz="2000" dirty="0">
                <a:latin typeface="Franklin Gothic Demi" panose="020B0703020102020204" pitchFamily="34" charset="0"/>
              </a:rPr>
              <a:t> </a:t>
            </a:r>
            <a:r>
              <a:rPr lang="ru-RU" sz="2000" dirty="0"/>
              <a:t>нашла другое применение в вебе: как основной язык для серверной части (бэкенда) приложений, в то время как клиентская часть (фронтенд) перешла к другим технологиям.</a:t>
            </a:r>
          </a:p>
          <a:p>
            <a:pPr marL="0" indent="0">
              <a:buNone/>
            </a:pPr>
            <a:endParaRPr lang="ru-RU" sz="2000" dirty="0"/>
          </a:p>
          <a:p>
            <a:pPr marL="0" indent="0">
              <a:buNone/>
            </a:pPr>
            <a:r>
              <a:rPr lang="ru-RU" sz="2000" b="1" dirty="0">
                <a:solidFill>
                  <a:schemeClr val="tx1"/>
                </a:solidFill>
                <a:latin typeface="Franklin Gothic Demi" panose="020B0703020102020204" pitchFamily="34" charset="0"/>
              </a:rPr>
              <a:t>Вывод:</a:t>
            </a:r>
            <a:r>
              <a:rPr lang="ru-RU" sz="2000" dirty="0">
                <a:solidFill>
                  <a:schemeClr val="tx1"/>
                </a:solidFill>
                <a:latin typeface="Franklin Gothic Demi" panose="020B0703020102020204" pitchFamily="34" charset="0"/>
              </a:rPr>
              <a:t> </a:t>
            </a:r>
            <a:r>
              <a:rPr lang="ru-RU" sz="2000" dirty="0"/>
              <a:t>Технология </a:t>
            </a:r>
            <a:r>
              <a:rPr lang="ru-RU" sz="2000" dirty="0" err="1"/>
              <a:t>HotJava</a:t>
            </a:r>
            <a:r>
              <a:rPr lang="ru-RU" sz="2000" dirty="0"/>
              <a:t> и Java-апплеты выполнили свою историческую роль, продемонстрировав возможность интерактивного веба, но на практике уступили место более легким, безопасным и стандартизированным подходам.</a:t>
            </a:r>
          </a:p>
          <a:p>
            <a:pPr marL="457200" indent="-457200">
              <a:buFont typeface="+mj-lt"/>
              <a:buAutoNum type="arabicPeriod"/>
            </a:pPr>
            <a:endParaRPr lang="ru-RU" sz="2200" dirty="0"/>
          </a:p>
        </p:txBody>
      </p:sp>
      <p:sp>
        <p:nvSpPr>
          <p:cNvPr id="6" name="Заголовок 2">
            <a:extLst>
              <a:ext uri="{FF2B5EF4-FFF2-40B4-BE49-F238E27FC236}">
                <a16:creationId xmlns:a16="http://schemas.microsoft.com/office/drawing/2014/main" id="{9443EC8A-1733-CCF7-081F-EB4667CB3285}"/>
              </a:ext>
            </a:extLst>
          </p:cNvPr>
          <p:cNvSpPr txBox="1">
            <a:spLocks/>
          </p:cNvSpPr>
          <p:nvPr/>
        </p:nvSpPr>
        <p:spPr>
          <a:xfrm>
            <a:off x="7374048" y="171855"/>
            <a:ext cx="4648954" cy="686242"/>
          </a:xfrm>
          <a:prstGeom prst="rect">
            <a:avLst/>
          </a:prstGeom>
        </p:spPr>
        <p:txBody>
          <a:bodyPr vert="horz" lIns="91440" tIns="0" rIns="91440" bIns="0" rtlCol="0" anchor="b" anchorCtr="0">
            <a:noAutofit/>
          </a:bodyPr>
          <a:lstStyle>
            <a:defPPr>
              <a:defRPr lang="ru-RU"/>
            </a:defPPr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ru-RU" sz="3600" b="1" kern="1200" cap="all" baseline="0">
                <a:solidFill>
                  <a:schemeClr val="accent6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ru-RU" dirty="0"/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393627668"/>
      </p:ext>
    </p:extLst>
  </p:cSld>
  <p:clrMapOvr>
    <a:masterClrMapping/>
  </p:clrMapOvr>
</p:sld>
</file>

<file path=ppt/theme/theme1.xml><?xml version="1.0" encoding="utf-8"?>
<a:theme xmlns:a="http://schemas.openxmlformats.org/drawingml/2006/main" name="Пользовательская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Times new Roman"/>
        <a:ea typeface=""/>
        <a:cs typeface="Times new Roma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893089_TF78438558_Win32" id="{20174D6F-D900-4129-ACAC-D46CF5FD4DB7}" vid="{268851D2-D7B5-4873-88EC-188753A90A6F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{944DAA65-49F0-48E6-A52D-FE8FAEB849FD}TF8a9b5915-b8c7-461e-8cdd-693d48b5e323138ae9a7_win32-fecfc327da1f</Template>
  <TotalTime>185</TotalTime>
  <Words>845</Words>
  <Application>Microsoft Office PowerPoint</Application>
  <PresentationFormat>Широкоэкранный</PresentationFormat>
  <Paragraphs>68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6" baseType="lpstr">
      <vt:lpstr>Arial</vt:lpstr>
      <vt:lpstr>Arial Black</vt:lpstr>
      <vt:lpstr>Calibri</vt:lpstr>
      <vt:lpstr>Franklin Gothic Demi</vt:lpstr>
      <vt:lpstr>Times new Roman</vt:lpstr>
      <vt:lpstr>Пользовательская</vt:lpstr>
      <vt:lpstr>Обзор технологий запуска Hot-java</vt:lpstr>
      <vt:lpstr>Презентация PowerPoint</vt:lpstr>
      <vt:lpstr>Презентация PowerPoint</vt:lpstr>
      <vt:lpstr>Презентация PowerPoint</vt:lpstr>
      <vt:lpstr> Апплеты — как это работало?</vt:lpstr>
      <vt:lpstr>Презентация PowerPoint</vt:lpstr>
      <vt:lpstr>Причины ухода апплетов</vt:lpstr>
      <vt:lpstr>Причины ухода апплетов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Матвей Пятницын</dc:creator>
  <cp:lastModifiedBy>milppo _</cp:lastModifiedBy>
  <cp:revision>6</cp:revision>
  <dcterms:created xsi:type="dcterms:W3CDTF">2025-12-13T07:58:09Z</dcterms:created>
  <dcterms:modified xsi:type="dcterms:W3CDTF">2025-12-13T11:05:55Z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