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4" r:id="rId2"/>
    <p:sldId id="288" r:id="rId3"/>
    <p:sldId id="289" r:id="rId4"/>
    <p:sldId id="290" r:id="rId5"/>
    <p:sldId id="264" r:id="rId6"/>
    <p:sldId id="265" r:id="rId7"/>
    <p:sldId id="275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FF"/>
    <a:srgbClr val="ABE338"/>
    <a:srgbClr val="512507"/>
    <a:srgbClr val="6386DF"/>
    <a:srgbClr val="00FFFF"/>
    <a:srgbClr val="F3E9C7"/>
    <a:srgbClr val="FF5050"/>
    <a:srgbClr val="EBE2CF"/>
    <a:srgbClr val="DDDDDD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4C534-89E5-41CA-A379-DFE344071D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044F3-D106-4DD1-9236-992BC1B901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4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7BD13-FF79-7337-5F9C-39353196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7BD831-2FC0-5A37-F07C-7B4907592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774C20-AF93-3A89-2BFA-B42A3870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2501DC-3A89-F2DB-36AF-A6E5BD3D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67942-0583-7569-C4DC-605A8E30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58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33382-F739-0E2F-585D-33AC4E8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538159-661B-7F2B-2EE2-796AA7A0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D924C0-DB9E-55B7-333E-6795750E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3BF29-0992-B120-3D5F-F5F9920F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7CDED-7711-ECE7-8EE5-0815D7D3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51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6EA93-6818-1A8C-CE84-1021E9F4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4F8BB-1346-17C5-2D93-6B83CE14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35B93-70D0-3BA0-5CD4-4A6FB7F7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4D0379-B97D-39CF-D3D4-08B53DAE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26C4D-9C0B-8F37-1359-6B22C124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3E248-26C3-F163-C06B-0EF350FE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910270-7E8C-AA9F-2489-7B16F9F7B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4AD00B-BA6B-B910-41A0-321BB7D69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76D8EC-7D6B-B871-36BC-032A11EE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7F53A0-5A9D-CB3D-5997-EE0CBE55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A75F95-6634-64A8-C648-5A089886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8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20777-BD6C-D8C5-A1ED-7B1FB9EB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22BF0F-69BB-F0B9-2842-687925875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0119A5-4CEC-00A0-3F95-3BB7C0CAF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E68652-6ABA-40CF-E3D2-091BEFED5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B5F2AC-6BFC-7427-9E81-B41761F8E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D9D743-C5DB-3720-737C-05B43ADD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B7699A-7383-F555-8998-6635BBA1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54F59A-1685-F587-AE6E-35D2BB2C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95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F3302-7BAE-F3DA-155A-01E35B54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5356E1-5AEE-B1F6-81CA-3E1DECC1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4BCAFA-5FB5-2B1D-4AEE-6CA72FBE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D160CB-EE94-BFE3-3F07-1AA36752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78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501D77-D4DE-78E8-BC2F-41F8AFE7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6F876-8C7C-4013-4D16-1EAE0A0E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6B277D-B3E8-6F0C-68AD-B2B4BC2D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73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1ED9D-32F8-4135-41F0-30412358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0ECE8-AC7E-CA78-2557-42FE1A52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7BE661-AB6F-8FD1-04E2-ACE8F5A2E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0C27EA-45D4-8AE7-169A-701009B7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F9D55-F9A1-60A5-0C0D-0FED9CBC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D17D0-BA2F-E2B8-B89C-B71C0232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01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DDAB7-2965-3D48-8BBC-0E2EFFAB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2298A0-D78F-C688-9603-87F70DC4A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6ACA2F-DBAE-0DF3-811E-B8EED6CD3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E6B9ED-E090-D2EE-E193-78A45D91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78C54-4037-6A3B-A7C4-21ED9FF9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66CC21-2E36-B1E1-48AC-7BF34895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8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741FC-F497-5072-0F7F-21ED3B01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73D681-B3A1-EF46-AF12-DEC2F152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33C6C-9C92-2D05-9672-20E95FA8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EC53F-C9EE-7703-2718-EF3A5379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7D354-D7C5-599C-5C00-B4BAB83A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97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77758B-6E71-F6D2-E877-26574B5E8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B6364A-6FFF-B13B-8C81-5D8DA2E3B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183ED3-D592-15EC-E220-6314BDFB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E7C96-BEBD-2000-D509-8DB63000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D951DE-87A7-2B63-28CA-5F07649A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2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79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F8D28-58F1-AEEC-2C7F-8133B602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C8B7A-BF42-796B-A86C-7389CAC9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A4B6B-075C-E838-A377-88C2403E3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E4ECB-F258-4E22-879A-7D350F2C0172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7BD34-4D3A-9B95-0CBF-D0740C6A0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57477-317A-BD0E-BDBB-32A0EB24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08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77E42-13B3-51BE-07C8-2DFCE18F1768}"/>
              </a:ext>
            </a:extLst>
          </p:cNvPr>
          <p:cNvSpPr/>
          <p:nvPr/>
        </p:nvSpPr>
        <p:spPr>
          <a:xfrm>
            <a:off x="5057603" y="3200400"/>
            <a:ext cx="2076793" cy="78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363352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58739F-8EA1-EF38-3572-B0086E302A0A}"/>
              </a:ext>
            </a:extLst>
          </p:cNvPr>
          <p:cNvSpPr/>
          <p:nvPr/>
        </p:nvSpPr>
        <p:spPr>
          <a:xfrm>
            <a:off x="2534841" y="901277"/>
            <a:ext cx="6405463" cy="5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8"/>
              </a:lnSpc>
            </a:pP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Что такое  </a:t>
            </a:r>
            <a:r>
              <a:rPr lang="en-US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 и зачем он нужен</a:t>
            </a:r>
            <a:endParaRPr lang="en-US" sz="3375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5AFB0A-71D0-A21F-2D2D-46946536F89C}"/>
              </a:ext>
            </a:extLst>
          </p:cNvPr>
          <p:cNvSpPr/>
          <p:nvPr/>
        </p:nvSpPr>
        <p:spPr>
          <a:xfrm>
            <a:off x="970643" y="2085596"/>
            <a:ext cx="5983843" cy="9294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(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Java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Database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Connectivity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)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— это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мост между Java и любой SQL базой данных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6BDBCC8-AED7-7C43-BCEA-51828F0B1989}"/>
              </a:ext>
            </a:extLst>
          </p:cNvPr>
          <p:cNvSpPr/>
          <p:nvPr/>
        </p:nvSpPr>
        <p:spPr>
          <a:xfrm>
            <a:off x="970643" y="3293243"/>
            <a:ext cx="6039261" cy="1550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Вы пишете код один раз, используя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 API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а сам JDBC через специальный драйвер разговаривает с нужной вам БД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 Можете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переключаться между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PostgreSQL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MySQL, Oracle, SQL Server — а ваш код остается одинаковым.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4DF0A21-12AD-7019-2C92-9902F3F0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688" y="2178286"/>
            <a:ext cx="4140398" cy="41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0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8FD10-233F-1051-7112-7576FF4EBDCE}"/>
              </a:ext>
            </a:extLst>
          </p:cNvPr>
          <p:cNvSpPr/>
          <p:nvPr/>
        </p:nvSpPr>
        <p:spPr>
          <a:xfrm>
            <a:off x="778272" y="2600666"/>
            <a:ext cx="2999401" cy="143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8"/>
              </a:lnSpc>
            </a:pPr>
            <a:r>
              <a:rPr lang="en-US" sz="2583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Архитектура JDBC: основные компоненты</a:t>
            </a:r>
            <a:endParaRPr lang="en-US" sz="2583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598691-8FD2-0BF0-925C-F10E4669E032}"/>
              </a:ext>
            </a:extLst>
          </p:cNvPr>
          <p:cNvSpPr/>
          <p:nvPr/>
        </p:nvSpPr>
        <p:spPr>
          <a:xfrm>
            <a:off x="4306917" y="747319"/>
            <a:ext cx="526653" cy="1016958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E6BDB6-869D-5AC1-BC76-70E2027F6A27}"/>
              </a:ext>
            </a:extLst>
          </p:cNvPr>
          <p:cNvSpPr/>
          <p:nvPr/>
        </p:nvSpPr>
        <p:spPr>
          <a:xfrm>
            <a:off x="4537941" y="11627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542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1807E33-D253-97E9-EEE2-BE640BFD2957}"/>
              </a:ext>
            </a:extLst>
          </p:cNvPr>
          <p:cNvSpPr/>
          <p:nvPr/>
        </p:nvSpPr>
        <p:spPr>
          <a:xfrm>
            <a:off x="5142679" y="983432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1 — ваше </a:t>
            </a:r>
            <a:r>
              <a:rPr lang="ru-RU" sz="1583" b="1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приложение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Java код, который вы пишете.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OrderService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UserService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любая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бизнес-логика.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180F0FD-3F16-125F-DA76-38E0C89A71A9}"/>
              </a:ext>
            </a:extLst>
          </p:cNvPr>
          <p:cNvSpPr/>
          <p:nvPr/>
        </p:nvSpPr>
        <p:spPr>
          <a:xfrm>
            <a:off x="4306917" y="1899899"/>
            <a:ext cx="526653" cy="148966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9B7CED1-F574-98F2-E1AE-86E522D6A7EE}"/>
              </a:ext>
            </a:extLst>
          </p:cNvPr>
          <p:cNvSpPr/>
          <p:nvPr/>
        </p:nvSpPr>
        <p:spPr>
          <a:xfrm>
            <a:off x="4509620" y="2572172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542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7846F40-C091-AA3C-2DC5-87AEE15AEFBC}"/>
              </a:ext>
            </a:extLst>
          </p:cNvPr>
          <p:cNvSpPr/>
          <p:nvPr/>
        </p:nvSpPr>
        <p:spPr>
          <a:xfrm>
            <a:off x="5142679" y="2100447"/>
            <a:ext cx="6040140" cy="117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2 — JDBC API.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интерфейсы, описанные в пакете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java.sql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. Три самых главных: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Connection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соединение к БД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Statement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способ выполнить SQL команду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ResultSet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результаты запроса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8FEE44A-E8C5-FEE6-4824-59ED279F347F}"/>
              </a:ext>
            </a:extLst>
          </p:cNvPr>
          <p:cNvSpPr/>
          <p:nvPr/>
        </p:nvSpPr>
        <p:spPr>
          <a:xfrm>
            <a:off x="4306917" y="3525185"/>
            <a:ext cx="526653" cy="1387924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320D2CD-3ABE-5D81-9B7F-C89A24D9D7E2}"/>
              </a:ext>
            </a:extLst>
          </p:cNvPr>
          <p:cNvSpPr/>
          <p:nvPr/>
        </p:nvSpPr>
        <p:spPr>
          <a:xfrm>
            <a:off x="4504333" y="41128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542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05CC403-C58F-1376-EC7D-05A27369ED5E}"/>
              </a:ext>
            </a:extLst>
          </p:cNvPr>
          <p:cNvSpPr/>
          <p:nvPr/>
        </p:nvSpPr>
        <p:spPr>
          <a:xfrm>
            <a:off x="5142679" y="3708591"/>
            <a:ext cx="6040140" cy="102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3 — </a:t>
            </a:r>
            <a:r>
              <a:rPr lang="en-US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JDBC Driver.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конкретная реализация для каждой БД. 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 —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файл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postgresql-42.7.3.jar,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 — </a:t>
            </a:r>
            <a:r>
              <a:rPr lang="en-US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-connector-java,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Oracle — ojdbc.jar.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Драйвер реализует эти интерфейсы конкретно для своей БД.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F78718B7-DFDA-F78D-95D5-E7419EC0C2CF}"/>
              </a:ext>
            </a:extLst>
          </p:cNvPr>
          <p:cNvSpPr/>
          <p:nvPr/>
        </p:nvSpPr>
        <p:spPr>
          <a:xfrm>
            <a:off x="4299659" y="5048732"/>
            <a:ext cx="526653" cy="84150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E39DABF3-F339-83CE-4CD4-15FB7D5395F1}"/>
              </a:ext>
            </a:extLst>
          </p:cNvPr>
          <p:cNvSpPr/>
          <p:nvPr/>
        </p:nvSpPr>
        <p:spPr>
          <a:xfrm>
            <a:off x="4504333" y="5372256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542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B97D505-DD84-0482-EA02-5F4EA221466D}"/>
              </a:ext>
            </a:extLst>
          </p:cNvPr>
          <p:cNvSpPr/>
          <p:nvPr/>
        </p:nvSpPr>
        <p:spPr>
          <a:xfrm>
            <a:off x="5142679" y="5243689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4 — сама база данных.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MySQL, Oracle, какая угодно.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6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BEAAE4-FCAE-7E20-3032-C0F270D346A8}"/>
              </a:ext>
            </a:extLst>
          </p:cNvPr>
          <p:cNvSpPr/>
          <p:nvPr/>
        </p:nvSpPr>
        <p:spPr>
          <a:xfrm>
            <a:off x="0" y="1312895"/>
            <a:ext cx="12192000" cy="2299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B04219A-BF5A-03B7-D371-4CC0B0E987C1}"/>
              </a:ext>
            </a:extLst>
          </p:cNvPr>
          <p:cNvSpPr/>
          <p:nvPr/>
        </p:nvSpPr>
        <p:spPr>
          <a:xfrm>
            <a:off x="612604" y="468902"/>
            <a:ext cx="7237809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ru-RU" sz="2750" dirty="0">
                <a:solidFill>
                  <a:srgbClr val="091C53"/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БАЗОВЫЙ ЦИКЛ</a:t>
            </a:r>
            <a:endParaRPr lang="en-US" sz="2750" dirty="0">
              <a:latin typeface="Bahnschrift SemiBold" panose="020B0502040204020203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3299E2-9426-D0C0-E120-1C21B29CEE0A}"/>
              </a:ext>
            </a:extLst>
          </p:cNvPr>
          <p:cNvSpPr/>
          <p:nvPr/>
        </p:nvSpPr>
        <p:spPr>
          <a:xfrm>
            <a:off x="2134252" y="2144953"/>
            <a:ext cx="5718608" cy="1265708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FFA07A"/>
                </a:solidFill>
                <a:effectLst/>
                <a:latin typeface="Lucida Console" panose="020B0609040504020204" pitchFamily="49" charset="0"/>
              </a:rPr>
              <a:t>conn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sz="1400" b="0" i="0" u="none" strike="noStrike" dirty="0" err="1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DriverManager.getConnection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(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jdbc:postgresql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://localhost:5432/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shop_db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",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postgres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,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"password</a:t>
            </a:r>
            <a:r>
              <a:rPr lang="en-US" sz="1400" dirty="0">
                <a:solidFill>
                  <a:srgbClr val="ABE338"/>
                </a:solidFill>
                <a:latin typeface="Lucida Console" panose="020B0609040504020204" pitchFamily="49" charset="0"/>
              </a:rPr>
              <a:t>”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);</a:t>
            </a:r>
            <a:r>
              <a:rPr lang="en-US" sz="1400" dirty="0">
                <a:solidFill>
                  <a:srgbClr val="1E3063"/>
                </a:solidFill>
                <a:latin typeface="Consolas" panose="020B0609020204030204" pitchFamily="49" charset="0"/>
                <a:ea typeface="Instrument Sans Medium" pitchFamily="34" charset="-122"/>
                <a:cs typeface="Instrument Sans Medium" pitchFamily="34" charset="-120"/>
              </a:rPr>
              <a:t>);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FD56C-116B-6C11-0399-415A34DA45F5}"/>
              </a:ext>
            </a:extLst>
          </p:cNvPr>
          <p:cNvSpPr txBox="1"/>
          <p:nvPr/>
        </p:nvSpPr>
        <p:spPr>
          <a:xfrm>
            <a:off x="2134253" y="1556520"/>
            <a:ext cx="2681299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1 </a:t>
            </a:r>
            <a:r>
              <a:rPr lang="ru-RU" sz="1583" b="1" dirty="0">
                <a:latin typeface="Corbel" panose="020B0503020204020204" pitchFamily="34" charset="0"/>
              </a:rPr>
              <a:t>— создать соединение.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F35ED-E8A5-805F-EE5A-3EAACCF4A86C}"/>
              </a:ext>
            </a:extLst>
          </p:cNvPr>
          <p:cNvSpPr txBox="1"/>
          <p:nvPr/>
        </p:nvSpPr>
        <p:spPr>
          <a:xfrm>
            <a:off x="8136768" y="1546483"/>
            <a:ext cx="3632151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ru-RU" sz="1583" dirty="0" err="1">
                <a:latin typeface="Corbel" panose="020B0503020204020204" pitchFamily="34" charset="0"/>
              </a:rPr>
              <a:t>DriverManager</a:t>
            </a:r>
            <a:r>
              <a:rPr lang="ru-RU" sz="1583" dirty="0">
                <a:latin typeface="Corbel" panose="020B0503020204020204" pitchFamily="34" charset="0"/>
              </a:rPr>
              <a:t> и передаем: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URL БД (где она находится, какой порт)</a:t>
            </a:r>
          </a:p>
          <a:p>
            <a:r>
              <a:rPr lang="ru-RU" sz="1583" dirty="0">
                <a:latin typeface="Corbel" panose="020B0503020204020204" pitchFamily="34" charset="0"/>
              </a:rPr>
              <a:t>Имя пользователя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Пароль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Получаем объект </a:t>
            </a:r>
            <a:r>
              <a:rPr lang="ru-RU" sz="1583" dirty="0" err="1" smtClean="0">
                <a:latin typeface="Corbel" panose="020B0503020204020204" pitchFamily="34" charset="0"/>
              </a:rPr>
              <a:t>Connectio</a:t>
            </a:r>
            <a:r>
              <a:rPr lang="en-US" sz="1583" dirty="0" smtClean="0">
                <a:latin typeface="Corbel" panose="020B0503020204020204" pitchFamily="34" charset="0"/>
              </a:rPr>
              <a:t>n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Стрелка: штриховая вправо 10">
            <a:extLst>
              <a:ext uri="{FF2B5EF4-FFF2-40B4-BE49-F238E27FC236}">
                <a16:creationId xmlns:a16="http://schemas.microsoft.com/office/drawing/2014/main" id="{2BD8EA13-FA42-DEFE-5C88-2302CEA3C57B}"/>
              </a:ext>
            </a:extLst>
          </p:cNvPr>
          <p:cNvSpPr/>
          <p:nvPr/>
        </p:nvSpPr>
        <p:spPr>
          <a:xfrm>
            <a:off x="555502" y="2026056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E35402-0A1A-0E3A-359C-C1F463F0019A}"/>
              </a:ext>
            </a:extLst>
          </p:cNvPr>
          <p:cNvSpPr/>
          <p:nvPr/>
        </p:nvSpPr>
        <p:spPr>
          <a:xfrm>
            <a:off x="0" y="4211358"/>
            <a:ext cx="12192000" cy="22292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C4B2A-67FE-7D8C-0ED8-57C32E9DEAB0}"/>
              </a:ext>
            </a:extLst>
          </p:cNvPr>
          <p:cNvSpPr txBox="1"/>
          <p:nvPr/>
        </p:nvSpPr>
        <p:spPr>
          <a:xfrm>
            <a:off x="2117935" y="5058761"/>
            <a:ext cx="4499673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Statement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stmt</a:t>
            </a:r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conn.createStatement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orders"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1634D-3F9D-1049-6AA9-34850B5E89D4}"/>
              </a:ext>
            </a:extLst>
          </p:cNvPr>
          <p:cNvSpPr txBox="1"/>
          <p:nvPr/>
        </p:nvSpPr>
        <p:spPr>
          <a:xfrm>
            <a:off x="7361589" y="4495276"/>
            <a:ext cx="4086428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Создаем </a:t>
            </a:r>
            <a:r>
              <a:rPr lang="en-US" sz="1583" dirty="0">
                <a:latin typeface="Corbel" panose="020B0503020204020204" pitchFamily="34" charset="0"/>
              </a:rPr>
              <a:t>Statement (</a:t>
            </a:r>
            <a:r>
              <a:rPr lang="ru-RU" sz="1583" dirty="0">
                <a:latin typeface="Corbel" panose="020B0503020204020204" pitchFamily="34" charset="0"/>
              </a:rPr>
              <a:t>это способ отправить </a:t>
            </a:r>
            <a:r>
              <a:rPr lang="en-US" sz="1583" dirty="0">
                <a:latin typeface="Corbel" panose="020B0503020204020204" pitchFamily="34" charset="0"/>
              </a:rPr>
              <a:t>SQL </a:t>
            </a:r>
            <a:r>
              <a:rPr lang="ru-RU" sz="1583" dirty="0">
                <a:latin typeface="Corbel" panose="020B0503020204020204" pitchFamily="34" charset="0"/>
              </a:rPr>
              <a:t>в БД), и выполняем запрос.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SELECT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executeQuery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INSERT, UPDATE, DELETE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executeUpdate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57F1D-B683-58ED-280C-930B710E3C29}"/>
              </a:ext>
            </a:extLst>
          </p:cNvPr>
          <p:cNvSpPr txBox="1"/>
          <p:nvPr/>
        </p:nvSpPr>
        <p:spPr>
          <a:xfrm>
            <a:off x="2117936" y="4468396"/>
            <a:ext cx="2281464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2 </a:t>
            </a:r>
            <a:r>
              <a:rPr lang="ru-RU" sz="1583" b="1" dirty="0">
                <a:latin typeface="Corbel" panose="020B0503020204020204" pitchFamily="34" charset="0"/>
              </a:rPr>
              <a:t>— выполнить </a:t>
            </a:r>
            <a:r>
              <a:rPr lang="en-US" sz="1583" b="1" dirty="0">
                <a:latin typeface="Corbel" panose="020B0503020204020204" pitchFamily="34" charset="0"/>
              </a:rPr>
              <a:t>SQL.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6" name="Стрелка: штриховая вправо 17">
            <a:extLst>
              <a:ext uri="{FF2B5EF4-FFF2-40B4-BE49-F238E27FC236}">
                <a16:creationId xmlns:a16="http://schemas.microsoft.com/office/drawing/2014/main" id="{F7A1F5CF-A4C5-3129-D7D9-FC6CEAEB7EE6}"/>
              </a:ext>
            </a:extLst>
          </p:cNvPr>
          <p:cNvSpPr/>
          <p:nvPr/>
        </p:nvSpPr>
        <p:spPr>
          <a:xfrm>
            <a:off x="604605" y="4874164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36317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FA0FF7D-4B06-3FE5-A698-951240D65F18}"/>
              </a:ext>
            </a:extLst>
          </p:cNvPr>
          <p:cNvSpPr/>
          <p:nvPr/>
        </p:nvSpPr>
        <p:spPr>
          <a:xfrm>
            <a:off x="0" y="1724252"/>
            <a:ext cx="12192000" cy="33465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6E143-82F8-BDF5-DEC6-F6A6599D8AA7}"/>
              </a:ext>
            </a:extLst>
          </p:cNvPr>
          <p:cNvSpPr txBox="1"/>
          <p:nvPr/>
        </p:nvSpPr>
        <p:spPr>
          <a:xfrm>
            <a:off x="2117935" y="2022019"/>
            <a:ext cx="6096000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3 </a:t>
            </a:r>
            <a:r>
              <a:rPr lang="ru-RU" sz="1583" b="1" dirty="0">
                <a:latin typeface="Corbel" panose="020B0503020204020204" pitchFamily="34" charset="0"/>
              </a:rPr>
              <a:t>— обработать результаты.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795F-9749-B66B-9627-4EDDDF70CBEF}"/>
              </a:ext>
            </a:extLst>
          </p:cNvPr>
          <p:cNvSpPr txBox="1"/>
          <p:nvPr/>
        </p:nvSpPr>
        <p:spPr>
          <a:xfrm>
            <a:off x="2117935" y="2511380"/>
            <a:ext cx="4499673" cy="123686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rs.next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name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"name"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price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"price"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(name + " " + price);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F3E34-6ABC-BF3E-FA12-D5647056AB24}"/>
              </a:ext>
            </a:extLst>
          </p:cNvPr>
          <p:cNvSpPr txBox="1"/>
          <p:nvPr/>
        </p:nvSpPr>
        <p:spPr>
          <a:xfrm>
            <a:off x="2117935" y="3885828"/>
            <a:ext cx="4857751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Проходим по результатам. </a:t>
            </a:r>
            <a:r>
              <a:rPr lang="ru-RU" sz="1583" dirty="0" err="1">
                <a:latin typeface="Corbel" panose="020B0503020204020204" pitchFamily="34" charset="0"/>
              </a:rPr>
              <a:t>rs.next</a:t>
            </a:r>
            <a:r>
              <a:rPr lang="ru-RU" sz="1583" dirty="0">
                <a:latin typeface="Corbel" panose="020B0503020204020204" pitchFamily="34" charset="0"/>
              </a:rPr>
              <a:t>() — переходит на следующую строку. </a:t>
            </a:r>
            <a:r>
              <a:rPr lang="ru-RU" sz="1583" dirty="0" err="1">
                <a:latin typeface="Corbel" panose="020B0503020204020204" pitchFamily="34" charset="0"/>
              </a:rPr>
              <a:t>rs.getString</a:t>
            </a:r>
            <a:r>
              <a:rPr lang="ru-RU" sz="1583" dirty="0">
                <a:latin typeface="Corbel" panose="020B0503020204020204" pitchFamily="34" charset="0"/>
              </a:rPr>
              <a:t>() — получает значение колонки как </a:t>
            </a:r>
            <a:r>
              <a:rPr lang="ru-RU" sz="1583" dirty="0" err="1">
                <a:latin typeface="Corbel" panose="020B0503020204020204" pitchFamily="34" charset="0"/>
              </a:rPr>
              <a:t>String</a:t>
            </a:r>
            <a:r>
              <a:rPr lang="ru-RU" sz="1583" dirty="0">
                <a:latin typeface="Corbel" panose="020B0503020204020204" pitchFamily="34" charset="0"/>
              </a:rPr>
              <a:t>, </a:t>
            </a:r>
            <a:r>
              <a:rPr lang="ru-RU" sz="1583" dirty="0" err="1">
                <a:latin typeface="Corbel" panose="020B0503020204020204" pitchFamily="34" charset="0"/>
              </a:rPr>
              <a:t>rs.getInt</a:t>
            </a:r>
            <a:r>
              <a:rPr lang="ru-RU" sz="1583" dirty="0">
                <a:latin typeface="Corbel" panose="020B0503020204020204" pitchFamily="34" charset="0"/>
              </a:rPr>
              <a:t>() — как </a:t>
            </a:r>
            <a:r>
              <a:rPr lang="ru-RU" sz="1583" dirty="0" err="1">
                <a:latin typeface="Corbel" panose="020B0503020204020204" pitchFamily="34" charset="0"/>
              </a:rPr>
              <a:t>int</a:t>
            </a:r>
            <a:r>
              <a:rPr lang="ru-RU" sz="1583" dirty="0">
                <a:latin typeface="Corbel" panose="020B0503020204020204" pitchFamily="34" charset="0"/>
              </a:rPr>
              <a:t>.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0B95C-934D-BA15-EC39-AF4CBA07F47B}"/>
              </a:ext>
            </a:extLst>
          </p:cNvPr>
          <p:cNvSpPr txBox="1"/>
          <p:nvPr/>
        </p:nvSpPr>
        <p:spPr>
          <a:xfrm>
            <a:off x="7361590" y="3402024"/>
            <a:ext cx="3744769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Важно: в конце закрыть соединение.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8985B-27E5-B990-BB32-AA6E854C76EF}"/>
              </a:ext>
            </a:extLst>
          </p:cNvPr>
          <p:cNvSpPr txBox="1"/>
          <p:nvPr/>
        </p:nvSpPr>
        <p:spPr>
          <a:xfrm>
            <a:off x="7361589" y="3885828"/>
            <a:ext cx="4086428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Стрелка: штриховая вправо 19">
            <a:extLst>
              <a:ext uri="{FF2B5EF4-FFF2-40B4-BE49-F238E27FC236}">
                <a16:creationId xmlns:a16="http://schemas.microsoft.com/office/drawing/2014/main" id="{BED0983D-B62D-0339-0F90-55144206EA85}"/>
              </a:ext>
            </a:extLst>
          </p:cNvPr>
          <p:cNvSpPr/>
          <p:nvPr/>
        </p:nvSpPr>
        <p:spPr>
          <a:xfrm>
            <a:off x="579909" y="2970875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375226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1662C-5AC0-DEBA-3E6E-20F57EDF7B84}"/>
              </a:ext>
            </a:extLst>
          </p:cNvPr>
          <p:cNvSpPr txBox="1"/>
          <p:nvPr/>
        </p:nvSpPr>
        <p:spPr>
          <a:xfrm>
            <a:off x="4478894" y="491527"/>
            <a:ext cx="32342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SQL INJECTION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502961"/>
            <a:ext cx="4963968" cy="82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Представьте, вы разработчик, пишете функцию входа. Пользователь вводит </a:t>
            </a:r>
            <a:r>
              <a:rPr lang="ru-RU" sz="1583" dirty="0" err="1">
                <a:latin typeface="Corbel" panose="020B0503020204020204" pitchFamily="34" charset="0"/>
              </a:rPr>
              <a:t>login</a:t>
            </a:r>
            <a:r>
              <a:rPr lang="ru-RU" sz="1583" dirty="0">
                <a:latin typeface="Corbel" panose="020B0503020204020204" pitchFamily="34" charset="0"/>
              </a:rPr>
              <a:t>. И </a:t>
            </a:r>
            <a:r>
              <a:rPr lang="ru-RU" sz="1583" dirty="0" smtClean="0">
                <a:latin typeface="Corbel" panose="020B0503020204020204" pitchFamily="34" charset="0"/>
              </a:rPr>
              <a:t>вы </a:t>
            </a:r>
            <a:r>
              <a:rPr lang="ru-RU" sz="1583" dirty="0">
                <a:latin typeface="Corbel" panose="020B0503020204020204" pitchFamily="34" charset="0"/>
              </a:rPr>
              <a:t>конкатенируете его прямо в SQL запрос: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95159" y="1502961"/>
            <a:ext cx="5194878" cy="112371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'" 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+ login +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"'"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684E1D-877F-E30B-867A-3B97B537894E}"/>
              </a:ext>
            </a:extLst>
          </p:cNvPr>
          <p:cNvSpPr txBox="1"/>
          <p:nvPr/>
        </p:nvSpPr>
        <p:spPr>
          <a:xfrm>
            <a:off x="6295159" y="2876552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ABE338"/>
                </a:solidFill>
                <a:latin typeface="Consolas" panose="020B0609020204030204" pitchFamily="49" charset="0"/>
              </a:rPr>
              <a:t>ivan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5AB18-396B-308D-7011-55BCE2B4FA9F}"/>
              </a:ext>
            </a:extLst>
          </p:cNvPr>
          <p:cNvSpPr txBox="1"/>
          <p:nvPr/>
        </p:nvSpPr>
        <p:spPr>
          <a:xfrm>
            <a:off x="875394" y="2830563"/>
            <a:ext cx="224105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Это вход выглядит как: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15479" y="3343907"/>
            <a:ext cx="5138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Предположим, пользователь вводит </a:t>
            </a:r>
            <a:r>
              <a:rPr lang="ru-RU" sz="1583" dirty="0">
                <a:latin typeface="Corbel" panose="020B0503020204020204" pitchFamily="34" charset="0"/>
              </a:rPr>
              <a:t>вместо '</a:t>
            </a:r>
            <a:r>
              <a:rPr lang="ru-RU" sz="1583" dirty="0" err="1">
                <a:latin typeface="Corbel" panose="020B0503020204020204" pitchFamily="34" charset="0"/>
              </a:rPr>
              <a:t>ivan</a:t>
            </a:r>
            <a:r>
              <a:rPr lang="ru-RU" sz="1583" dirty="0">
                <a:latin typeface="Corbel" panose="020B0503020204020204" pitchFamily="34" charset="0"/>
              </a:rPr>
              <a:t>' вот это: '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' -- (кавычка, слово 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, кавычка, два минуса</a:t>
            </a:r>
            <a:r>
              <a:rPr lang="ru-RU" sz="1583" dirty="0" smtClean="0">
                <a:latin typeface="Corbel" panose="020B0503020204020204" pitchFamily="34" charset="0"/>
              </a:rPr>
              <a:t>).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754EF-552A-C55E-53BE-B6ACD7DDA4C8}"/>
              </a:ext>
            </a:extLst>
          </p:cNvPr>
          <p:cNvSpPr txBox="1"/>
          <p:nvPr/>
        </p:nvSpPr>
        <p:spPr>
          <a:xfrm>
            <a:off x="6295159" y="3483976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D2B83-5FB0-C761-9D46-ACED47B47D57}"/>
              </a:ext>
            </a:extLst>
          </p:cNvPr>
          <p:cNvSpPr txBox="1"/>
          <p:nvPr/>
        </p:nvSpPr>
        <p:spPr>
          <a:xfrm>
            <a:off x="815479" y="4206909"/>
            <a:ext cx="484414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 SQL два минуса — это </a:t>
            </a:r>
            <a:r>
              <a:rPr lang="ru-RU" sz="1583" dirty="0" smtClean="0">
                <a:latin typeface="Corbel" panose="020B0503020204020204" pitchFamily="34" charset="0"/>
              </a:rPr>
              <a:t>комментарий, т. е. </a:t>
            </a:r>
            <a:r>
              <a:rPr lang="ru-RU" sz="1583" dirty="0">
                <a:latin typeface="Corbel" panose="020B0503020204020204" pitchFamily="34" charset="0"/>
              </a:rPr>
              <a:t>в</a:t>
            </a:r>
            <a:r>
              <a:rPr lang="ru-RU" sz="1583" dirty="0" smtClean="0">
                <a:latin typeface="Corbel" panose="020B0503020204020204" pitchFamily="34" charset="0"/>
              </a:rPr>
              <a:t>сё </a:t>
            </a:r>
            <a:r>
              <a:rPr lang="ru-RU" sz="1583" dirty="0">
                <a:latin typeface="Corbel" panose="020B0503020204020204" pitchFamily="34" charset="0"/>
              </a:rPr>
              <a:t>что дальше — игнорируется. То есть запрос становится: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DDDB0F-4C73-D8A1-E03E-F28E3DD8AE99}"/>
              </a:ext>
            </a:extLst>
          </p:cNvPr>
          <p:cNvSpPr txBox="1"/>
          <p:nvPr/>
        </p:nvSpPr>
        <p:spPr>
          <a:xfrm>
            <a:off x="6295159" y="4317895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F724F-855A-BE31-64E7-3724AF1E57BC}"/>
              </a:ext>
            </a:extLst>
          </p:cNvPr>
          <p:cNvSpPr txBox="1"/>
          <p:nvPr/>
        </p:nvSpPr>
        <p:spPr>
          <a:xfrm>
            <a:off x="815479" y="4923953"/>
            <a:ext cx="4963968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solidFill>
                  <a:srgbClr val="FF0000"/>
                </a:solidFill>
                <a:latin typeface="Corbel" panose="020B0503020204020204" pitchFamily="34" charset="0"/>
              </a:rPr>
              <a:t>Запрос вернет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данные, для пользователя с логином </a:t>
            </a:r>
            <a:r>
              <a:rPr lang="en-US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admin,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 БЕЗ аутентификации.</a:t>
            </a:r>
            <a:endParaRPr lang="ru-RU" sz="1583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3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775104"/>
            <a:ext cx="496396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Решение — </a:t>
            </a:r>
            <a:r>
              <a:rPr lang="en-US" sz="1583" b="1" dirty="0" err="1">
                <a:latin typeface="Corbel" panose="020B0503020204020204" pitchFamily="34" charset="0"/>
              </a:rPr>
              <a:t>PreparedStatement</a:t>
            </a:r>
            <a:r>
              <a:rPr lang="en-US" sz="1583" b="1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63409" y="2563958"/>
            <a:ext cx="5194878" cy="163449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?"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pstmt.setString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30779" y="2563958"/>
            <a:ext cx="5053198" cy="252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Вместо того чтобы конкатенировать строки, мы используем </a:t>
            </a:r>
            <a:r>
              <a:rPr lang="ru-RU" sz="1583" dirty="0" err="1">
                <a:latin typeface="Corbel" panose="020B0503020204020204" pitchFamily="34" charset="0"/>
              </a:rPr>
              <a:t>плейсхолдер</a:t>
            </a:r>
            <a:r>
              <a:rPr lang="ru-RU" sz="1583" dirty="0">
                <a:latin typeface="Corbel" panose="020B0503020204020204" pitchFamily="34" charset="0"/>
              </a:rPr>
              <a:t> — знак вопроса '?'.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 мы передаем параметр отдельно через </a:t>
            </a:r>
            <a:r>
              <a:rPr lang="ru-RU" sz="1583" dirty="0" err="1">
                <a:latin typeface="Corbel" panose="020B0503020204020204" pitchFamily="34" charset="0"/>
              </a:rPr>
              <a:t>setString</a:t>
            </a:r>
            <a:r>
              <a:rPr lang="ru-RU" sz="1583" dirty="0">
                <a:latin typeface="Corbel" panose="020B0503020204020204" pitchFamily="34" charset="0"/>
              </a:rPr>
              <a:t>(). JDBC сам экранирует все </a:t>
            </a:r>
            <a:r>
              <a:rPr lang="ru-RU" sz="1583" dirty="0" smtClean="0">
                <a:latin typeface="Corbel" panose="020B0503020204020204" pitchFamily="34" charset="0"/>
              </a:rPr>
              <a:t>спецсимволы.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Правило: НИКОГДА не конкатенируйте параметры в SQL. ВСЕГДА используйте </a:t>
            </a:r>
            <a:r>
              <a:rPr lang="ru-RU" sz="1583" dirty="0" err="1">
                <a:latin typeface="Corbel" panose="020B0503020204020204" pitchFamily="34" charset="0"/>
              </a:rPr>
              <a:t>PreparedStatement</a:t>
            </a:r>
            <a:r>
              <a:rPr lang="ru-RU" sz="1583" dirty="0">
                <a:latin typeface="Corbel" panose="020B0503020204020204" pitchFamily="34" charset="0"/>
              </a:rPr>
              <a:t> с </a:t>
            </a:r>
            <a:r>
              <a:rPr lang="ru-RU" sz="1583" dirty="0" err="1">
                <a:latin typeface="Corbel" panose="020B0503020204020204" pitchFamily="34" charset="0"/>
              </a:rPr>
              <a:t>плейсхолдерами</a:t>
            </a:r>
            <a:r>
              <a:rPr lang="ru-RU" sz="1583" dirty="0">
                <a:latin typeface="Corbel" panose="020B0503020204020204" pitchFamily="34" charset="0"/>
              </a:rPr>
              <a:t>."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5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683E9-30D2-31DC-8062-034CFE0F611B}"/>
              </a:ext>
            </a:extLst>
          </p:cNvPr>
          <p:cNvSpPr txBox="1"/>
          <p:nvPr/>
        </p:nvSpPr>
        <p:spPr>
          <a:xfrm>
            <a:off x="3968750" y="471028"/>
            <a:ext cx="42545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F1115"/>
                </a:solidFill>
                <a:latin typeface="Bahnschrift SemiBold" panose="020B0502040204020203" pitchFamily="34" charset="0"/>
              </a:rPr>
              <a:t>CONNECTION POOLING</a:t>
            </a:r>
            <a:endParaRPr lang="ru-RU" sz="3000" dirty="0"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09755-268F-5304-1A74-19D0F668F2ED}"/>
              </a:ext>
            </a:extLst>
          </p:cNvPr>
          <p:cNvSpPr txBox="1"/>
          <p:nvPr/>
        </p:nvSpPr>
        <p:spPr>
          <a:xfrm>
            <a:off x="1748517" y="1224586"/>
            <a:ext cx="8694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Следующая проблема — производительность.</a:t>
            </a:r>
          </a:p>
          <a:p>
            <a:r>
              <a:rPr lang="ru-RU" sz="1583" dirty="0">
                <a:latin typeface="Corbel" panose="020B0503020204020204" pitchFamily="34" charset="0"/>
              </a:rPr>
              <a:t>Создание соединения к базе данных — это </a:t>
            </a:r>
            <a:r>
              <a:rPr lang="ru-RU" sz="1583" dirty="0" smtClean="0">
                <a:latin typeface="Corbel" panose="020B0503020204020204" pitchFamily="34" charset="0"/>
              </a:rPr>
              <a:t>достаточно медленно.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Потому что нужно установить TCP соединение, авторизоваться в БД, инициализировать сессию. Решение — Connection Pool.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8A611-9BC3-E08D-EA13-7BB87B76E2E9}"/>
              </a:ext>
            </a:extLst>
          </p:cNvPr>
          <p:cNvSpPr txBox="1"/>
          <p:nvPr/>
        </p:nvSpPr>
        <p:spPr>
          <a:xfrm>
            <a:off x="2737304" y="2456997"/>
            <a:ext cx="129267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Без </a:t>
            </a:r>
            <a:r>
              <a:rPr lang="en-US" sz="1583" b="1" dirty="0">
                <a:latin typeface="Corbel" panose="020B0503020204020204" pitchFamily="34" charset="0"/>
              </a:rPr>
              <a:t>pooling: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59E43-283B-FE36-4116-1DF0F259653A}"/>
              </a:ext>
            </a:extLst>
          </p:cNvPr>
          <p:cNvSpPr txBox="1"/>
          <p:nvPr/>
        </p:nvSpPr>
        <p:spPr>
          <a:xfrm>
            <a:off x="857250" y="2895076"/>
            <a:ext cx="5052787" cy="203232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100+ секунд!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DFF2E-925F-48F5-EC0C-3B253939E316}"/>
              </a:ext>
            </a:extLst>
          </p:cNvPr>
          <p:cNvSpPr txBox="1"/>
          <p:nvPr/>
        </p:nvSpPr>
        <p:spPr>
          <a:xfrm>
            <a:off x="7406821" y="2450500"/>
            <a:ext cx="28030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</a:t>
            </a:r>
            <a:r>
              <a:rPr lang="en-US" sz="1583" b="1" dirty="0">
                <a:latin typeface="Corbel" panose="020B0503020204020204" pitchFamily="34" charset="0"/>
              </a:rPr>
              <a:t>Connection Pool (</a:t>
            </a:r>
            <a:r>
              <a:rPr lang="en-US" sz="1583" b="1" dirty="0" err="1">
                <a:latin typeface="Corbel" panose="020B0503020204020204" pitchFamily="34" charset="0"/>
              </a:rPr>
              <a:t>HikariCP</a:t>
            </a:r>
            <a:r>
              <a:rPr lang="en-US" sz="1583" b="1" dirty="0">
                <a:latin typeface="Corbel" panose="020B0503020204020204" pitchFamily="34" charset="0"/>
              </a:rPr>
              <a:t>):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D5785-E822-DC8A-EE0C-AE02039C20E2}"/>
              </a:ext>
            </a:extLst>
          </p:cNvPr>
          <p:cNvSpPr txBox="1"/>
          <p:nvPr/>
        </p:nvSpPr>
        <p:spPr>
          <a:xfrm>
            <a:off x="6281963" y="2895076"/>
            <a:ext cx="5052787" cy="27561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Инициализация: создать 10 готовых соединений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200ms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один раз)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1-2 секунды!</a:t>
            </a:r>
          </a:p>
        </p:txBody>
      </p:sp>
    </p:spTree>
    <p:extLst>
      <p:ext uri="{BB962C8B-B14F-4D97-AF65-F5344CB8AC3E}">
        <p14:creationId xmlns:p14="http://schemas.microsoft.com/office/powerpoint/2010/main" val="18019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2FD95E-2EF4-AFB5-E918-382258E472C9}"/>
              </a:ext>
            </a:extLst>
          </p:cNvPr>
          <p:cNvSpPr txBox="1"/>
          <p:nvPr/>
        </p:nvSpPr>
        <p:spPr>
          <a:xfrm>
            <a:off x="725714" y="705483"/>
            <a:ext cx="27803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DAO PATTERN</a:t>
            </a:r>
            <a:endParaRPr lang="ru-RU" sz="3000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FDCA9-A711-E443-AFCF-B9F3632D7C7A}"/>
              </a:ext>
            </a:extLst>
          </p:cNvPr>
          <p:cNvSpPr txBox="1"/>
          <p:nvPr/>
        </p:nvSpPr>
        <p:spPr>
          <a:xfrm>
            <a:off x="725713" y="1683602"/>
            <a:ext cx="46124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smtClean="0">
                <a:latin typeface="Corbel" panose="020B0503020204020204" pitchFamily="34" charset="0"/>
              </a:rPr>
              <a:t>Допустим</a:t>
            </a:r>
            <a:r>
              <a:rPr lang="ru-RU" sz="1500" dirty="0">
                <a:latin typeface="Corbel" panose="020B0503020204020204" pitchFamily="34" charset="0"/>
              </a:rPr>
              <a:t>, у вас есть </a:t>
            </a:r>
            <a:r>
              <a:rPr lang="ru-RU" sz="1500" dirty="0" err="1" smtClean="0">
                <a:latin typeface="Corbel" panose="020B0503020204020204" pitchFamily="34" charset="0"/>
              </a:rPr>
              <a:t>OrderService</a:t>
            </a:r>
            <a:r>
              <a:rPr lang="ru-RU" sz="1500" dirty="0" smtClean="0">
                <a:latin typeface="Corbel" panose="020B0503020204020204" pitchFamily="34" charset="0"/>
              </a:rPr>
              <a:t>, где вы производите различные сложные операции с заказами, внутри которых выполняете </a:t>
            </a:r>
            <a:r>
              <a:rPr lang="en-US" sz="1500" dirty="0" smtClean="0">
                <a:latin typeface="Corbel" panose="020B0503020204020204" pitchFamily="34" charset="0"/>
              </a:rPr>
              <a:t>SQL</a:t>
            </a:r>
            <a:r>
              <a:rPr lang="ru-RU" sz="1500" dirty="0" smtClean="0">
                <a:latin typeface="Corbel" panose="020B0503020204020204" pitchFamily="34" charset="0"/>
              </a:rPr>
              <a:t> запросы: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25DE8-917C-CBBF-06CA-2F85E9610D35}"/>
              </a:ext>
            </a:extLst>
          </p:cNvPr>
          <p:cNvSpPr txBox="1"/>
          <p:nvPr/>
        </p:nvSpPr>
        <p:spPr>
          <a:xfrm>
            <a:off x="6059714" y="982482"/>
            <a:ext cx="5406572" cy="516886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"INSERT INTO orders ..."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rgbClr val="DDDDDD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20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"SELECT * FROM orders WHERE id = ?"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Еще 15 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B344D-94EA-6A7B-0454-F2D921DBAA34}"/>
              </a:ext>
            </a:extLst>
          </p:cNvPr>
          <p:cNvSpPr txBox="1"/>
          <p:nvPr/>
        </p:nvSpPr>
        <p:spPr>
          <a:xfrm>
            <a:off x="725714" y="2597417"/>
            <a:ext cx="447675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dirty="0">
              <a:latin typeface="Corbel" panose="020B0503020204020204" pitchFamily="34" charset="0"/>
            </a:endParaRPr>
          </a:p>
          <a:p>
            <a:r>
              <a:rPr lang="ru-RU" sz="1500" dirty="0" smtClean="0">
                <a:latin typeface="Corbel" panose="020B0503020204020204" pitchFamily="34" charset="0"/>
              </a:rPr>
              <a:t>При добавлении все новых и новым методов для работы с заказами возникают определенные </a:t>
            </a:r>
            <a:r>
              <a:rPr lang="ru-RU" sz="1500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проблемы</a:t>
            </a:r>
            <a:r>
              <a:rPr lang="ru-RU" sz="1500" dirty="0">
                <a:solidFill>
                  <a:srgbClr val="FF0000"/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dirty="0">
                <a:latin typeface="Corbel" panose="020B0503020204020204" pitchFamily="34" charset="0"/>
              </a:rPr>
              <a:t>SQL </a:t>
            </a:r>
            <a:r>
              <a:rPr lang="ru-RU" sz="1500" dirty="0">
                <a:latin typeface="Corbel" panose="020B0503020204020204" pitchFamily="34" charset="0"/>
              </a:rPr>
              <a:t>код повторяется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Если нужно поменять БД, меняете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Нельзя тестировать бизнес-логику без БД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Грязная </a:t>
            </a:r>
            <a:r>
              <a:rPr lang="ru-RU" sz="1500" dirty="0" smtClean="0">
                <a:latin typeface="Corbel" panose="020B0503020204020204" pitchFamily="34" charset="0"/>
              </a:rPr>
              <a:t>архитектура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95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9DEBE-CFBE-FBEF-DEAF-88F79396F2E2}"/>
              </a:ext>
            </a:extLst>
          </p:cNvPr>
          <p:cNvSpPr txBox="1"/>
          <p:nvPr/>
        </p:nvSpPr>
        <p:spPr>
          <a:xfrm>
            <a:off x="830036" y="1155399"/>
            <a:ext cx="3995964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Правильный способ — DAO </a:t>
            </a:r>
            <a:r>
              <a:rPr lang="ru-RU" sz="1583" b="1" dirty="0" err="1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Pattern</a:t>
            </a:r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Вы создаете отдельный класс </a:t>
            </a:r>
            <a:r>
              <a:rPr lang="ru-RU" sz="1583" dirty="0" err="1">
                <a:latin typeface="Corbel" panose="020B0503020204020204" pitchFamily="34" charset="0"/>
              </a:rPr>
              <a:t>OrderDAO</a:t>
            </a:r>
            <a:r>
              <a:rPr lang="ru-RU" sz="1583" dirty="0">
                <a:latin typeface="Corbel" panose="020B0503020204020204" pitchFamily="34" charset="0"/>
              </a:rPr>
              <a:t>, который содержит ВСЕ SQL операции с заказами: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0D518-0EFE-B7C5-B0D3-5E4D37D8A97D}"/>
              </a:ext>
            </a:extLst>
          </p:cNvPr>
          <p:cNvSpPr txBox="1"/>
          <p:nvPr/>
        </p:nvSpPr>
        <p:spPr>
          <a:xfrm>
            <a:off x="5601608" y="612626"/>
            <a:ext cx="6096000" cy="58926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private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(id);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save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26DCF-91E0-BFC1-8926-B015DC23AE59}"/>
              </a:ext>
            </a:extLst>
          </p:cNvPr>
          <p:cNvSpPr txBox="1"/>
          <p:nvPr/>
        </p:nvSpPr>
        <p:spPr>
          <a:xfrm>
            <a:off x="830036" y="2782187"/>
            <a:ext cx="3637643" cy="228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Преимущества: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SQL код в одном месте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Бизнес-логика отделена от БД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менять БД (</a:t>
            </a:r>
            <a:r>
              <a:rPr lang="ru-RU" sz="1583" dirty="0" smtClean="0">
                <a:latin typeface="Corbel" panose="020B0503020204020204" pitchFamily="34" charset="0"/>
              </a:rPr>
              <a:t>переписываете </a:t>
            </a:r>
            <a:r>
              <a:rPr lang="ru-RU" sz="1583" dirty="0">
                <a:latin typeface="Corbel" panose="020B0503020204020204" pitchFamily="34" charset="0"/>
              </a:rPr>
              <a:t>только DAO)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тестировать (можешь подделать DAO в тестах)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Чистая </a:t>
            </a:r>
            <a:r>
              <a:rPr lang="ru-RU" sz="1583" dirty="0" smtClean="0">
                <a:latin typeface="Corbel" panose="020B0503020204020204" pitchFamily="34" charset="0"/>
              </a:rPr>
              <a:t>архитектура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07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A567E-FD56-F0E5-FDF5-57030584E979}"/>
              </a:ext>
            </a:extLst>
          </p:cNvPr>
          <p:cNvSpPr txBox="1"/>
          <p:nvPr/>
        </p:nvSpPr>
        <p:spPr>
          <a:xfrm>
            <a:off x="4674054" y="705549"/>
            <a:ext cx="28438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latin typeface="Bahnschrift SemiBold" panose="020B0502040204020203" pitchFamily="34" charset="0"/>
              </a:rPr>
              <a:t>ТРАНЗАКЦИИ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2FD89-AC40-1E04-8F3E-DD3D22CF61A3}"/>
              </a:ext>
            </a:extLst>
          </p:cNvPr>
          <p:cNvSpPr txBox="1"/>
          <p:nvPr/>
        </p:nvSpPr>
        <p:spPr>
          <a:xfrm>
            <a:off x="2333623" y="1883246"/>
            <a:ext cx="7914823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 реальный сценарий: вы создаете заказ в магазине. Нужно сделать две операции: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Вставить запись в таблицу </a:t>
            </a:r>
            <a:r>
              <a:rPr lang="ru-RU" sz="1583" dirty="0" err="1">
                <a:latin typeface="Corbel" panose="020B0503020204020204" pitchFamily="34" charset="0"/>
              </a:rPr>
              <a:t>orders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Уменьшить количество товара </a:t>
            </a:r>
            <a:r>
              <a:rPr lang="ru-RU" sz="1583" dirty="0" smtClean="0">
                <a:latin typeface="Corbel" panose="020B0503020204020204" pitchFamily="34" charset="0"/>
              </a:rPr>
              <a:t>на </a:t>
            </a:r>
            <a:r>
              <a:rPr lang="ru-RU" sz="1583" dirty="0">
                <a:latin typeface="Corbel" panose="020B0503020204020204" pitchFamily="34" charset="0"/>
              </a:rPr>
              <a:t>5 единиц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A310B-8498-5517-A614-9786ED28DC18}"/>
              </a:ext>
            </a:extLst>
          </p:cNvPr>
          <p:cNvSpPr txBox="1"/>
          <p:nvPr/>
        </p:nvSpPr>
        <p:spPr>
          <a:xfrm>
            <a:off x="2333622" y="3364233"/>
            <a:ext cx="19775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Без транзакций: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9D05E-A954-721D-A91F-B0D94176332D}"/>
              </a:ext>
            </a:extLst>
          </p:cNvPr>
          <p:cNvSpPr txBox="1"/>
          <p:nvPr/>
        </p:nvSpPr>
        <p:spPr>
          <a:xfrm>
            <a:off x="2333623" y="3969724"/>
            <a:ext cx="6447521" cy="6129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INSERT INTO orders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... -- 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успешно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2.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UPDATE products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SET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stock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stock - 5 ...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ошибка БД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09212-8D97-7FDD-A88C-96F1CE2F3E20}"/>
              </a:ext>
            </a:extLst>
          </p:cNvPr>
          <p:cNvSpPr txBox="1"/>
          <p:nvPr/>
        </p:nvSpPr>
        <p:spPr>
          <a:xfrm>
            <a:off x="2299606" y="4866202"/>
            <a:ext cx="788307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 результате, заказ </a:t>
            </a:r>
            <a:r>
              <a:rPr lang="ru-RU" sz="1583" dirty="0">
                <a:latin typeface="Corbel" panose="020B0503020204020204" pitchFamily="34" charset="0"/>
              </a:rPr>
              <a:t>создан, но товар не </a:t>
            </a:r>
            <a:r>
              <a:rPr lang="ru-RU" sz="1583" dirty="0" smtClean="0">
                <a:latin typeface="Corbel" panose="020B0503020204020204" pitchFamily="34" charset="0"/>
              </a:rPr>
              <a:t>уменьшился, образовалась несогласованность данных. </a:t>
            </a:r>
            <a:r>
              <a:rPr lang="ru-RU" sz="1583" dirty="0">
                <a:latin typeface="Corbel" panose="020B0503020204020204" pitchFamily="34" charset="0"/>
              </a:rPr>
              <a:t>Это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проблема</a:t>
            </a:r>
            <a:r>
              <a:rPr lang="ru-RU" sz="1583" dirty="0" smtClean="0">
                <a:latin typeface="Corbel" panose="020B0503020204020204" pitchFamily="34" charset="0"/>
              </a:rPr>
              <a:t>.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1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ACF4F-D9A7-D901-9BED-545F901FC00B}"/>
              </a:ext>
            </a:extLst>
          </p:cNvPr>
          <p:cNvSpPr txBox="1"/>
          <p:nvPr/>
        </p:nvSpPr>
        <p:spPr>
          <a:xfrm>
            <a:off x="562429" y="1251588"/>
            <a:ext cx="6096000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conn.setAutoCommit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Отключаем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автокоммит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Операция 1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pstmt1.execute(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Операция 2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pstmt2.execute(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"UPDATE products SET stock = stock - 5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Всё успешно? Сохраняем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Ошибка? Отменяем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conn.rollback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4CC2C-DE67-D979-E6D9-A930CC905847}"/>
              </a:ext>
            </a:extLst>
          </p:cNvPr>
          <p:cNvSpPr txBox="1"/>
          <p:nvPr/>
        </p:nvSpPr>
        <p:spPr>
          <a:xfrm>
            <a:off x="1129394" y="759876"/>
            <a:ext cx="196864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транзакциями: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15408-351E-4D9C-6649-600B358C0026}"/>
              </a:ext>
            </a:extLst>
          </p:cNvPr>
          <p:cNvSpPr txBox="1"/>
          <p:nvPr/>
        </p:nvSpPr>
        <p:spPr>
          <a:xfrm>
            <a:off x="7107464" y="995111"/>
            <a:ext cx="4354286" cy="472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Транзакция гарантирует ACID свойства: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A — </a:t>
            </a:r>
            <a:r>
              <a:rPr lang="ru-RU" sz="1583" b="1" dirty="0" err="1">
                <a:latin typeface="Corbel" panose="020B0503020204020204" pitchFamily="34" charset="0"/>
              </a:rPr>
              <a:t>Atomicity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(Атомарность): Либо обе операции успешны, либо ни одна. Не может быть </a:t>
            </a:r>
            <a:r>
              <a:rPr lang="ru-RU" sz="1583" dirty="0" err="1">
                <a:latin typeface="Corbel" panose="020B0503020204020204" pitchFamily="34" charset="0"/>
              </a:rPr>
              <a:t>полуформленного</a:t>
            </a:r>
            <a:r>
              <a:rPr lang="ru-RU" sz="1583" dirty="0">
                <a:latin typeface="Corbel" panose="020B0503020204020204" pitchFamily="34" charset="0"/>
              </a:rPr>
              <a:t> заказа.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C — </a:t>
            </a:r>
            <a:r>
              <a:rPr lang="ru-RU" sz="1583" b="1" dirty="0" err="1">
                <a:latin typeface="Corbel" panose="020B0503020204020204" pitchFamily="34" charset="0"/>
              </a:rPr>
              <a:t>Consistency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(Согласованность): Данные остаются в корректном состоянии. Если товара было 100, и мы уменьшили на 5, то стало 95. Не </a:t>
            </a:r>
            <a:r>
              <a:rPr lang="ru-RU" sz="1583" dirty="0" smtClean="0">
                <a:latin typeface="Corbel" panose="020B0503020204020204" pitchFamily="34" charset="0"/>
              </a:rPr>
              <a:t>может остаться 100.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I — </a:t>
            </a:r>
            <a:r>
              <a:rPr lang="ru-RU" sz="1583" b="1" dirty="0" err="1">
                <a:latin typeface="Corbel" panose="020B0503020204020204" pitchFamily="34" charset="0"/>
              </a:rPr>
              <a:t>Isolation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(Изоляция): Если два клиента одновременно покупают последний товар в магазине, один из них получит </a:t>
            </a:r>
            <a:r>
              <a:rPr lang="ru-RU" sz="1583" dirty="0" smtClean="0">
                <a:latin typeface="Corbel" panose="020B0503020204020204" pitchFamily="34" charset="0"/>
              </a:rPr>
              <a:t>ошибку.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  <a:p>
            <a:r>
              <a:rPr lang="ru-RU" sz="1583" b="1" dirty="0" smtClean="0">
                <a:latin typeface="Corbel" panose="020B0503020204020204" pitchFamily="34" charset="0"/>
              </a:rPr>
              <a:t>D </a:t>
            </a:r>
            <a:r>
              <a:rPr lang="ru-RU" sz="1583" b="1" dirty="0">
                <a:latin typeface="Corbel" panose="020B0503020204020204" pitchFamily="34" charset="0"/>
              </a:rPr>
              <a:t>— </a:t>
            </a:r>
            <a:r>
              <a:rPr lang="ru-RU" sz="1583" b="1" dirty="0" err="1">
                <a:latin typeface="Corbel" panose="020B0503020204020204" pitchFamily="34" charset="0"/>
              </a:rPr>
              <a:t>Durability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(Надежность): Когда вы выполнили </a:t>
            </a:r>
            <a:r>
              <a:rPr lang="ru-RU" sz="1583" dirty="0" err="1">
                <a:latin typeface="Corbel" panose="020B0503020204020204" pitchFamily="34" charset="0"/>
              </a:rPr>
              <a:t>commit</a:t>
            </a:r>
            <a:r>
              <a:rPr lang="ru-RU" sz="1583" dirty="0">
                <a:latin typeface="Corbel" panose="020B0503020204020204" pitchFamily="34" charset="0"/>
              </a:rPr>
              <a:t>(), данные на диске. Если сервер упал, заказ остался в базе. Не потеряется.</a:t>
            </a:r>
          </a:p>
        </p:txBody>
      </p:sp>
    </p:spTree>
    <p:extLst>
      <p:ext uri="{BB962C8B-B14F-4D97-AF65-F5344CB8AC3E}">
        <p14:creationId xmlns:p14="http://schemas.microsoft.com/office/powerpoint/2010/main" val="144347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55515-48B8-BF01-FE94-316C0B500DAD}"/>
              </a:ext>
            </a:extLst>
          </p:cNvPr>
          <p:cNvSpPr txBox="1"/>
          <p:nvPr/>
        </p:nvSpPr>
        <p:spPr>
          <a:xfrm>
            <a:off x="4454071" y="365740"/>
            <a:ext cx="32838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BEST PRACTICES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FDAEC-F309-0CEB-19AF-279E815E5BDB}"/>
              </a:ext>
            </a:extLst>
          </p:cNvPr>
          <p:cNvSpPr txBox="1"/>
          <p:nvPr/>
        </p:nvSpPr>
        <p:spPr>
          <a:xfrm>
            <a:off x="1490886" y="1140736"/>
            <a:ext cx="46051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 smtClean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1 — Всегда </a:t>
            </a:r>
            <a:r>
              <a:rPr lang="en-US" sz="1500" b="1" dirty="0" err="1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PreparedStatement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8E34-CB4F-0FD7-7281-2C60905F5541}"/>
              </a:ext>
            </a:extLst>
          </p:cNvPr>
          <p:cNvSpPr txBox="1"/>
          <p:nvPr/>
        </p:nvSpPr>
        <p:spPr>
          <a:xfrm>
            <a:off x="1165855" y="1476652"/>
            <a:ext cx="4558806" cy="868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Мы уже обсудили SQL </a:t>
            </a:r>
            <a:r>
              <a:rPr lang="ru-RU" sz="1500" dirty="0" err="1">
                <a:latin typeface="Corbel" panose="020B0503020204020204" pitchFamily="34" charset="0"/>
              </a:rPr>
              <a:t>Injection</a:t>
            </a:r>
            <a:r>
              <a:rPr lang="ru-RU" sz="1500" dirty="0">
                <a:latin typeface="Corbel" panose="020B0503020204020204" pitchFamily="34" charset="0"/>
              </a:rPr>
              <a:t>. </a:t>
            </a:r>
            <a:r>
              <a:rPr lang="ru-RU" sz="1500" dirty="0" smtClean="0">
                <a:latin typeface="Corbel" panose="020B0503020204020204" pitchFamily="34" charset="0"/>
              </a:rPr>
              <a:t>Никогда не </a:t>
            </a:r>
            <a:r>
              <a:rPr lang="ru-RU" sz="1500" dirty="0">
                <a:latin typeface="Corbel" panose="020B0503020204020204" pitchFamily="34" charset="0"/>
              </a:rPr>
              <a:t>конкатенируйте параметры в SQL. Всегда используйте '?' и </a:t>
            </a:r>
            <a:r>
              <a:rPr lang="ru-RU" sz="1500" dirty="0" err="1">
                <a:latin typeface="Corbel" panose="020B0503020204020204" pitchFamily="34" charset="0"/>
              </a:rPr>
              <a:t>setXxx</a:t>
            </a:r>
            <a:r>
              <a:rPr lang="ru-RU" sz="1500" dirty="0">
                <a:latin typeface="Corbel" panose="020B0503020204020204" pitchFamily="34" charset="0"/>
              </a:rPr>
              <a:t>() методы.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04084-32E1-C3B9-9D70-C0379CEEE988}"/>
              </a:ext>
            </a:extLst>
          </p:cNvPr>
          <p:cNvSpPr txBox="1"/>
          <p:nvPr/>
        </p:nvSpPr>
        <p:spPr>
          <a:xfrm>
            <a:off x="1490886" y="2529548"/>
            <a:ext cx="3570594" cy="35754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2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Try-with-resources.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780AB-5784-6150-C444-B7BE137B259E}"/>
              </a:ext>
            </a:extLst>
          </p:cNvPr>
          <p:cNvSpPr txBox="1"/>
          <p:nvPr/>
        </p:nvSpPr>
        <p:spPr>
          <a:xfrm>
            <a:off x="920794" y="3006772"/>
            <a:ext cx="4939349" cy="188987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код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Connection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 </a:t>
            </a:r>
            <a:r>
              <a:rPr lang="en-US" sz="1500" dirty="0" err="1">
                <a:solidFill>
                  <a:srgbClr val="F3E9C7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закроются автоматически!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83DC3-F8C5-DFB6-621E-4A67A91A4430}"/>
              </a:ext>
            </a:extLst>
          </p:cNvPr>
          <p:cNvSpPr txBox="1"/>
          <p:nvPr/>
        </p:nvSpPr>
        <p:spPr>
          <a:xfrm>
            <a:off x="970686" y="5121358"/>
            <a:ext cx="5402838" cy="6129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Это гарантирует что ресурсы закроются, даже если произойдет </a:t>
            </a:r>
            <a:r>
              <a:rPr lang="ru-RU" sz="1500" dirty="0" smtClean="0">
                <a:latin typeface="Corbel" panose="020B0503020204020204" pitchFamily="34" charset="0"/>
              </a:rPr>
              <a:t>исключение.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C2AD8-8D2A-6146-6AEC-9727F739102D}"/>
              </a:ext>
            </a:extLst>
          </p:cNvPr>
          <p:cNvSpPr txBox="1"/>
          <p:nvPr/>
        </p:nvSpPr>
        <p:spPr>
          <a:xfrm>
            <a:off x="7206011" y="1120986"/>
            <a:ext cx="39881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3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Connection Pool.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2A81-F0FF-7543-37A5-255422808164}"/>
              </a:ext>
            </a:extLst>
          </p:cNvPr>
          <p:cNvSpPr txBox="1"/>
          <p:nvPr/>
        </p:nvSpPr>
        <p:spPr>
          <a:xfrm>
            <a:off x="6448026" y="1476652"/>
            <a:ext cx="47461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Не используйте </a:t>
            </a:r>
            <a:r>
              <a:rPr lang="ru-RU" sz="1500" dirty="0" err="1">
                <a:latin typeface="Corbel" panose="020B0503020204020204" pitchFamily="34" charset="0"/>
              </a:rPr>
              <a:t>DriverManager.getConnection</a:t>
            </a:r>
            <a:r>
              <a:rPr lang="ru-RU" sz="1500" dirty="0">
                <a:latin typeface="Corbel" panose="020B0503020204020204" pitchFamily="34" charset="0"/>
              </a:rPr>
              <a:t>() каждый раз. Используйте </a:t>
            </a:r>
            <a:r>
              <a:rPr lang="ru-RU" sz="1500" dirty="0" err="1">
                <a:latin typeface="Corbel" panose="020B0503020204020204" pitchFamily="34" charset="0"/>
              </a:rPr>
              <a:t>pool</a:t>
            </a:r>
            <a:r>
              <a:rPr lang="ru-RU" sz="1500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7729B9-BB65-83A0-71D4-E1AED7E5DDD3}"/>
              </a:ext>
            </a:extLst>
          </p:cNvPr>
          <p:cNvSpPr txBox="1"/>
          <p:nvPr/>
        </p:nvSpPr>
        <p:spPr>
          <a:xfrm>
            <a:off x="6448026" y="2095651"/>
            <a:ext cx="4637315" cy="112371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из пула!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0E1BD-E361-EE54-3703-F518444694FF}"/>
              </a:ext>
            </a:extLst>
          </p:cNvPr>
          <p:cNvSpPr txBox="1"/>
          <p:nvPr/>
        </p:nvSpPr>
        <p:spPr>
          <a:xfrm>
            <a:off x="7206011" y="3448193"/>
            <a:ext cx="31245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4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DAO Pattern.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52142-CBC5-8D98-654B-0387F5A79A90}"/>
              </a:ext>
            </a:extLst>
          </p:cNvPr>
          <p:cNvSpPr txBox="1"/>
          <p:nvPr/>
        </p:nvSpPr>
        <p:spPr>
          <a:xfrm>
            <a:off x="6448026" y="3771358"/>
            <a:ext cx="4559878" cy="612934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500" dirty="0"/>
              <a:t>SQL код не должен быть в сервисах. Должен быть в отдельных DAO классах.</a:t>
            </a:r>
          </a:p>
        </p:txBody>
      </p:sp>
    </p:spTree>
    <p:extLst>
      <p:ext uri="{BB962C8B-B14F-4D97-AF65-F5344CB8AC3E}">
        <p14:creationId xmlns:p14="http://schemas.microsoft.com/office/powerpoint/2010/main" val="275091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696D52-1722-6FCC-9D14-E1213FAB1AB7}"/>
              </a:ext>
            </a:extLst>
          </p:cNvPr>
          <p:cNvSpPr txBox="1"/>
          <p:nvPr/>
        </p:nvSpPr>
        <p:spPr>
          <a:xfrm>
            <a:off x="2181679" y="768845"/>
            <a:ext cx="30978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5 — Логирование.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B6CD9-313C-E414-8D5E-863F97A6A122}"/>
              </a:ext>
            </a:extLst>
          </p:cNvPr>
          <p:cNvSpPr txBox="1"/>
          <p:nvPr/>
        </p:nvSpPr>
        <p:spPr>
          <a:xfrm>
            <a:off x="1163409" y="1177147"/>
            <a:ext cx="4526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Вы должны видеть какие SQL запросы выполняются. Это помогает найти проблемы: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433CA-D243-03AE-7FD7-343AB8D74DEC}"/>
              </a:ext>
            </a:extLst>
          </p:cNvPr>
          <p:cNvSpPr txBox="1"/>
          <p:nvPr/>
        </p:nvSpPr>
        <p:spPr>
          <a:xfrm>
            <a:off x="1190625" y="1842383"/>
            <a:ext cx="4386037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logger.info(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"Executing query: "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61460-7FE5-3DF7-EDAF-487FBEAE7757}"/>
              </a:ext>
            </a:extLst>
          </p:cNvPr>
          <p:cNvSpPr txBox="1"/>
          <p:nvPr/>
        </p:nvSpPr>
        <p:spPr>
          <a:xfrm>
            <a:off x="1122589" y="2519647"/>
            <a:ext cx="50310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6 — Правильная обработка исключений.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AEEA0-6998-252B-8443-787429CD6829}"/>
              </a:ext>
            </a:extLst>
          </p:cNvPr>
          <p:cNvSpPr txBox="1"/>
          <p:nvPr/>
        </p:nvSpPr>
        <p:spPr>
          <a:xfrm>
            <a:off x="811891" y="3062030"/>
            <a:ext cx="5229680" cy="316682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НЕПРАВИЛЬНО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молчим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logger.error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"Database error while creating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 new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"Cannot create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F4938-EBFD-E5F0-5005-102BC31B8CA4}"/>
              </a:ext>
            </a:extLst>
          </p:cNvPr>
          <p:cNvSpPr txBox="1"/>
          <p:nvPr/>
        </p:nvSpPr>
        <p:spPr>
          <a:xfrm>
            <a:off x="7315891" y="779051"/>
            <a:ext cx="33246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7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Batch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операции.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812D-882F-8FF6-765B-D2A5BF04F628}"/>
              </a:ext>
            </a:extLst>
          </p:cNvPr>
          <p:cNvSpPr txBox="1"/>
          <p:nvPr/>
        </p:nvSpPr>
        <p:spPr>
          <a:xfrm>
            <a:off x="6644821" y="1072941"/>
            <a:ext cx="4445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Если вы вставляете 1000 заказов, не делайте 1000 отдельных </a:t>
            </a:r>
            <a:r>
              <a:rPr lang="ru-RU" sz="1500" dirty="0" err="1">
                <a:latin typeface="Corbel" panose="020B0503020204020204" pitchFamily="34" charset="0"/>
              </a:rPr>
              <a:t>executeUpdate</a:t>
            </a:r>
            <a:r>
              <a:rPr lang="ru-RU" sz="1500" dirty="0">
                <a:latin typeface="Corbel" panose="020B0503020204020204" pitchFamily="34" charset="0"/>
              </a:rPr>
              <a:t>(). Используйте </a:t>
            </a:r>
            <a:r>
              <a:rPr lang="ru-RU" sz="1500" dirty="0" err="1">
                <a:latin typeface="Corbel" panose="020B0503020204020204" pitchFamily="34" charset="0"/>
              </a:rPr>
              <a:t>addBatch</a:t>
            </a:r>
            <a:r>
              <a:rPr lang="ru-RU" sz="1500" dirty="0">
                <a:latin typeface="Corbel" panose="020B0503020204020204" pitchFamily="34" charset="0"/>
              </a:rPr>
              <a:t>():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7F9E7-EF28-4A99-FF7A-E868C5A08E64}"/>
              </a:ext>
            </a:extLst>
          </p:cNvPr>
          <p:cNvSpPr txBox="1"/>
          <p:nvPr/>
        </p:nvSpPr>
        <p:spPr>
          <a:xfrm>
            <a:off x="6644821" y="1864804"/>
            <a:ext cx="4666818" cy="137910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 err="1">
                <a:solidFill>
                  <a:srgbClr val="D47DFF"/>
                </a:solidFill>
                <a:latin typeface="Consolas" panose="020B0609020204030204" pitchFamily="49" charset="0"/>
              </a:rPr>
              <a:t>for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order.getId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pstmt.addBatch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В памяти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Один раз в БД!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00036A-1597-6A5E-F4A2-5D1764885D2C}"/>
              </a:ext>
            </a:extLst>
          </p:cNvPr>
          <p:cNvSpPr txBox="1"/>
          <p:nvPr/>
        </p:nvSpPr>
        <p:spPr>
          <a:xfrm>
            <a:off x="7448121" y="3690678"/>
            <a:ext cx="28293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8 — Индексы.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532C6-2E0C-ADC5-6F15-15A33AA4B878}"/>
              </a:ext>
            </a:extLst>
          </p:cNvPr>
          <p:cNvSpPr txBox="1"/>
          <p:nvPr/>
        </p:nvSpPr>
        <p:spPr>
          <a:xfrm>
            <a:off x="6644821" y="4125609"/>
            <a:ext cx="4666818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CREATE INDEX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idx_status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ON </a:t>
            </a:r>
            <a:r>
              <a:rPr lang="ru-RU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status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4452B-F927-9431-A01A-944163377232}"/>
              </a:ext>
            </a:extLst>
          </p:cNvPr>
          <p:cNvSpPr txBox="1"/>
          <p:nvPr/>
        </p:nvSpPr>
        <p:spPr>
          <a:xfrm>
            <a:off x="6567715" y="4607816"/>
            <a:ext cx="459014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Без индекса запрос 'SELECT * FROM </a:t>
            </a:r>
            <a:r>
              <a:rPr lang="ru-RU" sz="1500" dirty="0" err="1">
                <a:latin typeface="Corbel" panose="020B0503020204020204" pitchFamily="34" charset="0"/>
              </a:rPr>
              <a:t>orders</a:t>
            </a:r>
            <a:r>
              <a:rPr lang="ru-RU" sz="1500" dirty="0">
                <a:latin typeface="Corbel" panose="020B0503020204020204" pitchFamily="34" charset="0"/>
              </a:rPr>
              <a:t> WHERE </a:t>
            </a:r>
            <a:r>
              <a:rPr lang="ru-RU" sz="1500" dirty="0" err="1">
                <a:latin typeface="Corbel" panose="020B0503020204020204" pitchFamily="34" charset="0"/>
              </a:rPr>
              <a:t>status</a:t>
            </a:r>
            <a:r>
              <a:rPr lang="ru-RU" sz="1500" dirty="0">
                <a:latin typeface="Corbel" panose="020B0503020204020204" pitchFamily="34" charset="0"/>
              </a:rPr>
              <a:t> = PENDING' сканирует ВСЕ строки в таблице. С индексом находит нужные строки сразу</a:t>
            </a:r>
            <a:r>
              <a:rPr lang="ru-RU" sz="1500" dirty="0" smtClean="0">
                <a:latin typeface="Corbel" panose="020B0503020204020204" pitchFamily="34" charset="0"/>
              </a:rPr>
              <a:t>.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76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26024CD-DDE3-29C9-D065-0BA3A58FFF97}"/>
              </a:ext>
            </a:extLst>
          </p:cNvPr>
          <p:cNvSpPr/>
          <p:nvPr/>
        </p:nvSpPr>
        <p:spPr>
          <a:xfrm>
            <a:off x="-1" y="-1"/>
            <a:ext cx="6059713" cy="6858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6A22A-2CB2-5282-58BA-58B4673BBD8E}"/>
              </a:ext>
            </a:extLst>
          </p:cNvPr>
          <p:cNvSpPr txBox="1"/>
          <p:nvPr/>
        </p:nvSpPr>
        <p:spPr>
          <a:xfrm>
            <a:off x="5193392" y="639863"/>
            <a:ext cx="1732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133E9-C95F-B870-AB8C-F7EFECC5B9DF}"/>
              </a:ext>
            </a:extLst>
          </p:cNvPr>
          <p:cNvSpPr txBox="1"/>
          <p:nvPr/>
        </p:nvSpPr>
        <p:spPr>
          <a:xfrm>
            <a:off x="1097643" y="1606391"/>
            <a:ext cx="394079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5 таблиц: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customers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клиенты магазина.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email, phone.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products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товары.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price, </a:t>
            </a:r>
            <a:r>
              <a:rPr lang="en-US" sz="1500" dirty="0" err="1">
                <a:latin typeface="Corbel" panose="020B0503020204020204" pitchFamily="34" charset="0"/>
              </a:rPr>
              <a:t>stock_quantity</a:t>
            </a:r>
            <a:r>
              <a:rPr lang="en-US" sz="1500" dirty="0">
                <a:latin typeface="Corbel" panose="020B0503020204020204" pitchFamily="34" charset="0"/>
              </a:rPr>
              <a:t>. </a:t>
            </a:r>
            <a:r>
              <a:rPr lang="ru-RU" sz="1500" dirty="0">
                <a:latin typeface="Corbel" panose="020B0503020204020204" pitchFamily="34" charset="0"/>
              </a:rPr>
              <a:t>Реальные товары: </a:t>
            </a:r>
            <a:r>
              <a:rPr lang="en-US" sz="1500" dirty="0">
                <a:latin typeface="Corbel" panose="020B0503020204020204" pitchFamily="34" charset="0"/>
              </a:rPr>
              <a:t>ASUS </a:t>
            </a:r>
            <a:r>
              <a:rPr lang="en-US" sz="1500" dirty="0" err="1">
                <a:latin typeface="Corbel" panose="020B0503020204020204" pitchFamily="34" charset="0"/>
              </a:rPr>
              <a:t>VivoBook</a:t>
            </a:r>
            <a:r>
              <a:rPr lang="en-US" sz="1500" dirty="0">
                <a:latin typeface="Corbel" panose="020B0503020204020204" pitchFamily="34" charset="0"/>
              </a:rPr>
              <a:t> </a:t>
            </a:r>
            <a:r>
              <a:rPr lang="ru-RU" sz="1500" dirty="0">
                <a:latin typeface="Corbel" panose="020B0503020204020204" pitchFamily="34" charset="0"/>
              </a:rPr>
              <a:t>ноутбук за 50 тысяч рублей, </a:t>
            </a:r>
            <a:r>
              <a:rPr lang="en-US" sz="1500" dirty="0">
                <a:latin typeface="Corbel" panose="020B0503020204020204" pitchFamily="34" charset="0"/>
              </a:rPr>
              <a:t>LG </a:t>
            </a:r>
            <a:r>
              <a:rPr lang="ru-RU" sz="1500" dirty="0">
                <a:latin typeface="Corbel" panose="020B0503020204020204" pitchFamily="34" charset="0"/>
              </a:rPr>
              <a:t>монитор за 15 тысяч, </a:t>
            </a:r>
            <a:r>
              <a:rPr lang="en-US" sz="1500" dirty="0">
                <a:latin typeface="Corbel" panose="020B0503020204020204" pitchFamily="34" charset="0"/>
              </a:rPr>
              <a:t>Corsair </a:t>
            </a:r>
            <a:r>
              <a:rPr lang="ru-RU" sz="1500" dirty="0">
                <a:latin typeface="Corbel" panose="020B0503020204020204" pitchFamily="34" charset="0"/>
              </a:rPr>
              <a:t>клавиатура, </a:t>
            </a:r>
            <a:r>
              <a:rPr lang="en-US" sz="1500" dirty="0">
                <a:latin typeface="Corbel" panose="020B0503020204020204" pitchFamily="34" charset="0"/>
              </a:rPr>
              <a:t>Logitech </a:t>
            </a:r>
            <a:r>
              <a:rPr lang="ru-RU" sz="1500" dirty="0">
                <a:latin typeface="Corbel" panose="020B0503020204020204" pitchFamily="34" charset="0"/>
              </a:rPr>
              <a:t>мышь и т.д.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orders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заказы.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</a:t>
            </a:r>
            <a:r>
              <a:rPr lang="en-US" sz="1500" dirty="0" err="1">
                <a:latin typeface="Corbel" panose="020B0503020204020204" pitchFamily="34" charset="0"/>
              </a:rPr>
              <a:t>customer_id</a:t>
            </a:r>
            <a:r>
              <a:rPr lang="en-US" sz="1500" dirty="0"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latin typeface="Corbel" panose="020B0503020204020204" pitchFamily="34" charset="0"/>
              </a:rPr>
              <a:t>total_amount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delivery_address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created_at</a:t>
            </a:r>
            <a:r>
              <a:rPr lang="en-US" sz="1500" dirty="0">
                <a:latin typeface="Corbel" panose="020B0503020204020204" pitchFamily="34" charset="0"/>
              </a:rPr>
              <a:t>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order_items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содержимое заказа.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Какие товары в каком заказе, в каких количествах.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order_status_history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аудит лог.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История всех изменений статуса заказа.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FA063-7CE5-E8AB-E5B1-68366BD8B001}"/>
              </a:ext>
            </a:extLst>
          </p:cNvPr>
          <p:cNvSpPr txBox="1"/>
          <p:nvPr/>
        </p:nvSpPr>
        <p:spPr>
          <a:xfrm>
            <a:off x="7475227" y="2337966"/>
            <a:ext cx="351291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4 клиента</a:t>
            </a:r>
            <a:r>
              <a:rPr lang="ru-RU" sz="1500" dirty="0">
                <a:latin typeface="Corbel" panose="020B0503020204020204" pitchFamily="34" charset="0"/>
              </a:rPr>
              <a:t>: Иван, Мария, Николай, Анна.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6 товаров</a:t>
            </a:r>
            <a:r>
              <a:rPr lang="ru-RU" sz="1500" dirty="0">
                <a:latin typeface="Corbel" panose="020B0503020204020204" pitchFamily="34" charset="0"/>
              </a:rPr>
              <a:t>: ASUS ноутбук, LG монитор, Corsair клавиатура, Logitech мышь, подставка для монитора, USB хаб.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5 заказов. </a:t>
            </a:r>
            <a:r>
              <a:rPr lang="ru-RU" sz="1500" dirty="0">
                <a:latin typeface="Corbel" panose="020B0503020204020204" pitchFamily="34" charset="0"/>
              </a:rPr>
              <a:t>Каждый заказ с реальными данными: кто заказал, какие товары, сколько, какой статус (PENDING, CONFIRMED, SHIPPED, DELIVERED).</a:t>
            </a:r>
          </a:p>
        </p:txBody>
      </p:sp>
    </p:spTree>
    <p:extLst>
      <p:ext uri="{BB962C8B-B14F-4D97-AF65-F5344CB8AC3E}">
        <p14:creationId xmlns:p14="http://schemas.microsoft.com/office/powerpoint/2010/main" val="391757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6011BC-2AB6-2173-FA5F-A749A5D714E1}"/>
              </a:ext>
            </a:extLst>
          </p:cNvPr>
          <p:cNvSpPr txBox="1"/>
          <p:nvPr/>
        </p:nvSpPr>
        <p:spPr>
          <a:xfrm>
            <a:off x="4963927" y="634801"/>
            <a:ext cx="21709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Структура проекта: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0C966-2D82-0233-0D76-B45CBFF55E08}"/>
              </a:ext>
            </a:extLst>
          </p:cNvPr>
          <p:cNvSpPr txBox="1"/>
          <p:nvPr/>
        </p:nvSpPr>
        <p:spPr>
          <a:xfrm>
            <a:off x="2987040" y="2157473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DatabaseConfig.java — инициализирует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HikariCP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пул. 10 соединений, готовых к работе.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2987040" y="2898038"/>
            <a:ext cx="6096000" cy="8683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Order.java —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модель заказа. Содержит поля: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id,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customerId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totalAmount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deliveryAddress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и т.д.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B16CA-23A2-B6AE-110E-9B624FF95E1F}"/>
              </a:ext>
            </a:extLst>
          </p:cNvPr>
          <p:cNvSpPr txBox="1"/>
          <p:nvPr/>
        </p:nvSpPr>
        <p:spPr>
          <a:xfrm>
            <a:off x="2987040" y="3887271"/>
            <a:ext cx="6096000" cy="3575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OrderDAO.java — все SQL операции с заказами.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851A4-489C-3C7A-E157-9CE79891A144}"/>
              </a:ext>
            </a:extLst>
          </p:cNvPr>
          <p:cNvSpPr txBox="1"/>
          <p:nvPr/>
        </p:nvSpPr>
        <p:spPr>
          <a:xfrm>
            <a:off x="2987040" y="4369115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latin typeface="Corbel" panose="020B0503020204020204" pitchFamily="34" charset="0"/>
              </a:rPr>
              <a:t>Application.java — entry point. </a:t>
            </a:r>
            <a:r>
              <a:rPr lang="ru-RU" sz="1500" dirty="0">
                <a:latin typeface="Corbel" panose="020B0503020204020204" pitchFamily="34" charset="0"/>
              </a:rPr>
              <a:t>Запускает всё: </a:t>
            </a:r>
            <a:r>
              <a:rPr lang="en-US" sz="1500" dirty="0" err="1">
                <a:latin typeface="Corbel" panose="020B0503020204020204" pitchFamily="34" charset="0"/>
              </a:rPr>
              <a:t>DatabaseConfig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ru-RU" sz="1500" dirty="0">
                <a:latin typeface="Corbel" panose="020B0503020204020204" pitchFamily="34" charset="0"/>
              </a:rPr>
              <a:t>миграции, демонстрирует </a:t>
            </a:r>
            <a:r>
              <a:rPr lang="en-US" sz="1500" dirty="0">
                <a:latin typeface="Corbel" panose="020B0503020204020204" pitchFamily="34" charset="0"/>
              </a:rPr>
              <a:t>CRUD </a:t>
            </a:r>
            <a:r>
              <a:rPr lang="ru-RU" sz="1500" dirty="0">
                <a:latin typeface="Corbel" panose="020B0503020204020204" pitchFamily="34" charset="0"/>
              </a:rPr>
              <a:t>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72936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BD10D-A5A3-9260-7656-267DEAC78A3A}"/>
              </a:ext>
            </a:extLst>
          </p:cNvPr>
          <p:cNvSpPr txBox="1"/>
          <p:nvPr/>
        </p:nvSpPr>
        <p:spPr>
          <a:xfrm>
            <a:off x="671280" y="3027168"/>
            <a:ext cx="39526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DatabaseConfig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HikariCP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инициализация: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F6DA0-8A49-FBB1-BB0D-76A6783D75C9}"/>
              </a:ext>
            </a:extLst>
          </p:cNvPr>
          <p:cNvSpPr txBox="1"/>
          <p:nvPr/>
        </p:nvSpPr>
        <p:spPr>
          <a:xfrm>
            <a:off x="4955446" y="951726"/>
            <a:ext cx="6565274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DatabaseConfig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private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getDataSource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null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algn="just"/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smtClean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algn="just"/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config.setJdbcUrl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jdbc:postgresql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://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localh</a:t>
            </a:r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ost:5432/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shop_db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algn="just"/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config.setUsername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postgres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config.setPassword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"admin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config.setMaximumPoolSize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config.setConnectionTimeout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20000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(config);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8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B924D-BD9B-ED2A-4D1A-34D36C8DEBF8}"/>
              </a:ext>
            </a:extLst>
          </p:cNvPr>
          <p:cNvSpPr txBox="1"/>
          <p:nvPr/>
        </p:nvSpPr>
        <p:spPr>
          <a:xfrm>
            <a:off x="3357716" y="612626"/>
            <a:ext cx="8400174" cy="5651406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status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total_amount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delivery_address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)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"VALUES (?, ?, ?, ?, NOW()) RETURNING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order.getCustomerId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order.getStatus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toString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pstmt.setBigDecimal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3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order.getTotalAmount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order.getDeliveryAddress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rs.getLong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Cannot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124D9-27C5-FF65-E773-CF6863B680C5}"/>
              </a:ext>
            </a:extLst>
          </p:cNvPr>
          <p:cNvSpPr txBox="1"/>
          <p:nvPr/>
        </p:nvSpPr>
        <p:spPr>
          <a:xfrm>
            <a:off x="959346" y="3159695"/>
            <a:ext cx="1774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OrderDAO.save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().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Создание заказа:</a:t>
            </a:r>
          </a:p>
        </p:txBody>
      </p:sp>
    </p:spTree>
    <p:extLst>
      <p:ext uri="{BB962C8B-B14F-4D97-AF65-F5344CB8AC3E}">
        <p14:creationId xmlns:p14="http://schemas.microsoft.com/office/powerpoint/2010/main" val="1267044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F7D95-3918-0C04-78FF-0D1FC462F841}"/>
              </a:ext>
            </a:extLst>
          </p:cNvPr>
          <p:cNvSpPr txBox="1"/>
          <p:nvPr/>
        </p:nvSpPr>
        <p:spPr>
          <a:xfrm>
            <a:off x="763897" y="3084583"/>
            <a:ext cx="2792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OrderDAO.findByCustomerId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)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Получение заказов: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D609E-0F23-6516-B8AA-CA2A0FDD5545}"/>
              </a:ext>
            </a:extLst>
          </p:cNvPr>
          <p:cNvSpPr txBox="1"/>
          <p:nvPr/>
        </p:nvSpPr>
        <p:spPr>
          <a:xfrm>
            <a:off x="3939309" y="733227"/>
            <a:ext cx="7742547" cy="54101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List&lt;Order&gt;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 WHERE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= ? "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"ORDER BY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DESC"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List&lt;Order&gt; orders =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ArrayList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mapResultSetToOrder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orders.add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"Cannot fetch orders"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orders;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3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352E56-30E5-EF4D-4E8F-7B9366A2705B}"/>
              </a:ext>
            </a:extLst>
          </p:cNvPr>
          <p:cNvSpPr txBox="1"/>
          <p:nvPr/>
        </p:nvSpPr>
        <p:spPr>
          <a:xfrm>
            <a:off x="1629658" y="114626"/>
            <a:ext cx="34294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Application.java.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Полный цикл: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3F9EC-C915-60CD-E065-8E724E43F3A5}"/>
              </a:ext>
            </a:extLst>
          </p:cNvPr>
          <p:cNvSpPr txBox="1"/>
          <p:nvPr/>
        </p:nvSpPr>
        <p:spPr>
          <a:xfrm>
            <a:off x="0" y="912571"/>
            <a:ext cx="625379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main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(String[]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args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1.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Инициализируем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DataSource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ds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HikariCP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pool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инициализирован"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2. Запускаем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Flyway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миграции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Flyway.configure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.locations(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>
                <a:solidFill>
                  <a:srgbClr val="ABE338"/>
                </a:solidFill>
                <a:latin typeface="Consolas" panose="020B0609020204030204" pitchFamily="49" charset="0"/>
              </a:rPr>
              <a:t>classpath:db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/migration"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.load();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flyway.migrate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Миграции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выполнены"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3. Демонстрация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CRUD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CREATE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создаем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customer_id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BigDecimal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"1599.99"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total_amount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ул. Пушкина, 10"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delivery_address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создан: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ID="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B1C431-54BE-9D14-7DDE-1A506AC250E3}"/>
              </a:ext>
            </a:extLst>
          </p:cNvPr>
          <p:cNvSpPr txBox="1"/>
          <p:nvPr/>
        </p:nvSpPr>
        <p:spPr>
          <a:xfrm>
            <a:off x="5694258" y="437791"/>
            <a:ext cx="667930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// READ —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получаем по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 found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).get();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Найден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заказ: "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found);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UPDATE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меняем статус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orderDAO.updateStatus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OrderStatus.SHIPPED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“C</a:t>
            </a:r>
            <a:r>
              <a:rPr lang="ru-RU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татус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изменен на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SHIPPED"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LIST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получаем все заказы клиента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List&lt;Order&gt;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orderDAO.findByCustomerId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Заказы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клиента: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customerOrders.size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STATS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считаем статистику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orderDAO.getStats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Всего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заказов: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Выручка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stats.totalRevenue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DELETE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удаляем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orderDAO.delete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удален"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333" dirty="0" smtClean="0">
                <a:solidFill>
                  <a:srgbClr val="D47DFF"/>
                </a:solidFill>
                <a:latin typeface="Consolas" panose="020B0609020204030204" pitchFamily="49" charset="0"/>
              </a:rPr>
              <a:t>finally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1333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DatabaseConfig.closeDataSource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86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DB0C5-9B2C-6089-F042-F371BD30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713" y="2815979"/>
            <a:ext cx="4926208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Спасибо за внимание!</a:t>
            </a:r>
            <a:endParaRPr lang="ru-RU" sz="36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8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джава преза</Template>
  <TotalTime>167</TotalTime>
  <Words>2381</Words>
  <Application>Microsoft Office PowerPoint</Application>
  <PresentationFormat>Широкоэкранный</PresentationFormat>
  <Paragraphs>367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Arial</vt:lpstr>
      <vt:lpstr>Bahnschrift SemiBold</vt:lpstr>
      <vt:lpstr>Calibri</vt:lpstr>
      <vt:lpstr>Calibri Light</vt:lpstr>
      <vt:lpstr>Consolas</vt:lpstr>
      <vt:lpstr>Corbel</vt:lpstr>
      <vt:lpstr>Instrument Sans Medium</vt:lpstr>
      <vt:lpstr>Instrument Sans Semi Bold</vt:lpstr>
      <vt:lpstr>Lucida Console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 Eysmont</dc:creator>
  <cp:lastModifiedBy>Slava</cp:lastModifiedBy>
  <cp:revision>23</cp:revision>
  <dcterms:created xsi:type="dcterms:W3CDTF">2025-12-13T07:40:28Z</dcterms:created>
  <dcterms:modified xsi:type="dcterms:W3CDTF">2025-12-13T11:21:31Z</dcterms:modified>
</cp:coreProperties>
</file>