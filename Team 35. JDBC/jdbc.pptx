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84" r:id="rId2"/>
    <p:sldId id="288" r:id="rId3"/>
    <p:sldId id="289" r:id="rId4"/>
    <p:sldId id="290" r:id="rId5"/>
    <p:sldId id="264" r:id="rId6"/>
    <p:sldId id="265" r:id="rId7"/>
    <p:sldId id="275" r:id="rId8"/>
    <p:sldId id="267" r:id="rId9"/>
    <p:sldId id="268" r:id="rId10"/>
    <p:sldId id="269" r:id="rId11"/>
    <p:sldId id="270" r:id="rId12"/>
    <p:sldId id="271" r:id="rId13"/>
    <p:sldId id="272" r:id="rId14"/>
    <p:sldId id="274" r:id="rId15"/>
    <p:sldId id="276" r:id="rId16"/>
    <p:sldId id="277" r:id="rId17"/>
    <p:sldId id="278" r:id="rId18"/>
    <p:sldId id="279" r:id="rId19"/>
    <p:sldId id="280" r:id="rId20"/>
    <p:sldId id="281" r:id="rId21"/>
    <p:sldId id="287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7DFF"/>
    <a:srgbClr val="ABE338"/>
    <a:srgbClr val="512507"/>
    <a:srgbClr val="6386DF"/>
    <a:srgbClr val="00FFFF"/>
    <a:srgbClr val="F3E9C7"/>
    <a:srgbClr val="FF5050"/>
    <a:srgbClr val="EBE2CF"/>
    <a:srgbClr val="DDDDDD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4559" autoAdjust="0"/>
    <p:restoredTop sz="94660"/>
  </p:normalViewPr>
  <p:slideViewPr>
    <p:cSldViewPr snapToGrid="0">
      <p:cViewPr>
        <p:scale>
          <a:sx n="75" d="100"/>
          <a:sy n="75" d="100"/>
        </p:scale>
        <p:origin x="77" y="4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E4C534-89E5-41CA-A379-DFE344071DA7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2044F3-D106-4DD1-9236-992BC1B901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3942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37BD13-FF79-7337-5F9C-393531966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F7BD831-2FC0-5A37-F07C-7B4907592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2774C20-AF93-3A89-2BFA-B42A38701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2501DC-3A89-F2DB-36AF-A6E5BD3DE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567942-0583-7569-C4DC-605A8E305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588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D33382-F739-0E2F-585D-33AC4E8CB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538159-661B-7F2B-2EE2-796AA7A09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D924C0-DB9E-55B7-333E-6795750E9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33BF29-0992-B120-3D5F-F5F9920F5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27CDED-7711-ECE7-8EE5-0815D7D3A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1511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F6EA93-6818-1A8C-CE84-1021E9F44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D4F8BB-1346-17C5-2D93-6B83CE1419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B35B93-70D0-3BA0-5CD4-4A6FB7F7B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34D0379-B97D-39CF-D3D4-08B53DAE8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EA26C4D-9C0B-8F37-1359-6B22C1244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148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93E248-26C3-F163-C06B-0EF350FED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910270-7E8C-AA9F-2489-7B16F9F7B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64AD00B-BA6B-B910-41A0-321BB7D694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876D8EC-7D6B-B871-36BC-032A11EEA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B7F53A0-5A9D-CB3D-5997-EE0CBE55D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2A75F95-6634-64A8-C648-5A0898863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7289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C20777-BD6C-D8C5-A1ED-7B1FB9EB6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22BF0F-69BB-F0B9-2842-687925875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00119A5-4CEC-00A0-3F95-3BB7C0CAF0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E68652-6ABA-40CF-E3D2-091BEFED56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BB5F2AC-6BFC-7427-9E81-B41761F8E6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3D9D743-C5DB-3720-737C-05B43ADDA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8B7699A-7383-F555-8998-6635BBA1C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E54F59A-1685-F587-AE6E-35D2BB2C0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7958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CF3302-7BAE-F3DA-155A-01E35B54E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85356E1-5AEE-B1F6-81CA-3E1DECC13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54BCAFA-5FB5-2B1D-4AEE-6CA72FBE2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FD160CB-EE94-BFE3-3F07-1AA367520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2784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2501D77-D4DE-78E8-BC2F-41F8AFE7F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526F876-8C7C-4013-4D16-1EAE0A0E0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6B277D-B3E8-6F0C-68AD-B2B4BC2D9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6738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91ED9D-32F8-4135-41F0-304123587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C0ECE8-AC7E-CA78-2557-42FE1A52E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7BE661-AB6F-8FD1-04E2-ACE8F5A2E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F0C27EA-45D4-8AE7-169A-701009B78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56F9D55-F9A1-60A5-0C0D-0FED9CBC5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8AD17D0-BA2F-E2B8-B89C-B71C0232F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0012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EDDAB7-2965-3D48-8BBC-0E2EFFAB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E2298A0-D78F-C688-9603-87F70DC4A7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26ACA2F-DBAE-0DF3-811E-B8EED6CD32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9E6B9ED-E090-D2EE-E193-78A45D91E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1578C54-4037-6A3B-A7C4-21ED9FF9C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366CC21-2E36-B1E1-48AC-7BF348956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8686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7741FC-F497-5072-0F7F-21ED3B01A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373D681-B3A1-EF46-AF12-DEC2F152E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F33C6C-9C92-2D05-9672-20E95FA88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F7EC53F-C9EE-7703-2718-EF3A53797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67D354-D7C5-599C-5C00-B4BAB83A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3973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A77758B-6E71-F6D2-E877-26574B5E8A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6B6364A-6FFF-B13B-8C81-5D8DA2E3B7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183ED3-D592-15EC-E220-6314BDFB0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1E7C96-BEBD-2000-D509-8DB630008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D951DE-87A7-2B63-28CA-5F07649A8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7232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4790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DF8D28-58F1-AEEC-2C7F-8133B6029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32C8B7A-BF42-796B-A86C-7389CAC92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80A4B6B-075C-E838-A377-88C2403E36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E4ECB-F258-4E22-879A-7D350F2C0172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C17BD34-4D3A-9B95-0CBF-D0740C6A09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757477-317A-BD0E-BDBB-32A0EB24E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0F76C-38DB-479E-A8D2-B9D094B9FD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4084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E177E42-13B3-51BE-07C8-2DFCE18F1768}"/>
              </a:ext>
            </a:extLst>
          </p:cNvPr>
          <p:cNvSpPr/>
          <p:nvPr/>
        </p:nvSpPr>
        <p:spPr>
          <a:xfrm>
            <a:off x="5057603" y="3200400"/>
            <a:ext cx="2076793" cy="781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4625"/>
              </a:lnSpc>
            </a:pPr>
            <a:r>
              <a:rPr lang="en-US" sz="6600" dirty="0">
                <a:solidFill>
                  <a:schemeClr val="bg2">
                    <a:lumMod val="10000"/>
                  </a:schemeClr>
                </a:solidFill>
                <a:latin typeface="Bahnschrift SemiBold" panose="020B0502040204020203" pitchFamily="34" charset="0"/>
                <a:ea typeface="Instrument Sans Semi Bold" pitchFamily="34" charset="-122"/>
                <a:cs typeface="Instrument Sans Semi Bold" pitchFamily="34" charset="-120"/>
              </a:rPr>
              <a:t>JDBC</a:t>
            </a:r>
          </a:p>
        </p:txBody>
      </p:sp>
    </p:spTree>
    <p:extLst>
      <p:ext uri="{BB962C8B-B14F-4D97-AF65-F5344CB8AC3E}">
        <p14:creationId xmlns:p14="http://schemas.microsoft.com/office/powerpoint/2010/main" val="363352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458739F-8EA1-EF38-3572-B0086E302A0A}"/>
              </a:ext>
            </a:extLst>
          </p:cNvPr>
          <p:cNvSpPr/>
          <p:nvPr/>
        </p:nvSpPr>
        <p:spPr>
          <a:xfrm>
            <a:off x="2534841" y="901277"/>
            <a:ext cx="6405463" cy="539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208"/>
              </a:lnSpc>
            </a:pPr>
            <a:r>
              <a:rPr lang="ru-RU" sz="3375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  <a:ea typeface="Instrument Sans Semi Bold" pitchFamily="34" charset="-122"/>
                <a:cs typeface="Instrument Sans Semi Bold" pitchFamily="34" charset="-120"/>
              </a:rPr>
              <a:t>Что такое  </a:t>
            </a:r>
            <a:r>
              <a:rPr lang="en-US" sz="3375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  <a:ea typeface="Instrument Sans Semi Bold" pitchFamily="34" charset="-122"/>
                <a:cs typeface="Instrument Sans Semi Bold" pitchFamily="34" charset="-120"/>
              </a:rPr>
              <a:t>JDBC</a:t>
            </a:r>
            <a:r>
              <a:rPr lang="ru-RU" sz="3375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  <a:ea typeface="Instrument Sans Semi Bold" pitchFamily="34" charset="-122"/>
                <a:cs typeface="Instrument Sans Semi Bold" pitchFamily="34" charset="-120"/>
              </a:rPr>
              <a:t> и зачем он нужен</a:t>
            </a:r>
            <a:endParaRPr lang="en-US" sz="3375" dirty="0">
              <a:solidFill>
                <a:schemeClr val="accent2">
                  <a:lumMod val="75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45AFB0A-71D0-A21F-2D2D-46946536F89C}"/>
              </a:ext>
            </a:extLst>
          </p:cNvPr>
          <p:cNvSpPr/>
          <p:nvPr/>
        </p:nvSpPr>
        <p:spPr>
          <a:xfrm>
            <a:off x="970643" y="2085596"/>
            <a:ext cx="5983843" cy="92945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t"/>
          <a:lstStyle/>
          <a:p>
            <a:pPr>
              <a:lnSpc>
                <a:spcPts val="2708"/>
              </a:lnSpc>
            </a:pP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ru-RU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JDBC</a:t>
            </a: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(</a:t>
            </a:r>
            <a:r>
              <a:rPr lang="ru-RU" sz="1500" dirty="0" err="1" smtClean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Java</a:t>
            </a:r>
            <a:r>
              <a:rPr lang="ru-RU" sz="15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ru-RU" sz="15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Database</a:t>
            </a: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ru-RU" sz="1500" dirty="0" err="1" smtClean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Connectivity</a:t>
            </a: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)</a:t>
            </a:r>
            <a:r>
              <a:rPr lang="ru-RU" sz="15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— это </a:t>
            </a:r>
            <a:r>
              <a:rPr lang="ru-RU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мост между Java и любой SQL базой данных</a:t>
            </a: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.</a:t>
            </a:r>
            <a:endParaRPr lang="en-US" sz="1667" dirty="0">
              <a:solidFill>
                <a:schemeClr val="tx1">
                  <a:lumMod val="95000"/>
                  <a:lumOff val="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06BDBCC8-AED7-7C43-BCEA-51828F0B1989}"/>
              </a:ext>
            </a:extLst>
          </p:cNvPr>
          <p:cNvSpPr/>
          <p:nvPr/>
        </p:nvSpPr>
        <p:spPr>
          <a:xfrm>
            <a:off x="970643" y="3293243"/>
            <a:ext cx="6039261" cy="155060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t"/>
          <a:lstStyle/>
          <a:p>
            <a:pPr>
              <a:lnSpc>
                <a:spcPts val="2708"/>
              </a:lnSpc>
            </a:pPr>
            <a:r>
              <a:rPr lang="ru-RU" sz="15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Вы пишете код один раз, используя </a:t>
            </a: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JDBC API</a:t>
            </a:r>
            <a:r>
              <a:rPr lang="ru-RU" sz="15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, </a:t>
            </a: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а сам JDBC через специальный драйвер разговаривает с нужной вам БД</a:t>
            </a:r>
            <a:r>
              <a:rPr lang="ru-RU" sz="15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. Можете </a:t>
            </a: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переключаться между </a:t>
            </a:r>
            <a:r>
              <a:rPr lang="ru-RU" sz="15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PostgreSQL</a:t>
            </a: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Corbel" panose="020B0503020204020204" pitchFamily="34" charset="0"/>
              </a:rPr>
              <a:t>, MySQL, Oracle, SQL Server — а ваш код остается одинаковым.</a:t>
            </a:r>
            <a:endParaRPr lang="en-US" sz="1667" dirty="0">
              <a:solidFill>
                <a:schemeClr val="tx1">
                  <a:lumMod val="95000"/>
                  <a:lumOff val="5000"/>
                </a:schemeClr>
              </a:solidFill>
              <a:latin typeface="Corbel" panose="020B0503020204020204" pitchFamily="34" charset="0"/>
            </a:endParaRPr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54DF0A21-12AD-7019-2C92-9902F3F073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4688" y="2178286"/>
            <a:ext cx="4140398" cy="4140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406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5F8FD10-233F-1051-7112-7576FF4EBDCE}"/>
              </a:ext>
            </a:extLst>
          </p:cNvPr>
          <p:cNvSpPr/>
          <p:nvPr/>
        </p:nvSpPr>
        <p:spPr>
          <a:xfrm>
            <a:off x="778272" y="2600666"/>
            <a:ext cx="2999401" cy="1431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08"/>
              </a:lnSpc>
            </a:pPr>
            <a:r>
              <a:rPr lang="en-US" sz="2583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  <a:ea typeface="Instrument Sans Semi Bold" pitchFamily="34" charset="-122"/>
                <a:cs typeface="Instrument Sans Semi Bold" pitchFamily="34" charset="-120"/>
              </a:rPr>
              <a:t>Архитектура JDBC: основные компоненты</a:t>
            </a:r>
            <a:endParaRPr lang="en-US" sz="2583" dirty="0">
              <a:solidFill>
                <a:schemeClr val="accent2">
                  <a:lumMod val="75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E598691-8FD2-0BF0-925C-F10E4669E032}"/>
              </a:ext>
            </a:extLst>
          </p:cNvPr>
          <p:cNvSpPr/>
          <p:nvPr/>
        </p:nvSpPr>
        <p:spPr>
          <a:xfrm>
            <a:off x="4306917" y="747319"/>
            <a:ext cx="526653" cy="1016958"/>
          </a:xfrm>
          <a:prstGeom prst="roundRect">
            <a:avLst>
              <a:gd name="adj" fmla="val 360018"/>
            </a:avLst>
          </a:prstGeom>
          <a:solidFill>
            <a:srgbClr val="CEE6FD"/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6E6BDB6-869D-5AC1-BC76-70E2027F6A27}"/>
              </a:ext>
            </a:extLst>
          </p:cNvPr>
          <p:cNvSpPr/>
          <p:nvPr/>
        </p:nvSpPr>
        <p:spPr>
          <a:xfrm>
            <a:off x="4537941" y="1162768"/>
            <a:ext cx="197445" cy="246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42"/>
              </a:lnSpc>
            </a:pPr>
            <a:r>
              <a:rPr lang="en-US" sz="1542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1</a:t>
            </a:r>
            <a:endParaRPr lang="en-US" sz="1542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F1807E33-D253-97E9-EEE2-BE640BFD2957}"/>
              </a:ext>
            </a:extLst>
          </p:cNvPr>
          <p:cNvSpPr/>
          <p:nvPr/>
        </p:nvSpPr>
        <p:spPr>
          <a:xfrm>
            <a:off x="5142679" y="983432"/>
            <a:ext cx="6040140" cy="63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25"/>
              </a:lnSpc>
            </a:pPr>
            <a:r>
              <a:rPr lang="ru-RU" sz="1583" b="1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Слой 1 — ваше </a:t>
            </a:r>
            <a:r>
              <a:rPr lang="ru-RU" sz="1583" b="1" dirty="0" smtClean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приложение</a:t>
            </a:r>
            <a:endParaRPr lang="en-US" sz="1583" dirty="0">
              <a:solidFill>
                <a:srgbClr val="815F03"/>
              </a:solidFill>
              <a:latin typeface="Corbel" panose="020B0503020204020204" pitchFamily="34" charset="0"/>
              <a:cs typeface="Segoe UI" panose="020B0502040204020203" pitchFamily="34" charset="0"/>
            </a:endParaRPr>
          </a:p>
          <a:p>
            <a:pPr>
              <a:lnSpc>
                <a:spcPts val="1625"/>
              </a:lnSpc>
            </a:pP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Это Java код, который вы пишете.</a:t>
            </a:r>
            <a:r>
              <a:rPr lang="en-US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 </a:t>
            </a:r>
            <a:r>
              <a:rPr lang="ru-RU" sz="1583" dirty="0" err="1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OrderService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, </a:t>
            </a:r>
            <a:r>
              <a:rPr lang="ru-RU" sz="1583" dirty="0" err="1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UserService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, </a:t>
            </a:r>
            <a:r>
              <a:rPr lang="ru-RU" sz="1583" dirty="0" smtClean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любая 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бизнес-логика.</a:t>
            </a:r>
            <a:endParaRPr lang="en-US" sz="1583" dirty="0">
              <a:latin typeface="Corbel" panose="020B0503020204020204" pitchFamily="34" charset="0"/>
              <a:cs typeface="Segoe UI" panose="020B0502040204020203" pitchFamily="34" charset="0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D180F0FD-3F16-125F-DA76-38E0C89A71A9}"/>
              </a:ext>
            </a:extLst>
          </p:cNvPr>
          <p:cNvSpPr/>
          <p:nvPr/>
        </p:nvSpPr>
        <p:spPr>
          <a:xfrm>
            <a:off x="4306917" y="1899899"/>
            <a:ext cx="526653" cy="1489663"/>
          </a:xfrm>
          <a:prstGeom prst="roundRect">
            <a:avLst>
              <a:gd name="adj" fmla="val 360018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ru-RU" sz="150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9B7CED1-F574-98F2-E1AE-86E522D6A7EE}"/>
              </a:ext>
            </a:extLst>
          </p:cNvPr>
          <p:cNvSpPr/>
          <p:nvPr/>
        </p:nvSpPr>
        <p:spPr>
          <a:xfrm>
            <a:off x="4509620" y="2572172"/>
            <a:ext cx="197445" cy="246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42"/>
              </a:lnSpc>
            </a:pPr>
            <a:r>
              <a:rPr lang="en-US" sz="1542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2</a:t>
            </a:r>
            <a:endParaRPr lang="en-US" sz="1542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E7846F40-C091-AA3C-2DC5-87AEE15AEFBC}"/>
              </a:ext>
            </a:extLst>
          </p:cNvPr>
          <p:cNvSpPr/>
          <p:nvPr/>
        </p:nvSpPr>
        <p:spPr>
          <a:xfrm>
            <a:off x="5142679" y="2100447"/>
            <a:ext cx="6040140" cy="1179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25"/>
              </a:lnSpc>
            </a:pPr>
            <a:r>
              <a:rPr lang="ru-RU" sz="1583" b="1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Слой 2 — JDBC API.</a:t>
            </a:r>
            <a:endParaRPr lang="en-US" sz="1583" dirty="0">
              <a:solidFill>
                <a:srgbClr val="815F03"/>
              </a:solidFill>
              <a:latin typeface="Corbel" panose="020B0503020204020204" pitchFamily="34" charset="0"/>
              <a:cs typeface="Segoe UI" panose="020B0502040204020203" pitchFamily="34" charset="0"/>
            </a:endParaRPr>
          </a:p>
          <a:p>
            <a:pPr>
              <a:lnSpc>
                <a:spcPts val="1625"/>
              </a:lnSpc>
            </a:pP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Это интерфейсы, описанные в пакете </a:t>
            </a:r>
            <a:r>
              <a:rPr lang="ru-RU" sz="1583" dirty="0" err="1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java.sql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. Три самых главных:</a:t>
            </a:r>
            <a:endParaRPr lang="en-US" sz="1583" dirty="0">
              <a:solidFill>
                <a:srgbClr val="815F03"/>
              </a:solidFill>
              <a:latin typeface="Corbel" panose="020B0503020204020204" pitchFamily="34" charset="0"/>
              <a:cs typeface="Segoe UI" panose="020B0502040204020203" pitchFamily="34" charset="0"/>
            </a:endParaRPr>
          </a:p>
          <a:p>
            <a:pPr>
              <a:lnSpc>
                <a:spcPts val="1625"/>
              </a:lnSpc>
            </a:pPr>
            <a:r>
              <a:rPr lang="ru-RU" sz="1583" b="1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Connection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 — соединение к БД</a:t>
            </a:r>
            <a:endParaRPr lang="en-US" sz="1583" dirty="0">
              <a:solidFill>
                <a:srgbClr val="815F03"/>
              </a:solidFill>
              <a:latin typeface="Corbel" panose="020B0503020204020204" pitchFamily="34" charset="0"/>
              <a:cs typeface="Segoe UI" panose="020B0502040204020203" pitchFamily="34" charset="0"/>
            </a:endParaRPr>
          </a:p>
          <a:p>
            <a:pPr>
              <a:lnSpc>
                <a:spcPts val="1625"/>
              </a:lnSpc>
            </a:pPr>
            <a:r>
              <a:rPr lang="ru-RU" sz="1583" b="1" dirty="0" err="1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Statement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 — способ выполнить SQL команду</a:t>
            </a:r>
            <a:endParaRPr lang="en-US" sz="1583" dirty="0">
              <a:solidFill>
                <a:srgbClr val="815F03"/>
              </a:solidFill>
              <a:latin typeface="Corbel" panose="020B0503020204020204" pitchFamily="34" charset="0"/>
              <a:cs typeface="Segoe UI" panose="020B0502040204020203" pitchFamily="34" charset="0"/>
            </a:endParaRPr>
          </a:p>
          <a:p>
            <a:pPr>
              <a:lnSpc>
                <a:spcPts val="1625"/>
              </a:lnSpc>
            </a:pPr>
            <a:r>
              <a:rPr lang="ru-RU" sz="1583" b="1" dirty="0" err="1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ResultSet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 — результаты запроса</a:t>
            </a:r>
            <a:endParaRPr lang="en-US" sz="1583" dirty="0">
              <a:latin typeface="Corbel" panose="020B0503020204020204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18FEE44A-E8C5-FEE6-4824-59ED279F347F}"/>
              </a:ext>
            </a:extLst>
          </p:cNvPr>
          <p:cNvSpPr/>
          <p:nvPr/>
        </p:nvSpPr>
        <p:spPr>
          <a:xfrm>
            <a:off x="4306917" y="3525185"/>
            <a:ext cx="526653" cy="1387924"/>
          </a:xfrm>
          <a:prstGeom prst="roundRect">
            <a:avLst>
              <a:gd name="adj" fmla="val 360018"/>
            </a:avLst>
          </a:prstGeom>
          <a:solidFill>
            <a:srgbClr val="CEE6FD"/>
          </a:solidFill>
          <a:ln/>
        </p:spPr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4320D2CD-3ABE-5D81-9B7F-C89A24D9D7E2}"/>
              </a:ext>
            </a:extLst>
          </p:cNvPr>
          <p:cNvSpPr/>
          <p:nvPr/>
        </p:nvSpPr>
        <p:spPr>
          <a:xfrm>
            <a:off x="4504333" y="4112868"/>
            <a:ext cx="197445" cy="246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42"/>
              </a:lnSpc>
            </a:pPr>
            <a:r>
              <a:rPr lang="en-US" sz="1542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3</a:t>
            </a:r>
            <a:endParaRPr lang="en-US" sz="1542" dirty="0"/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B05CC403-C58F-1376-EC7D-05A27369ED5E}"/>
              </a:ext>
            </a:extLst>
          </p:cNvPr>
          <p:cNvSpPr/>
          <p:nvPr/>
        </p:nvSpPr>
        <p:spPr>
          <a:xfrm>
            <a:off x="5142679" y="3708591"/>
            <a:ext cx="6040140" cy="1021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25"/>
              </a:lnSpc>
            </a:pPr>
            <a:r>
              <a:rPr lang="ru-RU" sz="1583" b="1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Слой 3 — </a:t>
            </a:r>
            <a:r>
              <a:rPr lang="en-US" sz="1583" b="1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JDBC Driver.</a:t>
            </a:r>
            <a:endParaRPr lang="en-US" sz="1583" dirty="0">
              <a:solidFill>
                <a:srgbClr val="815F03"/>
              </a:solidFill>
              <a:latin typeface="Corbel" panose="020B0503020204020204" pitchFamily="34" charset="0"/>
              <a:cs typeface="Segoe UI" panose="020B0502040204020203" pitchFamily="34" charset="0"/>
            </a:endParaRPr>
          </a:p>
          <a:p>
            <a:pPr>
              <a:lnSpc>
                <a:spcPts val="1625"/>
              </a:lnSpc>
            </a:pP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Это конкретная реализация для каждой БД. Для </a:t>
            </a:r>
            <a:r>
              <a:rPr lang="en-US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PostgreSQL — 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это файл </a:t>
            </a:r>
            <a:r>
              <a:rPr lang="en-US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postgresql-42.7.3.jar, 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для </a:t>
            </a:r>
            <a:r>
              <a:rPr lang="en-US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MySQL — </a:t>
            </a:r>
            <a:r>
              <a:rPr lang="en-US" sz="1583" dirty="0" err="1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mysql</a:t>
            </a:r>
            <a:r>
              <a:rPr lang="en-US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-connector-java, 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для </a:t>
            </a:r>
            <a:r>
              <a:rPr lang="en-US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Oracle — ojdbc.jar. 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Драйвер реализует эти интерфейсы конкретно для своей БД.</a:t>
            </a:r>
            <a:endParaRPr lang="en-US" sz="1583" dirty="0">
              <a:latin typeface="Corbel" panose="020B0503020204020204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F78718B7-DFDA-F78D-95D5-E7419EC0C2CF}"/>
              </a:ext>
            </a:extLst>
          </p:cNvPr>
          <p:cNvSpPr/>
          <p:nvPr/>
        </p:nvSpPr>
        <p:spPr>
          <a:xfrm>
            <a:off x="4299659" y="5048732"/>
            <a:ext cx="526653" cy="841503"/>
          </a:xfrm>
          <a:prstGeom prst="roundRect">
            <a:avLst>
              <a:gd name="adj" fmla="val 360018"/>
            </a:avLst>
          </a:prstGeom>
          <a:solidFill>
            <a:srgbClr val="CEE6FD"/>
          </a:solidFill>
          <a:ln/>
        </p:spPr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E39DABF3-F339-83CE-4CD4-15FB7D5395F1}"/>
              </a:ext>
            </a:extLst>
          </p:cNvPr>
          <p:cNvSpPr/>
          <p:nvPr/>
        </p:nvSpPr>
        <p:spPr>
          <a:xfrm>
            <a:off x="4504333" y="5372256"/>
            <a:ext cx="197445" cy="246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42"/>
              </a:lnSpc>
            </a:pPr>
            <a:r>
              <a:rPr lang="en-US" sz="1542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4</a:t>
            </a:r>
            <a:endParaRPr lang="en-US" sz="1542" dirty="0"/>
          </a:p>
        </p:txBody>
      </p:sp>
      <p:sp>
        <p:nvSpPr>
          <p:cNvPr id="14" name="Text 16">
            <a:extLst>
              <a:ext uri="{FF2B5EF4-FFF2-40B4-BE49-F238E27FC236}">
                <a16:creationId xmlns:a16="http://schemas.microsoft.com/office/drawing/2014/main" id="{EB97D505-DD84-0482-EA02-5F4EA221466D}"/>
              </a:ext>
            </a:extLst>
          </p:cNvPr>
          <p:cNvSpPr/>
          <p:nvPr/>
        </p:nvSpPr>
        <p:spPr>
          <a:xfrm>
            <a:off x="5142679" y="5243689"/>
            <a:ext cx="6040140" cy="63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25"/>
              </a:lnSpc>
            </a:pPr>
            <a:r>
              <a:rPr lang="ru-RU" sz="1583" b="1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Слой 4 — сама база данных.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 </a:t>
            </a:r>
            <a:r>
              <a:rPr lang="ru-RU" sz="1583" dirty="0" err="1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PostgreSQL</a:t>
            </a:r>
            <a:r>
              <a:rPr lang="ru-RU" sz="1583" dirty="0">
                <a:solidFill>
                  <a:srgbClr val="000000"/>
                </a:solidFill>
                <a:latin typeface="Corbel" panose="020B0503020204020204" pitchFamily="34" charset="0"/>
                <a:cs typeface="Segoe UI" panose="020B0502040204020203" pitchFamily="34" charset="0"/>
              </a:rPr>
              <a:t>, MySQL, Oracle, какая угодно.</a:t>
            </a:r>
            <a:endParaRPr lang="en-US" sz="1583" dirty="0">
              <a:latin typeface="Corbel" panose="020B0503020204020204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560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6BEAAE4-FCAE-7E20-3032-C0F270D346A8}"/>
              </a:ext>
            </a:extLst>
          </p:cNvPr>
          <p:cNvSpPr/>
          <p:nvPr/>
        </p:nvSpPr>
        <p:spPr>
          <a:xfrm>
            <a:off x="0" y="1312895"/>
            <a:ext cx="12192000" cy="22996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50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0B04219A-BF5A-03B7-D371-4CC0B0E987C1}"/>
              </a:ext>
            </a:extLst>
          </p:cNvPr>
          <p:cNvSpPr/>
          <p:nvPr/>
        </p:nvSpPr>
        <p:spPr>
          <a:xfrm>
            <a:off x="612604" y="468902"/>
            <a:ext cx="7237809" cy="438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17"/>
              </a:lnSpc>
            </a:pPr>
            <a:r>
              <a:rPr lang="ru-RU" sz="2750" dirty="0">
                <a:solidFill>
                  <a:srgbClr val="091C53"/>
                </a:solidFill>
                <a:latin typeface="Bahnschrift SemiBold" panose="020B0502040204020203" pitchFamily="34" charset="0"/>
                <a:ea typeface="Instrument Sans Semi Bold" pitchFamily="34" charset="-122"/>
                <a:cs typeface="Instrument Sans Semi Bold" pitchFamily="34" charset="-120"/>
              </a:rPr>
              <a:t>БАЗОВЫЙ ЦИКЛ</a:t>
            </a:r>
            <a:endParaRPr lang="en-US" sz="2750" dirty="0">
              <a:latin typeface="Bahnschrift SemiBold" panose="020B0502040204020203" pitchFamily="34" charset="0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43299E2-9426-D0C0-E120-1C21B29CEE0A}"/>
              </a:ext>
            </a:extLst>
          </p:cNvPr>
          <p:cNvSpPr/>
          <p:nvPr/>
        </p:nvSpPr>
        <p:spPr>
          <a:xfrm>
            <a:off x="2134252" y="2144953"/>
            <a:ext cx="5718608" cy="1265708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t"/>
          <a:lstStyle/>
          <a:p>
            <a:pPr>
              <a:lnSpc>
                <a:spcPts val="1750"/>
              </a:lnSpc>
            </a:pPr>
            <a:r>
              <a:rPr lang="en-US" sz="1400" b="0" i="0" u="none" strike="noStrike" dirty="0">
                <a:solidFill>
                  <a:srgbClr val="F5AB35"/>
                </a:solidFill>
                <a:effectLst/>
                <a:latin typeface="Lucida Console" panose="020B0609040504020204" pitchFamily="49" charset="0"/>
              </a:rPr>
              <a:t>Connection</a:t>
            </a:r>
            <a:r>
              <a:rPr lang="en-US" sz="1400" b="0" i="0" u="none" strike="noStrike" dirty="0">
                <a:solidFill>
                  <a:srgbClr val="F8F8F2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en-US" sz="1400" b="0" i="0" u="none" strike="noStrike" dirty="0">
                <a:solidFill>
                  <a:srgbClr val="FFA07A"/>
                </a:solidFill>
                <a:effectLst/>
                <a:latin typeface="Lucida Console" panose="020B0609040504020204" pitchFamily="49" charset="0"/>
              </a:rPr>
              <a:t>conn</a:t>
            </a:r>
            <a:r>
              <a:rPr lang="en-US" sz="1400" b="0" i="0" u="none" strike="noStrike" dirty="0">
                <a:solidFill>
                  <a:srgbClr val="F8F8F2"/>
                </a:solidFill>
                <a:effectLst/>
                <a:latin typeface="Lucida Console" panose="020B0609040504020204" pitchFamily="49" charset="0"/>
              </a:rPr>
              <a:t> = </a:t>
            </a:r>
            <a:r>
              <a:rPr lang="en-US" sz="1400" b="0" i="0" u="none" strike="noStrike" dirty="0" err="1">
                <a:solidFill>
                  <a:srgbClr val="F8F8F2"/>
                </a:solidFill>
                <a:effectLst/>
                <a:latin typeface="Lucida Console" panose="020B0609040504020204" pitchFamily="49" charset="0"/>
              </a:rPr>
              <a:t>DriverManager.getConnection</a:t>
            </a:r>
            <a:r>
              <a:rPr lang="en-US" sz="1400" b="0" i="0" u="none" strike="noStrike" dirty="0">
                <a:solidFill>
                  <a:srgbClr val="F8F8F2"/>
                </a:solidFill>
                <a:effectLst/>
                <a:latin typeface="Lucida Console" panose="020B0609040504020204" pitchFamily="49" charset="0"/>
              </a:rPr>
              <a:t>(</a:t>
            </a:r>
            <a:endParaRPr lang="ru-RU" sz="1400" b="0" i="0" u="none" strike="noStrike" dirty="0">
              <a:solidFill>
                <a:srgbClr val="F8F8F2"/>
              </a:solidFill>
              <a:effectLst/>
              <a:latin typeface="Lucida Console" panose="020B0609040504020204" pitchFamily="49" charset="0"/>
            </a:endParaRPr>
          </a:p>
          <a:p>
            <a:pPr>
              <a:lnSpc>
                <a:spcPts val="1750"/>
              </a:lnSpc>
            </a:pPr>
            <a:r>
              <a:rPr lang="en-US" sz="1400" b="0" i="0" u="none" strike="noStrike" dirty="0">
                <a:solidFill>
                  <a:srgbClr val="F8F8F2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ru-RU" sz="1400" b="0" i="0" u="none" strike="noStrike" dirty="0">
                <a:solidFill>
                  <a:srgbClr val="F8F8F2"/>
                </a:solidFill>
                <a:effectLst/>
                <a:latin typeface="Lucida Console" panose="020B0609040504020204" pitchFamily="49" charset="0"/>
              </a:rPr>
              <a:t>	</a:t>
            </a:r>
            <a:r>
              <a:rPr lang="en-US" sz="1400" b="0" i="0" u="none" strike="noStrike" dirty="0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"</a:t>
            </a:r>
            <a:r>
              <a:rPr lang="en-US" sz="1400" b="0" i="0" u="none" strike="noStrike" dirty="0" err="1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jdbc:postgresql</a:t>
            </a:r>
            <a:r>
              <a:rPr lang="en-US" sz="1400" b="0" i="0" u="none" strike="noStrike" dirty="0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://localhost:5432/</a:t>
            </a:r>
            <a:r>
              <a:rPr lang="en-US" sz="1400" b="0" i="0" u="none" strike="noStrike" dirty="0" err="1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shop_db</a:t>
            </a:r>
            <a:r>
              <a:rPr lang="en-US" sz="1400" b="0" i="0" u="none" strike="noStrike" dirty="0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",</a:t>
            </a:r>
            <a:endParaRPr lang="ru-RU" sz="1400" b="0" i="0" u="none" strike="noStrike" dirty="0">
              <a:solidFill>
                <a:srgbClr val="ABE338"/>
              </a:solidFill>
              <a:effectLst/>
              <a:latin typeface="Lucida Console" panose="020B0609040504020204" pitchFamily="49" charset="0"/>
            </a:endParaRPr>
          </a:p>
          <a:p>
            <a:pPr>
              <a:lnSpc>
                <a:spcPts val="1750"/>
              </a:lnSpc>
            </a:pPr>
            <a:r>
              <a:rPr lang="en-US" sz="1400" b="0" i="0" u="none" strike="noStrike" dirty="0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ru-RU" sz="1400" b="0" i="0" u="none" strike="noStrike" dirty="0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	</a:t>
            </a:r>
            <a:r>
              <a:rPr lang="en-US" sz="1400" b="0" i="0" u="none" strike="noStrike" dirty="0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"</a:t>
            </a:r>
            <a:r>
              <a:rPr lang="en-US" sz="1400" b="0" i="0" u="none" strike="noStrike" dirty="0" err="1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postgres</a:t>
            </a:r>
            <a:r>
              <a:rPr lang="en-US" sz="1400" b="0" i="0" u="none" strike="noStrike" dirty="0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"</a:t>
            </a:r>
            <a:r>
              <a:rPr lang="en-US" sz="1400" b="0" i="0" u="none" strike="noStrike" dirty="0">
                <a:solidFill>
                  <a:srgbClr val="F8F8F2"/>
                </a:solidFill>
                <a:effectLst/>
                <a:latin typeface="Lucida Console" panose="020B0609040504020204" pitchFamily="49" charset="0"/>
              </a:rPr>
              <a:t>,</a:t>
            </a:r>
            <a:endParaRPr lang="ru-RU" sz="1400" b="0" i="0" u="none" strike="noStrike" dirty="0">
              <a:solidFill>
                <a:srgbClr val="F8F8F2"/>
              </a:solidFill>
              <a:effectLst/>
              <a:latin typeface="Lucida Console" panose="020B0609040504020204" pitchFamily="49" charset="0"/>
            </a:endParaRPr>
          </a:p>
          <a:p>
            <a:pPr>
              <a:lnSpc>
                <a:spcPts val="1750"/>
              </a:lnSpc>
            </a:pPr>
            <a:r>
              <a:rPr lang="en-US" sz="1400" b="0" i="0" u="none" strike="noStrike" dirty="0">
                <a:solidFill>
                  <a:srgbClr val="F8F8F2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ru-RU" sz="1400" b="0" i="0" u="none" strike="noStrike" dirty="0">
                <a:solidFill>
                  <a:srgbClr val="F8F8F2"/>
                </a:solidFill>
                <a:effectLst/>
                <a:latin typeface="Lucida Console" panose="020B0609040504020204" pitchFamily="49" charset="0"/>
              </a:rPr>
              <a:t>	</a:t>
            </a:r>
            <a:r>
              <a:rPr lang="en-US" sz="1400" b="0" i="0" u="none" strike="noStrike" dirty="0">
                <a:solidFill>
                  <a:srgbClr val="ABE338"/>
                </a:solidFill>
                <a:effectLst/>
                <a:latin typeface="Lucida Console" panose="020B0609040504020204" pitchFamily="49" charset="0"/>
              </a:rPr>
              <a:t>"password</a:t>
            </a:r>
            <a:r>
              <a:rPr lang="en-US" sz="1400" dirty="0">
                <a:solidFill>
                  <a:srgbClr val="ABE338"/>
                </a:solidFill>
                <a:latin typeface="Lucida Console" panose="020B0609040504020204" pitchFamily="49" charset="0"/>
              </a:rPr>
              <a:t>”</a:t>
            </a:r>
            <a:endParaRPr lang="ru-RU" sz="1400" b="0" i="0" u="none" strike="noStrike" dirty="0">
              <a:solidFill>
                <a:srgbClr val="ABE338"/>
              </a:solidFill>
              <a:effectLst/>
              <a:latin typeface="Lucida Console" panose="020B0609040504020204" pitchFamily="49" charset="0"/>
            </a:endParaRPr>
          </a:p>
          <a:p>
            <a:pPr>
              <a:lnSpc>
                <a:spcPts val="1750"/>
              </a:lnSpc>
            </a:pPr>
            <a:r>
              <a:rPr lang="en-US" sz="1400" b="0" i="0" u="none" strike="noStrike" dirty="0">
                <a:solidFill>
                  <a:srgbClr val="F8F8F2"/>
                </a:solidFill>
                <a:effectLst/>
                <a:latin typeface="Lucida Console" panose="020B0609040504020204" pitchFamily="49" charset="0"/>
              </a:rPr>
              <a:t> );</a:t>
            </a:r>
            <a:r>
              <a:rPr lang="en-US" sz="1400" dirty="0">
                <a:solidFill>
                  <a:srgbClr val="1E3063"/>
                </a:solidFill>
                <a:latin typeface="Consolas" panose="020B0609020204030204" pitchFamily="49" charset="0"/>
                <a:ea typeface="Instrument Sans Medium" pitchFamily="34" charset="-122"/>
                <a:cs typeface="Instrument Sans Medium" pitchFamily="34" charset="-120"/>
              </a:rPr>
              <a:t>);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6FD56C-116B-6C11-0399-415A34DA45F5}"/>
              </a:ext>
            </a:extLst>
          </p:cNvPr>
          <p:cNvSpPr txBox="1"/>
          <p:nvPr/>
        </p:nvSpPr>
        <p:spPr>
          <a:xfrm>
            <a:off x="2134253" y="1556520"/>
            <a:ext cx="2681299" cy="579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b="1" dirty="0">
                <a:latin typeface="Corbel" panose="020B0503020204020204" pitchFamily="34" charset="0"/>
              </a:rPr>
              <a:t>Этап </a:t>
            </a:r>
            <a:r>
              <a:rPr lang="ru-RU" sz="1583" b="1" dirty="0" smtClean="0">
                <a:latin typeface="Corbel" panose="020B0503020204020204" pitchFamily="34" charset="0"/>
              </a:rPr>
              <a:t>1 </a:t>
            </a:r>
            <a:r>
              <a:rPr lang="ru-RU" sz="1583" b="1" dirty="0">
                <a:latin typeface="Corbel" panose="020B0503020204020204" pitchFamily="34" charset="0"/>
              </a:rPr>
              <a:t>— создать соединение.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1F35ED-E8A5-805F-EE5A-3EAACCF4A86C}"/>
              </a:ext>
            </a:extLst>
          </p:cNvPr>
          <p:cNvSpPr txBox="1"/>
          <p:nvPr/>
        </p:nvSpPr>
        <p:spPr>
          <a:xfrm>
            <a:off x="8136768" y="1546483"/>
            <a:ext cx="3632151" cy="1553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Используем </a:t>
            </a:r>
            <a:r>
              <a:rPr lang="ru-RU" sz="1583" dirty="0" err="1">
                <a:latin typeface="Corbel" panose="020B0503020204020204" pitchFamily="34" charset="0"/>
              </a:rPr>
              <a:t>DriverManager</a:t>
            </a:r>
            <a:r>
              <a:rPr lang="ru-RU" sz="1583" dirty="0">
                <a:latin typeface="Corbel" panose="020B0503020204020204" pitchFamily="34" charset="0"/>
              </a:rPr>
              <a:t> и передаем:</a:t>
            </a:r>
          </a:p>
          <a:p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dirty="0">
                <a:latin typeface="Corbel" panose="020B0503020204020204" pitchFamily="34" charset="0"/>
              </a:rPr>
              <a:t>URL БД (где она находится, какой порт)</a:t>
            </a:r>
          </a:p>
          <a:p>
            <a:r>
              <a:rPr lang="ru-RU" sz="1583" dirty="0">
                <a:latin typeface="Corbel" panose="020B0503020204020204" pitchFamily="34" charset="0"/>
              </a:rPr>
              <a:t>Имя пользователя</a:t>
            </a:r>
          </a:p>
          <a:p>
            <a:r>
              <a:rPr lang="ru-RU" sz="1583" dirty="0">
                <a:latin typeface="Corbel" panose="020B0503020204020204" pitchFamily="34" charset="0"/>
              </a:rPr>
              <a:t>Пароль</a:t>
            </a:r>
          </a:p>
          <a:p>
            <a:r>
              <a:rPr lang="ru-RU" sz="1583" dirty="0">
                <a:latin typeface="Corbel" panose="020B0503020204020204" pitchFamily="34" charset="0"/>
              </a:rPr>
              <a:t>Получаем объект </a:t>
            </a:r>
            <a:r>
              <a:rPr lang="ru-RU" sz="1583" dirty="0" err="1" smtClean="0">
                <a:latin typeface="Corbel" panose="020B0503020204020204" pitchFamily="34" charset="0"/>
              </a:rPr>
              <a:t>Connectio</a:t>
            </a:r>
            <a:r>
              <a:rPr lang="en-US" sz="1583" dirty="0" smtClean="0">
                <a:latin typeface="Corbel" panose="020B0503020204020204" pitchFamily="34" charset="0"/>
              </a:rPr>
              <a:t>n</a:t>
            </a:r>
            <a:endParaRPr lang="ru-RU" sz="1583" dirty="0">
              <a:latin typeface="Corbel" panose="020B0503020204020204" pitchFamily="34" charset="0"/>
            </a:endParaRPr>
          </a:p>
        </p:txBody>
      </p:sp>
      <p:sp>
        <p:nvSpPr>
          <p:cNvPr id="11" name="Стрелка: штриховая вправо 10">
            <a:extLst>
              <a:ext uri="{FF2B5EF4-FFF2-40B4-BE49-F238E27FC236}">
                <a16:creationId xmlns:a16="http://schemas.microsoft.com/office/drawing/2014/main" id="{2BD8EA13-FA42-DEFE-5C88-2302CEA3C57B}"/>
              </a:ext>
            </a:extLst>
          </p:cNvPr>
          <p:cNvSpPr/>
          <p:nvPr/>
        </p:nvSpPr>
        <p:spPr>
          <a:xfrm>
            <a:off x="555502" y="2026056"/>
            <a:ext cx="1011465" cy="751751"/>
          </a:xfrm>
          <a:prstGeom prst="striped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sz="150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8E35402-0A1A-0E3A-359C-C1F463F0019A}"/>
              </a:ext>
            </a:extLst>
          </p:cNvPr>
          <p:cNvSpPr/>
          <p:nvPr/>
        </p:nvSpPr>
        <p:spPr>
          <a:xfrm>
            <a:off x="0" y="4211358"/>
            <a:ext cx="12192000" cy="222923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5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BC4B2A-67FE-7D8C-0ED8-57C32E9DEAB0}"/>
              </a:ext>
            </a:extLst>
          </p:cNvPr>
          <p:cNvSpPr txBox="1"/>
          <p:nvPr/>
        </p:nvSpPr>
        <p:spPr>
          <a:xfrm>
            <a:off x="2117935" y="5058761"/>
            <a:ext cx="4499673" cy="782981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sz="1333" dirty="0" smtClean="0">
                <a:solidFill>
                  <a:srgbClr val="FFC000"/>
                </a:solidFill>
                <a:latin typeface="Consolas" panose="020B0609020204030204" pitchFamily="49" charset="0"/>
              </a:rPr>
              <a:t>Statement </a:t>
            </a:r>
            <a:r>
              <a:rPr lang="en-US" sz="1333" dirty="0" err="1" smtClean="0">
                <a:solidFill>
                  <a:srgbClr val="FF5050"/>
                </a:solidFill>
                <a:latin typeface="Consolas" panose="020B0609020204030204" pitchFamily="49" charset="0"/>
              </a:rPr>
              <a:t>stmt</a:t>
            </a:r>
            <a:r>
              <a:rPr lang="en-US" sz="1333" dirty="0" smtClean="0">
                <a:solidFill>
                  <a:srgbClr val="FFC000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 smtClean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= </a:t>
            </a:r>
            <a:r>
              <a:rPr lang="en-US" sz="1333" dirty="0" err="1" smtClean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conn.createStatement</a:t>
            </a:r>
            <a:r>
              <a:rPr lang="en-US" sz="1333" dirty="0" smtClean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333" dirty="0" err="1" smtClean="0">
                <a:solidFill>
                  <a:srgbClr val="FFC000"/>
                </a:solidFill>
                <a:latin typeface="Consolas" panose="020B0609020204030204" pitchFamily="49" charset="0"/>
              </a:rPr>
              <a:t>ResultSet</a:t>
            </a:r>
            <a:r>
              <a:rPr lang="en-US" sz="1333" dirty="0" smtClean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333" dirty="0" err="1" smtClean="0">
                <a:solidFill>
                  <a:srgbClr val="FF5050"/>
                </a:solidFill>
                <a:latin typeface="Consolas" panose="020B0609020204030204" pitchFamily="49" charset="0"/>
              </a:rPr>
              <a:t>rs</a:t>
            </a:r>
            <a:r>
              <a:rPr lang="en-US" sz="1333" dirty="0" smtClean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= </a:t>
            </a:r>
            <a:r>
              <a:rPr lang="en-US" sz="1333" dirty="0" err="1" smtClean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stmt.executeQuery</a:t>
            </a:r>
            <a:r>
              <a:rPr lang="en-US" sz="1333" dirty="0" smtClean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"SELECT * FROM orders"</a:t>
            </a:r>
            <a:r>
              <a:rPr lang="en-US" sz="1333" dirty="0" smtClean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);</a:t>
            </a:r>
            <a:endParaRPr lang="ru-RU" sz="1333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41634D-3F9D-1049-6AA9-34850B5E89D4}"/>
              </a:ext>
            </a:extLst>
          </p:cNvPr>
          <p:cNvSpPr txBox="1"/>
          <p:nvPr/>
        </p:nvSpPr>
        <p:spPr>
          <a:xfrm>
            <a:off x="7361589" y="4495276"/>
            <a:ext cx="4086428" cy="1553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Создаем </a:t>
            </a:r>
            <a:r>
              <a:rPr lang="en-US" sz="1583" dirty="0">
                <a:latin typeface="Corbel" panose="020B0503020204020204" pitchFamily="34" charset="0"/>
              </a:rPr>
              <a:t>Statement (</a:t>
            </a:r>
            <a:r>
              <a:rPr lang="ru-RU" sz="1583" dirty="0">
                <a:latin typeface="Corbel" panose="020B0503020204020204" pitchFamily="34" charset="0"/>
              </a:rPr>
              <a:t>это способ отправить </a:t>
            </a:r>
            <a:r>
              <a:rPr lang="en-US" sz="1583" dirty="0">
                <a:latin typeface="Corbel" panose="020B0503020204020204" pitchFamily="34" charset="0"/>
              </a:rPr>
              <a:t>SQL </a:t>
            </a:r>
            <a:r>
              <a:rPr lang="ru-RU" sz="1583" dirty="0">
                <a:latin typeface="Corbel" panose="020B0503020204020204" pitchFamily="34" charset="0"/>
              </a:rPr>
              <a:t>в БД), и выполняем запрос.</a:t>
            </a:r>
          </a:p>
          <a:p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dirty="0">
                <a:latin typeface="Corbel" panose="020B0503020204020204" pitchFamily="34" charset="0"/>
              </a:rPr>
              <a:t>Для </a:t>
            </a:r>
            <a:r>
              <a:rPr lang="en-US" sz="1583" dirty="0">
                <a:latin typeface="Corbel" panose="020B0503020204020204" pitchFamily="34" charset="0"/>
              </a:rPr>
              <a:t>SELECT </a:t>
            </a:r>
            <a:r>
              <a:rPr lang="ru-RU" sz="1583" dirty="0">
                <a:latin typeface="Corbel" panose="020B0503020204020204" pitchFamily="34" charset="0"/>
              </a:rPr>
              <a:t>используем </a:t>
            </a:r>
            <a:r>
              <a:rPr lang="en-US" sz="1583" dirty="0" err="1">
                <a:latin typeface="Corbel" panose="020B0503020204020204" pitchFamily="34" charset="0"/>
              </a:rPr>
              <a:t>executeQuery</a:t>
            </a:r>
            <a:r>
              <a:rPr lang="en-US" sz="1583" dirty="0">
                <a:latin typeface="Corbel" panose="020B0503020204020204" pitchFamily="34" charset="0"/>
              </a:rPr>
              <a:t>().</a:t>
            </a:r>
          </a:p>
          <a:p>
            <a:r>
              <a:rPr lang="ru-RU" sz="1583" dirty="0">
                <a:latin typeface="Corbel" panose="020B0503020204020204" pitchFamily="34" charset="0"/>
              </a:rPr>
              <a:t>Для </a:t>
            </a:r>
            <a:r>
              <a:rPr lang="en-US" sz="1583" dirty="0">
                <a:latin typeface="Corbel" panose="020B0503020204020204" pitchFamily="34" charset="0"/>
              </a:rPr>
              <a:t>INSERT, UPDATE, DELETE </a:t>
            </a:r>
            <a:r>
              <a:rPr lang="ru-RU" sz="1583" dirty="0">
                <a:latin typeface="Corbel" panose="020B0503020204020204" pitchFamily="34" charset="0"/>
              </a:rPr>
              <a:t>используем </a:t>
            </a:r>
            <a:r>
              <a:rPr lang="en-US" sz="1583" dirty="0" err="1">
                <a:latin typeface="Corbel" panose="020B0503020204020204" pitchFamily="34" charset="0"/>
              </a:rPr>
              <a:t>executeUpdate</a:t>
            </a:r>
            <a:r>
              <a:rPr lang="en-US" sz="1583" dirty="0">
                <a:latin typeface="Corbel" panose="020B0503020204020204" pitchFamily="34" charset="0"/>
              </a:rPr>
              <a:t>().</a:t>
            </a:r>
            <a:endParaRPr lang="ru-RU" sz="1583" dirty="0">
              <a:latin typeface="Corbel" panose="020B0503020204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D57F1D-B683-58ED-280C-930B710E3C29}"/>
              </a:ext>
            </a:extLst>
          </p:cNvPr>
          <p:cNvSpPr txBox="1"/>
          <p:nvPr/>
        </p:nvSpPr>
        <p:spPr>
          <a:xfrm>
            <a:off x="2117936" y="4468396"/>
            <a:ext cx="2281464" cy="579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b="1" dirty="0">
                <a:latin typeface="Corbel" panose="020B0503020204020204" pitchFamily="34" charset="0"/>
              </a:rPr>
              <a:t>Этап </a:t>
            </a:r>
            <a:r>
              <a:rPr lang="ru-RU" sz="1583" b="1" dirty="0" smtClean="0">
                <a:latin typeface="Corbel" panose="020B0503020204020204" pitchFamily="34" charset="0"/>
              </a:rPr>
              <a:t>2 </a:t>
            </a:r>
            <a:r>
              <a:rPr lang="ru-RU" sz="1583" b="1" dirty="0">
                <a:latin typeface="Corbel" panose="020B0503020204020204" pitchFamily="34" charset="0"/>
              </a:rPr>
              <a:t>— выполнить </a:t>
            </a:r>
            <a:r>
              <a:rPr lang="en-US" sz="1583" b="1" dirty="0">
                <a:latin typeface="Corbel" panose="020B0503020204020204" pitchFamily="34" charset="0"/>
              </a:rPr>
              <a:t>SQL.</a:t>
            </a:r>
            <a:endParaRPr lang="ru-RU" sz="1583" b="1" dirty="0">
              <a:latin typeface="Corbel" panose="020B0503020204020204" pitchFamily="34" charset="0"/>
            </a:endParaRPr>
          </a:p>
        </p:txBody>
      </p:sp>
      <p:sp>
        <p:nvSpPr>
          <p:cNvPr id="16" name="Стрелка: штриховая вправо 17">
            <a:extLst>
              <a:ext uri="{FF2B5EF4-FFF2-40B4-BE49-F238E27FC236}">
                <a16:creationId xmlns:a16="http://schemas.microsoft.com/office/drawing/2014/main" id="{F7A1F5CF-A4C5-3129-D7D9-FC6CEAEB7EE6}"/>
              </a:ext>
            </a:extLst>
          </p:cNvPr>
          <p:cNvSpPr/>
          <p:nvPr/>
        </p:nvSpPr>
        <p:spPr>
          <a:xfrm>
            <a:off x="604605" y="4874164"/>
            <a:ext cx="1011465" cy="751751"/>
          </a:xfrm>
          <a:prstGeom prst="striped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sz="1500"/>
          </a:p>
        </p:txBody>
      </p:sp>
    </p:spTree>
    <p:extLst>
      <p:ext uri="{BB962C8B-B14F-4D97-AF65-F5344CB8AC3E}">
        <p14:creationId xmlns:p14="http://schemas.microsoft.com/office/powerpoint/2010/main" val="1363170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FA0FF7D-4B06-3FE5-A698-951240D65F18}"/>
              </a:ext>
            </a:extLst>
          </p:cNvPr>
          <p:cNvSpPr/>
          <p:nvPr/>
        </p:nvSpPr>
        <p:spPr>
          <a:xfrm>
            <a:off x="0" y="1724252"/>
            <a:ext cx="12192000" cy="33465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5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6E143-82F8-BDF5-DEC6-F6A6599D8AA7}"/>
              </a:ext>
            </a:extLst>
          </p:cNvPr>
          <p:cNvSpPr txBox="1"/>
          <p:nvPr/>
        </p:nvSpPr>
        <p:spPr>
          <a:xfrm>
            <a:off x="2117935" y="2022019"/>
            <a:ext cx="6096000" cy="579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b="1" dirty="0">
                <a:latin typeface="Corbel" panose="020B0503020204020204" pitchFamily="34" charset="0"/>
              </a:rPr>
              <a:t>Этап </a:t>
            </a:r>
            <a:r>
              <a:rPr lang="ru-RU" sz="1583" b="1" dirty="0" smtClean="0">
                <a:latin typeface="Corbel" panose="020B0503020204020204" pitchFamily="34" charset="0"/>
              </a:rPr>
              <a:t>3 </a:t>
            </a:r>
            <a:r>
              <a:rPr lang="ru-RU" sz="1583" b="1" dirty="0">
                <a:latin typeface="Corbel" panose="020B0503020204020204" pitchFamily="34" charset="0"/>
              </a:rPr>
              <a:t>— обработать результаты.</a:t>
            </a:r>
          </a:p>
          <a:p>
            <a:endParaRPr lang="ru-RU" sz="1583" b="1" dirty="0">
              <a:latin typeface="Corbel" panose="020B05030202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9795F-9749-B66B-9627-4EDDDF70CBEF}"/>
              </a:ext>
            </a:extLst>
          </p:cNvPr>
          <p:cNvSpPr txBox="1"/>
          <p:nvPr/>
        </p:nvSpPr>
        <p:spPr>
          <a:xfrm>
            <a:off x="2117935" y="2511380"/>
            <a:ext cx="4499673" cy="1236864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sz="1333" dirty="0">
                <a:solidFill>
                  <a:srgbClr val="D47DFF"/>
                </a:solidFill>
                <a:latin typeface="Consolas" panose="020B0609020204030204" pitchFamily="49" charset="0"/>
              </a:rPr>
              <a:t>while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(</a:t>
            </a:r>
            <a:r>
              <a:rPr lang="en-US" sz="1333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rs.next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String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333" dirty="0">
                <a:solidFill>
                  <a:srgbClr val="FF5050"/>
                </a:solidFill>
                <a:latin typeface="Consolas" panose="020B0609020204030204" pitchFamily="49" charset="0"/>
              </a:rPr>
              <a:t>name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= </a:t>
            </a:r>
            <a:r>
              <a:rPr lang="en-US" sz="1333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rs.getString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333" dirty="0">
                <a:solidFill>
                  <a:srgbClr val="ABE338"/>
                </a:solidFill>
                <a:latin typeface="Consolas" panose="020B0609020204030204" pitchFamily="49" charset="0"/>
              </a:rPr>
              <a:t>"name"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int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333" dirty="0">
                <a:solidFill>
                  <a:srgbClr val="FF5050"/>
                </a:solidFill>
                <a:latin typeface="Consolas" panose="020B0609020204030204" pitchFamily="49" charset="0"/>
              </a:rPr>
              <a:t>price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= </a:t>
            </a:r>
            <a:r>
              <a:rPr lang="en-US" sz="1333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rs.getInt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333" dirty="0">
                <a:solidFill>
                  <a:srgbClr val="ABE338"/>
                </a:solidFill>
                <a:latin typeface="Consolas" panose="020B0609020204030204" pitchFamily="49" charset="0"/>
              </a:rPr>
              <a:t>"price"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en-US" sz="1333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System.out.println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(name + " " + price);</a:t>
            </a:r>
          </a:p>
          <a:p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}</a:t>
            </a:r>
            <a:endParaRPr lang="ru-RU" sz="1333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BF3E34-6ABC-BF3E-FA12-D5647056AB24}"/>
              </a:ext>
            </a:extLst>
          </p:cNvPr>
          <p:cNvSpPr txBox="1"/>
          <p:nvPr/>
        </p:nvSpPr>
        <p:spPr>
          <a:xfrm>
            <a:off x="2117935" y="3885828"/>
            <a:ext cx="4857751" cy="1066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Проходим по результатам. </a:t>
            </a:r>
            <a:r>
              <a:rPr lang="ru-RU" sz="1583" dirty="0" err="1">
                <a:latin typeface="Corbel" panose="020B0503020204020204" pitchFamily="34" charset="0"/>
              </a:rPr>
              <a:t>rs.next</a:t>
            </a:r>
            <a:r>
              <a:rPr lang="ru-RU" sz="1583" dirty="0">
                <a:latin typeface="Corbel" panose="020B0503020204020204" pitchFamily="34" charset="0"/>
              </a:rPr>
              <a:t>() — переходит на следующую строку. </a:t>
            </a:r>
            <a:r>
              <a:rPr lang="ru-RU" sz="1583" dirty="0" err="1">
                <a:latin typeface="Corbel" panose="020B0503020204020204" pitchFamily="34" charset="0"/>
              </a:rPr>
              <a:t>rs.getString</a:t>
            </a:r>
            <a:r>
              <a:rPr lang="ru-RU" sz="1583" dirty="0">
                <a:latin typeface="Corbel" panose="020B0503020204020204" pitchFamily="34" charset="0"/>
              </a:rPr>
              <a:t>() — получает значение колонки как </a:t>
            </a:r>
            <a:r>
              <a:rPr lang="ru-RU" sz="1583" dirty="0" err="1">
                <a:latin typeface="Corbel" panose="020B0503020204020204" pitchFamily="34" charset="0"/>
              </a:rPr>
              <a:t>String</a:t>
            </a:r>
            <a:r>
              <a:rPr lang="ru-RU" sz="1583" dirty="0">
                <a:latin typeface="Corbel" panose="020B0503020204020204" pitchFamily="34" charset="0"/>
              </a:rPr>
              <a:t>, </a:t>
            </a:r>
            <a:r>
              <a:rPr lang="ru-RU" sz="1583" dirty="0" err="1">
                <a:latin typeface="Corbel" panose="020B0503020204020204" pitchFamily="34" charset="0"/>
              </a:rPr>
              <a:t>rs.getInt</a:t>
            </a:r>
            <a:r>
              <a:rPr lang="ru-RU" sz="1583" dirty="0">
                <a:latin typeface="Corbel" panose="020B0503020204020204" pitchFamily="34" charset="0"/>
              </a:rPr>
              <a:t>() — как </a:t>
            </a:r>
            <a:r>
              <a:rPr lang="ru-RU" sz="1583" dirty="0" err="1">
                <a:latin typeface="Corbel" panose="020B0503020204020204" pitchFamily="34" charset="0"/>
              </a:rPr>
              <a:t>int</a:t>
            </a:r>
            <a:r>
              <a:rPr lang="ru-RU" sz="1583" dirty="0">
                <a:latin typeface="Corbel" panose="020B0503020204020204" pitchFamily="34" charset="0"/>
              </a:rPr>
              <a:t>.</a:t>
            </a:r>
          </a:p>
          <a:p>
            <a:endParaRPr lang="ru-RU" sz="1583" dirty="0">
              <a:latin typeface="Corbel" panose="020B05030202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90B95C-934D-BA15-EC39-AF4CBA07F47B}"/>
              </a:ext>
            </a:extLst>
          </p:cNvPr>
          <p:cNvSpPr txBox="1"/>
          <p:nvPr/>
        </p:nvSpPr>
        <p:spPr>
          <a:xfrm>
            <a:off x="7361590" y="3402024"/>
            <a:ext cx="3744769" cy="33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 smtClean="0">
                <a:latin typeface="Corbel" panose="020B0503020204020204" pitchFamily="34" charset="0"/>
              </a:rPr>
              <a:t>Важно: в конце закрыть соединение.</a:t>
            </a:r>
            <a:endParaRPr lang="ru-RU" sz="1583" dirty="0">
              <a:latin typeface="Corbel" panose="020B0503020204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F8985B-27E5-B990-BB32-AA6E854C76EF}"/>
              </a:ext>
            </a:extLst>
          </p:cNvPr>
          <p:cNvSpPr txBox="1"/>
          <p:nvPr/>
        </p:nvSpPr>
        <p:spPr>
          <a:xfrm>
            <a:off x="7361589" y="3885828"/>
            <a:ext cx="4086428" cy="782981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sz="1333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conn.close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333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stmt.close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333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rs.close</a:t>
            </a:r>
            <a:r>
              <a:rPr lang="en-US" sz="1333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();</a:t>
            </a:r>
            <a:endParaRPr lang="ru-RU" sz="1333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0" name="Стрелка: штриховая вправо 19">
            <a:extLst>
              <a:ext uri="{FF2B5EF4-FFF2-40B4-BE49-F238E27FC236}">
                <a16:creationId xmlns:a16="http://schemas.microsoft.com/office/drawing/2014/main" id="{BED0983D-B62D-0339-0F90-55144206EA85}"/>
              </a:ext>
            </a:extLst>
          </p:cNvPr>
          <p:cNvSpPr/>
          <p:nvPr/>
        </p:nvSpPr>
        <p:spPr>
          <a:xfrm>
            <a:off x="579909" y="2970875"/>
            <a:ext cx="1011465" cy="751751"/>
          </a:xfrm>
          <a:prstGeom prst="striped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sz="1500"/>
          </a:p>
        </p:txBody>
      </p:sp>
    </p:spTree>
    <p:extLst>
      <p:ext uri="{BB962C8B-B14F-4D97-AF65-F5344CB8AC3E}">
        <p14:creationId xmlns:p14="http://schemas.microsoft.com/office/powerpoint/2010/main" val="3752269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1662C-5AC0-DEBA-3E6E-20F57EDF7B84}"/>
              </a:ext>
            </a:extLst>
          </p:cNvPr>
          <p:cNvSpPr txBox="1"/>
          <p:nvPr/>
        </p:nvSpPr>
        <p:spPr>
          <a:xfrm>
            <a:off x="4478894" y="491527"/>
            <a:ext cx="32342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SQL INJECTION</a:t>
            </a:r>
            <a:endParaRPr lang="ru-RU" sz="3000" dirty="0">
              <a:solidFill>
                <a:schemeClr val="accent2">
                  <a:lumMod val="75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36F322-A97E-E8F1-92F2-339B9FBDE491}"/>
              </a:ext>
            </a:extLst>
          </p:cNvPr>
          <p:cNvSpPr txBox="1"/>
          <p:nvPr/>
        </p:nvSpPr>
        <p:spPr>
          <a:xfrm>
            <a:off x="875394" y="1502961"/>
            <a:ext cx="4963968" cy="823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Представьте, вы разработчик, пишете функцию входа. Пользователь вводит </a:t>
            </a:r>
            <a:r>
              <a:rPr lang="ru-RU" sz="1583" dirty="0" err="1">
                <a:latin typeface="Corbel" panose="020B0503020204020204" pitchFamily="34" charset="0"/>
              </a:rPr>
              <a:t>login</a:t>
            </a:r>
            <a:r>
              <a:rPr lang="ru-RU" sz="1583" dirty="0">
                <a:latin typeface="Corbel" panose="020B0503020204020204" pitchFamily="34" charset="0"/>
              </a:rPr>
              <a:t>. И </a:t>
            </a:r>
            <a:r>
              <a:rPr lang="ru-RU" sz="1583" dirty="0" smtClean="0">
                <a:latin typeface="Corbel" panose="020B0503020204020204" pitchFamily="34" charset="0"/>
              </a:rPr>
              <a:t>вы </a:t>
            </a:r>
            <a:r>
              <a:rPr lang="ru-RU" sz="1583" dirty="0">
                <a:latin typeface="Corbel" panose="020B0503020204020204" pitchFamily="34" charset="0"/>
              </a:rPr>
              <a:t>конкатенируете его прямо в SQL запрос: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FE3815-D91F-7BF8-EBB9-E285FF717D19}"/>
              </a:ext>
            </a:extLst>
          </p:cNvPr>
          <p:cNvSpPr txBox="1"/>
          <p:nvPr/>
        </p:nvSpPr>
        <p:spPr>
          <a:xfrm>
            <a:off x="6295159" y="1502961"/>
            <a:ext cx="5194878" cy="112371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String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FF5050"/>
                </a:solidFill>
                <a:latin typeface="Consolas" panose="020B0609020204030204" pitchFamily="49" charset="0"/>
              </a:rPr>
              <a:t>login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userInput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String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FF5050"/>
                </a:solidFill>
                <a:latin typeface="Consolas" panose="020B0609020204030204" pitchFamily="49" charset="0"/>
              </a:rPr>
              <a:t>sql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"SELECT * FROM users WHERE login = '" 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+ login + 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"'"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stmt.executeQuery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sql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);</a:t>
            </a:r>
            <a:endParaRPr lang="ru-RU" sz="15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684E1D-877F-E30B-867A-3B97B537894E}"/>
              </a:ext>
            </a:extLst>
          </p:cNvPr>
          <p:cNvSpPr txBox="1"/>
          <p:nvPr/>
        </p:nvSpPr>
        <p:spPr>
          <a:xfrm>
            <a:off x="6295159" y="2876552"/>
            <a:ext cx="5194878" cy="35754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SELECT * FROM users 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WHERE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FF5050"/>
                </a:solidFill>
                <a:latin typeface="Consolas" panose="020B0609020204030204" pitchFamily="49" charset="0"/>
              </a:rPr>
              <a:t>login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'</a:t>
            </a:r>
            <a:r>
              <a:rPr lang="en-US" sz="1500" dirty="0" err="1">
                <a:solidFill>
                  <a:srgbClr val="ABE338"/>
                </a:solidFill>
                <a:latin typeface="Consolas" panose="020B0609020204030204" pitchFamily="49" charset="0"/>
              </a:rPr>
              <a:t>ivan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'</a:t>
            </a:r>
            <a:endParaRPr lang="ru-RU" sz="1500" dirty="0">
              <a:solidFill>
                <a:srgbClr val="ABE338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05AB18-396B-308D-7011-55BCE2B4FA9F}"/>
              </a:ext>
            </a:extLst>
          </p:cNvPr>
          <p:cNvSpPr txBox="1"/>
          <p:nvPr/>
        </p:nvSpPr>
        <p:spPr>
          <a:xfrm>
            <a:off x="875394" y="2830563"/>
            <a:ext cx="2241055" cy="33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Это вход выглядит как: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BAE283-CC1A-82FE-58A4-89BC1DC3AB95}"/>
              </a:ext>
            </a:extLst>
          </p:cNvPr>
          <p:cNvSpPr txBox="1"/>
          <p:nvPr/>
        </p:nvSpPr>
        <p:spPr>
          <a:xfrm>
            <a:off x="815479" y="3343907"/>
            <a:ext cx="5138964" cy="1066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 smtClean="0">
                <a:latin typeface="Corbel" panose="020B0503020204020204" pitchFamily="34" charset="0"/>
              </a:rPr>
              <a:t>Предположим, пользователь </a:t>
            </a:r>
            <a:r>
              <a:rPr lang="ru-RU" sz="1583" dirty="0" smtClean="0">
                <a:latin typeface="Corbel" panose="020B0503020204020204" pitchFamily="34" charset="0"/>
              </a:rPr>
              <a:t>вводит </a:t>
            </a:r>
            <a:r>
              <a:rPr lang="ru-RU" sz="1583" dirty="0">
                <a:latin typeface="Corbel" panose="020B0503020204020204" pitchFamily="34" charset="0"/>
              </a:rPr>
              <a:t>вместо '</a:t>
            </a:r>
            <a:r>
              <a:rPr lang="ru-RU" sz="1583" dirty="0" err="1">
                <a:latin typeface="Corbel" panose="020B0503020204020204" pitchFamily="34" charset="0"/>
              </a:rPr>
              <a:t>ivan</a:t>
            </a:r>
            <a:r>
              <a:rPr lang="ru-RU" sz="1583" dirty="0">
                <a:latin typeface="Corbel" panose="020B0503020204020204" pitchFamily="34" charset="0"/>
              </a:rPr>
              <a:t>' вот это: '</a:t>
            </a:r>
            <a:r>
              <a:rPr lang="ru-RU" sz="1583" dirty="0" err="1">
                <a:latin typeface="Corbel" panose="020B0503020204020204" pitchFamily="34" charset="0"/>
              </a:rPr>
              <a:t>admin</a:t>
            </a:r>
            <a:r>
              <a:rPr lang="ru-RU" sz="1583" dirty="0">
                <a:latin typeface="Corbel" panose="020B0503020204020204" pitchFamily="34" charset="0"/>
              </a:rPr>
              <a:t>' -- (кавычка, слово </a:t>
            </a:r>
            <a:r>
              <a:rPr lang="ru-RU" sz="1583" dirty="0" err="1">
                <a:latin typeface="Corbel" panose="020B0503020204020204" pitchFamily="34" charset="0"/>
              </a:rPr>
              <a:t>admin</a:t>
            </a:r>
            <a:r>
              <a:rPr lang="ru-RU" sz="1583" dirty="0">
                <a:latin typeface="Corbel" panose="020B0503020204020204" pitchFamily="34" charset="0"/>
              </a:rPr>
              <a:t>, кавычка, два минуса</a:t>
            </a:r>
            <a:r>
              <a:rPr lang="ru-RU" sz="1583" dirty="0" smtClean="0">
                <a:latin typeface="Corbel" panose="020B0503020204020204" pitchFamily="34" charset="0"/>
              </a:rPr>
              <a:t>).</a:t>
            </a:r>
            <a:endParaRPr lang="ru-RU" sz="1583" dirty="0">
              <a:latin typeface="Corbel" panose="020B0503020204020204" pitchFamily="34" charset="0"/>
            </a:endParaRPr>
          </a:p>
          <a:p>
            <a:endParaRPr lang="ru-RU" sz="1583" dirty="0">
              <a:latin typeface="Corbel" panose="020B05030202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A754EF-552A-C55E-53BE-B6ACD7DDA4C8}"/>
              </a:ext>
            </a:extLst>
          </p:cNvPr>
          <p:cNvSpPr txBox="1"/>
          <p:nvPr/>
        </p:nvSpPr>
        <p:spPr>
          <a:xfrm>
            <a:off x="6295159" y="3483976"/>
            <a:ext cx="5194878" cy="35754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SELECT * FROM users 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WHERE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FF5050"/>
                </a:solidFill>
                <a:latin typeface="Consolas" panose="020B0609020204030204" pitchFamily="49" charset="0"/>
              </a:rPr>
              <a:t>login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'admin' 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--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'</a:t>
            </a:r>
            <a:endParaRPr lang="ru-RU" sz="1500" dirty="0">
              <a:solidFill>
                <a:srgbClr val="ABE338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5D2B83-5FB0-C761-9D46-ACED47B47D57}"/>
              </a:ext>
            </a:extLst>
          </p:cNvPr>
          <p:cNvSpPr txBox="1"/>
          <p:nvPr/>
        </p:nvSpPr>
        <p:spPr>
          <a:xfrm>
            <a:off x="815479" y="4206909"/>
            <a:ext cx="4844143" cy="579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В SQL два минуса — это </a:t>
            </a:r>
            <a:r>
              <a:rPr lang="ru-RU" sz="1583" dirty="0" smtClean="0">
                <a:latin typeface="Corbel" panose="020B0503020204020204" pitchFamily="34" charset="0"/>
              </a:rPr>
              <a:t>комментарий, т. е. </a:t>
            </a:r>
            <a:r>
              <a:rPr lang="ru-RU" sz="1583" dirty="0">
                <a:latin typeface="Corbel" panose="020B0503020204020204" pitchFamily="34" charset="0"/>
              </a:rPr>
              <a:t>в</a:t>
            </a:r>
            <a:r>
              <a:rPr lang="ru-RU" sz="1583" dirty="0" smtClean="0">
                <a:latin typeface="Corbel" panose="020B0503020204020204" pitchFamily="34" charset="0"/>
              </a:rPr>
              <a:t>сё </a:t>
            </a:r>
            <a:r>
              <a:rPr lang="ru-RU" sz="1583" dirty="0">
                <a:latin typeface="Corbel" panose="020B0503020204020204" pitchFamily="34" charset="0"/>
              </a:rPr>
              <a:t>что дальше — игнорируется. То есть запрос становится: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DDDB0F-4C73-D8A1-E03E-F28E3DD8AE99}"/>
              </a:ext>
            </a:extLst>
          </p:cNvPr>
          <p:cNvSpPr txBox="1"/>
          <p:nvPr/>
        </p:nvSpPr>
        <p:spPr>
          <a:xfrm>
            <a:off x="6295159" y="4317895"/>
            <a:ext cx="5194878" cy="35754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SELECT * FROM users 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WHERE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FF5050"/>
                </a:solidFill>
                <a:latin typeface="Consolas" panose="020B0609020204030204" pitchFamily="49" charset="0"/>
              </a:rPr>
              <a:t>login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'admin'</a:t>
            </a:r>
            <a:endParaRPr lang="ru-RU" sz="1500" dirty="0">
              <a:solidFill>
                <a:srgbClr val="ABE338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BF724F-855A-BE31-64E7-3724AF1E57BC}"/>
              </a:ext>
            </a:extLst>
          </p:cNvPr>
          <p:cNvSpPr txBox="1"/>
          <p:nvPr/>
        </p:nvSpPr>
        <p:spPr>
          <a:xfrm>
            <a:off x="815479" y="4923953"/>
            <a:ext cx="4963968" cy="579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solidFill>
                  <a:srgbClr val="FF0000"/>
                </a:solidFill>
                <a:latin typeface="Corbel" panose="020B0503020204020204" pitchFamily="34" charset="0"/>
              </a:rPr>
              <a:t>Запрос вернет </a:t>
            </a:r>
            <a:r>
              <a:rPr lang="ru-RU" sz="1583" dirty="0" smtClean="0">
                <a:solidFill>
                  <a:srgbClr val="FF0000"/>
                </a:solidFill>
                <a:latin typeface="Corbel" panose="020B0503020204020204" pitchFamily="34" charset="0"/>
              </a:rPr>
              <a:t>данные, для пользователя с логином </a:t>
            </a:r>
            <a:r>
              <a:rPr lang="en-US" sz="1583" dirty="0" smtClean="0">
                <a:solidFill>
                  <a:srgbClr val="FF0000"/>
                </a:solidFill>
                <a:latin typeface="Corbel" panose="020B0503020204020204" pitchFamily="34" charset="0"/>
              </a:rPr>
              <a:t>admin,</a:t>
            </a:r>
            <a:r>
              <a:rPr lang="ru-RU" sz="1583" dirty="0" smtClean="0">
                <a:solidFill>
                  <a:srgbClr val="FF0000"/>
                </a:solidFill>
                <a:latin typeface="Corbel" panose="020B0503020204020204" pitchFamily="34" charset="0"/>
              </a:rPr>
              <a:t> БЕЗ аутентификации.</a:t>
            </a:r>
            <a:endParaRPr lang="ru-RU" sz="1583" dirty="0">
              <a:solidFill>
                <a:srgbClr val="FF0000"/>
              </a:solidFill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937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936F322-A97E-E8F1-92F2-339B9FBDE491}"/>
              </a:ext>
            </a:extLst>
          </p:cNvPr>
          <p:cNvSpPr txBox="1"/>
          <p:nvPr/>
        </p:nvSpPr>
        <p:spPr>
          <a:xfrm>
            <a:off x="875394" y="1775104"/>
            <a:ext cx="4963968" cy="33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b="1" dirty="0">
                <a:latin typeface="Corbel" panose="020B0503020204020204" pitchFamily="34" charset="0"/>
              </a:rPr>
              <a:t>Решение — </a:t>
            </a:r>
            <a:r>
              <a:rPr lang="en-US" sz="1583" b="1" dirty="0" err="1">
                <a:latin typeface="Corbel" panose="020B0503020204020204" pitchFamily="34" charset="0"/>
              </a:rPr>
              <a:t>PreparedStatement</a:t>
            </a:r>
            <a:r>
              <a:rPr lang="en-US" sz="1583" b="1" dirty="0">
                <a:latin typeface="Corbel" panose="020B0503020204020204" pitchFamily="34" charset="0"/>
              </a:rPr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FE3815-D91F-7BF8-EBB9-E285FF717D19}"/>
              </a:ext>
            </a:extLst>
          </p:cNvPr>
          <p:cNvSpPr txBox="1"/>
          <p:nvPr/>
        </p:nvSpPr>
        <p:spPr>
          <a:xfrm>
            <a:off x="6263409" y="2563958"/>
            <a:ext cx="5194878" cy="16344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String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FF5050"/>
                </a:solidFill>
                <a:latin typeface="Consolas" panose="020B0609020204030204" pitchFamily="49" charset="0"/>
              </a:rPr>
              <a:t>sql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"SELECT * FROM users WHERE login = ?"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 err="1">
                <a:solidFill>
                  <a:srgbClr val="FFC000"/>
                </a:solidFill>
                <a:latin typeface="Consolas" panose="020B0609020204030204" pitchFamily="49" charset="0"/>
              </a:rPr>
              <a:t>PreparedStatement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FF5050"/>
                </a:solidFill>
                <a:latin typeface="Consolas" panose="020B0609020204030204" pitchFamily="49" charset="0"/>
              </a:rPr>
              <a:t>pstmt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conn.prepareStatement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sql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pstmt.setString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1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userInput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pstmt.executeQuery</a:t>
            </a: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BAE283-CC1A-82FE-58A4-89BC1DC3AB95}"/>
              </a:ext>
            </a:extLst>
          </p:cNvPr>
          <p:cNvSpPr txBox="1"/>
          <p:nvPr/>
        </p:nvSpPr>
        <p:spPr>
          <a:xfrm>
            <a:off x="830779" y="2563958"/>
            <a:ext cx="5053198" cy="2528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Вместо того чтобы конкатенировать строки, мы используем </a:t>
            </a:r>
            <a:r>
              <a:rPr lang="ru-RU" sz="1583" dirty="0" err="1">
                <a:latin typeface="Corbel" panose="020B0503020204020204" pitchFamily="34" charset="0"/>
              </a:rPr>
              <a:t>плейсхолдер</a:t>
            </a:r>
            <a:r>
              <a:rPr lang="ru-RU" sz="1583" dirty="0">
                <a:latin typeface="Corbel" panose="020B0503020204020204" pitchFamily="34" charset="0"/>
              </a:rPr>
              <a:t> — знак вопроса '?'.</a:t>
            </a:r>
          </a:p>
          <a:p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dirty="0">
                <a:latin typeface="Corbel" panose="020B0503020204020204" pitchFamily="34" charset="0"/>
              </a:rPr>
              <a:t>Потом мы передаем параметр отдельно через </a:t>
            </a:r>
            <a:r>
              <a:rPr lang="ru-RU" sz="1583" dirty="0" err="1">
                <a:latin typeface="Corbel" panose="020B0503020204020204" pitchFamily="34" charset="0"/>
              </a:rPr>
              <a:t>setString</a:t>
            </a:r>
            <a:r>
              <a:rPr lang="ru-RU" sz="1583" dirty="0">
                <a:latin typeface="Corbel" panose="020B0503020204020204" pitchFamily="34" charset="0"/>
              </a:rPr>
              <a:t>(). JDBC сам экранирует все </a:t>
            </a:r>
            <a:r>
              <a:rPr lang="ru-RU" sz="1583" dirty="0" smtClean="0">
                <a:latin typeface="Corbel" panose="020B0503020204020204" pitchFamily="34" charset="0"/>
              </a:rPr>
              <a:t>спецсимволы.</a:t>
            </a:r>
            <a:endParaRPr lang="ru-RU" sz="1583" dirty="0">
              <a:latin typeface="Corbel" panose="020B0503020204020204" pitchFamily="34" charset="0"/>
            </a:endParaRPr>
          </a:p>
          <a:p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dirty="0">
                <a:latin typeface="Corbel" panose="020B0503020204020204" pitchFamily="34" charset="0"/>
              </a:rPr>
              <a:t>Правило: НИКОГДА не конкатенируйте параметры в SQL. ВСЕГДА используйте </a:t>
            </a:r>
            <a:r>
              <a:rPr lang="ru-RU" sz="1583" dirty="0" err="1">
                <a:latin typeface="Corbel" panose="020B0503020204020204" pitchFamily="34" charset="0"/>
              </a:rPr>
              <a:t>PreparedStatement</a:t>
            </a:r>
            <a:r>
              <a:rPr lang="ru-RU" sz="1583" dirty="0">
                <a:latin typeface="Corbel" panose="020B0503020204020204" pitchFamily="34" charset="0"/>
              </a:rPr>
              <a:t> с </a:t>
            </a:r>
            <a:r>
              <a:rPr lang="ru-RU" sz="1583" dirty="0" err="1">
                <a:latin typeface="Corbel" panose="020B0503020204020204" pitchFamily="34" charset="0"/>
              </a:rPr>
              <a:t>плейсхолдерами</a:t>
            </a:r>
            <a:r>
              <a:rPr lang="ru-RU" sz="1583" dirty="0">
                <a:latin typeface="Corbel" panose="020B0503020204020204" pitchFamily="34" charset="0"/>
              </a:rPr>
              <a:t>."</a:t>
            </a:r>
          </a:p>
          <a:p>
            <a:endParaRPr lang="ru-RU" sz="1583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0752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9683E9-30D2-31DC-8062-034CFE0F611B}"/>
              </a:ext>
            </a:extLst>
          </p:cNvPr>
          <p:cNvSpPr txBox="1"/>
          <p:nvPr/>
        </p:nvSpPr>
        <p:spPr>
          <a:xfrm>
            <a:off x="3968750" y="471028"/>
            <a:ext cx="42545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rgbClr val="0F1115"/>
                </a:solidFill>
                <a:latin typeface="Bahnschrift SemiBold" panose="020B0502040204020203" pitchFamily="34" charset="0"/>
              </a:rPr>
              <a:t>CONNECTION POOLING</a:t>
            </a:r>
            <a:endParaRPr lang="ru-RU" sz="3000" dirty="0">
              <a:latin typeface="Bahnschrift SemiBold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B09755-268F-5304-1A74-19D0F668F2ED}"/>
              </a:ext>
            </a:extLst>
          </p:cNvPr>
          <p:cNvSpPr txBox="1"/>
          <p:nvPr/>
        </p:nvSpPr>
        <p:spPr>
          <a:xfrm>
            <a:off x="1748517" y="1224586"/>
            <a:ext cx="8694964" cy="1066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Следующая проблема — производительность.</a:t>
            </a:r>
          </a:p>
          <a:p>
            <a:r>
              <a:rPr lang="ru-RU" sz="1583" dirty="0">
                <a:latin typeface="Corbel" panose="020B0503020204020204" pitchFamily="34" charset="0"/>
              </a:rPr>
              <a:t>Создание соединения к базе данных — это </a:t>
            </a:r>
            <a:r>
              <a:rPr lang="ru-RU" sz="1583" dirty="0" smtClean="0">
                <a:latin typeface="Corbel" panose="020B0503020204020204" pitchFamily="34" charset="0"/>
              </a:rPr>
              <a:t>достаточно медленно.</a:t>
            </a:r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dirty="0">
                <a:latin typeface="Corbel" panose="020B0503020204020204" pitchFamily="34" charset="0"/>
              </a:rPr>
              <a:t>Потому что нужно установить TCP соединение, авторизоваться в БД, инициализировать сессию. Решение — Connection Pool.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08A611-9BC3-E08D-EA13-7BB87B76E2E9}"/>
              </a:ext>
            </a:extLst>
          </p:cNvPr>
          <p:cNvSpPr txBox="1"/>
          <p:nvPr/>
        </p:nvSpPr>
        <p:spPr>
          <a:xfrm>
            <a:off x="2737304" y="2456997"/>
            <a:ext cx="1292678" cy="33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b="1" dirty="0">
                <a:latin typeface="Corbel" panose="020B0503020204020204" pitchFamily="34" charset="0"/>
              </a:rPr>
              <a:t>Без </a:t>
            </a:r>
            <a:r>
              <a:rPr lang="en-US" sz="1583" b="1" dirty="0">
                <a:latin typeface="Corbel" panose="020B0503020204020204" pitchFamily="34" charset="0"/>
              </a:rPr>
              <a:t>pooling:</a:t>
            </a:r>
            <a:endParaRPr lang="ru-RU" sz="1583" b="1" dirty="0">
              <a:latin typeface="Corbel" panose="020B05030202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459E43-283B-FE36-4116-1DF0F259653A}"/>
              </a:ext>
            </a:extLst>
          </p:cNvPr>
          <p:cNvSpPr txBox="1"/>
          <p:nvPr/>
        </p:nvSpPr>
        <p:spPr>
          <a:xfrm>
            <a:off x="857250" y="2895076"/>
            <a:ext cx="5052787" cy="2032329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Запрос 1: создать соединение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100ms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execute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1ms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закрыть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Запрос 2: создать соединение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100ms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execute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1ms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закрыть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Запрос 1000: создать соединение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100ms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execute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1ms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закрыть</a:t>
            </a:r>
          </a:p>
          <a:p>
            <a:endParaRPr lang="ru-RU" sz="1417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Итого: 100+ секунд!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EDFF2E-925F-48F5-EC0C-3B253939E316}"/>
              </a:ext>
            </a:extLst>
          </p:cNvPr>
          <p:cNvSpPr txBox="1"/>
          <p:nvPr/>
        </p:nvSpPr>
        <p:spPr>
          <a:xfrm>
            <a:off x="7406821" y="2450500"/>
            <a:ext cx="2803072" cy="33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b="1" dirty="0">
                <a:latin typeface="Corbel" panose="020B0503020204020204" pitchFamily="34" charset="0"/>
              </a:rPr>
              <a:t>С </a:t>
            </a:r>
            <a:r>
              <a:rPr lang="en-US" sz="1583" b="1" dirty="0">
                <a:latin typeface="Corbel" panose="020B0503020204020204" pitchFamily="34" charset="0"/>
              </a:rPr>
              <a:t>Connection Pool (</a:t>
            </a:r>
            <a:r>
              <a:rPr lang="en-US" sz="1583" b="1" dirty="0" err="1">
                <a:latin typeface="Corbel" panose="020B0503020204020204" pitchFamily="34" charset="0"/>
              </a:rPr>
              <a:t>HikariCP</a:t>
            </a:r>
            <a:r>
              <a:rPr lang="en-US" sz="1583" b="1" dirty="0">
                <a:latin typeface="Corbel" panose="020B0503020204020204" pitchFamily="34" charset="0"/>
              </a:rPr>
              <a:t>):</a:t>
            </a:r>
            <a:endParaRPr lang="ru-RU" sz="1583" b="1" dirty="0">
              <a:latin typeface="Corbel" panose="020B0503020204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9D5785-E822-DC8A-EE0C-AE02039C20E2}"/>
              </a:ext>
            </a:extLst>
          </p:cNvPr>
          <p:cNvSpPr txBox="1"/>
          <p:nvPr/>
        </p:nvSpPr>
        <p:spPr>
          <a:xfrm>
            <a:off x="6281963" y="2895076"/>
            <a:ext cx="5052787" cy="275614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Инициализация: создать 10 готовых соединений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200ms 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один раз)</a:t>
            </a:r>
          </a:p>
          <a:p>
            <a:endParaRPr lang="ru-RU" sz="1417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Запрос 1: взять из пула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0.1ms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execute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1ms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вернуть в пул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Запрос 2: взять из пула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0.1ms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execute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1ms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вернуть в пул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Запрос 1000: взять из пула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0.1ms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execute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~</a:t>
            </a:r>
            <a:r>
              <a:rPr lang="ru-RU" sz="1417" dirty="0" smtClean="0">
                <a:solidFill>
                  <a:schemeClr val="bg1"/>
                </a:solidFill>
                <a:latin typeface="Consolas" panose="020B0609020204030204" pitchFamily="49" charset="0"/>
              </a:rPr>
              <a:t>1ms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 → вернуть в пул</a:t>
            </a:r>
          </a:p>
          <a:p>
            <a:endParaRPr lang="ru-RU" sz="1417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Итого: 1-2 секунды!</a:t>
            </a:r>
          </a:p>
        </p:txBody>
      </p:sp>
    </p:spTree>
    <p:extLst>
      <p:ext uri="{BB962C8B-B14F-4D97-AF65-F5344CB8AC3E}">
        <p14:creationId xmlns:p14="http://schemas.microsoft.com/office/powerpoint/2010/main" val="180194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12FD95E-2EF4-AFB5-E918-382258E472C9}"/>
              </a:ext>
            </a:extLst>
          </p:cNvPr>
          <p:cNvSpPr txBox="1"/>
          <p:nvPr/>
        </p:nvSpPr>
        <p:spPr>
          <a:xfrm>
            <a:off x="725714" y="705483"/>
            <a:ext cx="27803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accent1">
                    <a:lumMod val="75000"/>
                  </a:schemeClr>
                </a:solidFill>
                <a:latin typeface="Bahnschrift SemiBold" panose="020B0502040204020203" pitchFamily="34" charset="0"/>
              </a:rPr>
              <a:t>DAO PATTERN</a:t>
            </a:r>
            <a:endParaRPr lang="ru-RU" sz="3000" dirty="0">
              <a:solidFill>
                <a:schemeClr val="accent1">
                  <a:lumMod val="75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CFDCA9-A711-E443-AFCF-B9F3632D7C7A}"/>
              </a:ext>
            </a:extLst>
          </p:cNvPr>
          <p:cNvSpPr txBox="1"/>
          <p:nvPr/>
        </p:nvSpPr>
        <p:spPr>
          <a:xfrm>
            <a:off x="725713" y="1683602"/>
            <a:ext cx="461240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smtClean="0">
                <a:latin typeface="Corbel" panose="020B0503020204020204" pitchFamily="34" charset="0"/>
              </a:rPr>
              <a:t>Допустим</a:t>
            </a:r>
            <a:r>
              <a:rPr lang="ru-RU" sz="1500" dirty="0">
                <a:latin typeface="Corbel" panose="020B0503020204020204" pitchFamily="34" charset="0"/>
              </a:rPr>
              <a:t>, у вас есть </a:t>
            </a:r>
            <a:r>
              <a:rPr lang="ru-RU" sz="1500" dirty="0" err="1" smtClean="0">
                <a:latin typeface="Corbel" panose="020B0503020204020204" pitchFamily="34" charset="0"/>
              </a:rPr>
              <a:t>OrderService</a:t>
            </a:r>
            <a:r>
              <a:rPr lang="ru-RU" sz="1500" dirty="0" smtClean="0">
                <a:latin typeface="Corbel" panose="020B0503020204020204" pitchFamily="34" charset="0"/>
              </a:rPr>
              <a:t>, где вы производите различные сложные операции с заказами, внутри которых выполняете </a:t>
            </a:r>
            <a:r>
              <a:rPr lang="en-US" sz="1500" dirty="0" smtClean="0">
                <a:latin typeface="Corbel" panose="020B0503020204020204" pitchFamily="34" charset="0"/>
              </a:rPr>
              <a:t>SQL</a:t>
            </a:r>
            <a:r>
              <a:rPr lang="ru-RU" sz="1500" dirty="0" smtClean="0">
                <a:latin typeface="Corbel" panose="020B0503020204020204" pitchFamily="34" charset="0"/>
              </a:rPr>
              <a:t> запросы:</a:t>
            </a:r>
            <a:endParaRPr lang="ru-RU" sz="1500" dirty="0">
              <a:latin typeface="Corbel" panose="020B0503020204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B25DE8-917C-CBBF-06CA-2F85E9610D35}"/>
              </a:ext>
            </a:extLst>
          </p:cNvPr>
          <p:cNvSpPr txBox="1"/>
          <p:nvPr/>
        </p:nvSpPr>
        <p:spPr>
          <a:xfrm>
            <a:off x="6059714" y="982482"/>
            <a:ext cx="5406572" cy="516886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class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OrderService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public void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createOrder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(Order order) 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Connection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conn = ...;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PreparedStatement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pstmt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conn.prepareStatement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1417" dirty="0">
                <a:solidFill>
                  <a:srgbClr val="ABE338"/>
                </a:solidFill>
                <a:latin typeface="Consolas" panose="020B0609020204030204" pitchFamily="49" charset="0"/>
              </a:rPr>
              <a:t>            "INSERT INTO orders ..."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);</a:t>
            </a:r>
          </a:p>
          <a:p>
            <a:r>
              <a:rPr lang="en-US" sz="1417" dirty="0">
                <a:solidFill>
                  <a:srgbClr val="DDDDDD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>
                <a:solidFill>
                  <a:srgbClr val="EBE2CF"/>
                </a:solidFill>
                <a:latin typeface="Consolas" panose="020B0609020204030204" pitchFamily="49" charset="0"/>
              </a:rPr>
              <a:t>// 20 </a:t>
            </a:r>
            <a:r>
              <a:rPr lang="ru-RU" sz="1417" dirty="0">
                <a:solidFill>
                  <a:srgbClr val="EBE2CF"/>
                </a:solidFill>
                <a:latin typeface="Consolas" panose="020B0609020204030204" pitchFamily="49" charset="0"/>
              </a:rPr>
              <a:t>строк </a:t>
            </a:r>
            <a:r>
              <a:rPr lang="en-US" sz="1417" dirty="0">
                <a:solidFill>
                  <a:srgbClr val="EBE2CF"/>
                </a:solidFill>
                <a:latin typeface="Consolas" panose="020B0609020204030204" pitchFamily="49" charset="0"/>
              </a:rPr>
              <a:t>SQL </a:t>
            </a:r>
            <a:r>
              <a:rPr lang="ru-RU" sz="1417" dirty="0">
                <a:solidFill>
                  <a:srgbClr val="EBE2CF"/>
                </a:solidFill>
                <a:latin typeface="Consolas" panose="020B0609020204030204" pitchFamily="49" charset="0"/>
              </a:rPr>
              <a:t>кода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...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public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Order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getOrder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(Long id) 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Connection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conn = ...;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PreparedStatement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pstmt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conn.prepareStatement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1417" dirty="0">
                <a:solidFill>
                  <a:srgbClr val="ABE338"/>
                </a:solidFill>
                <a:latin typeface="Consolas" panose="020B0609020204030204" pitchFamily="49" charset="0"/>
              </a:rPr>
              <a:t>            "SELECT * FROM orders WHERE id = ?"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);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>
                <a:solidFill>
                  <a:srgbClr val="EBE2CF"/>
                </a:solidFill>
                <a:latin typeface="Consolas" panose="020B0609020204030204" pitchFamily="49" charset="0"/>
              </a:rPr>
              <a:t>// </a:t>
            </a:r>
            <a:r>
              <a:rPr lang="ru-RU" sz="1417" dirty="0">
                <a:solidFill>
                  <a:srgbClr val="EBE2CF"/>
                </a:solidFill>
                <a:latin typeface="Consolas" panose="020B0609020204030204" pitchFamily="49" charset="0"/>
              </a:rPr>
              <a:t>Еще 15 строк </a:t>
            </a:r>
            <a:r>
              <a:rPr lang="en-US" sz="1417" dirty="0">
                <a:solidFill>
                  <a:srgbClr val="EBE2CF"/>
                </a:solidFill>
                <a:latin typeface="Consolas" panose="020B0609020204030204" pitchFamily="49" charset="0"/>
              </a:rPr>
              <a:t>SQL </a:t>
            </a:r>
            <a:r>
              <a:rPr lang="ru-RU" sz="1417" dirty="0">
                <a:solidFill>
                  <a:srgbClr val="EBE2CF"/>
                </a:solidFill>
                <a:latin typeface="Consolas" panose="020B0609020204030204" pitchFamily="49" charset="0"/>
              </a:rPr>
              <a:t>кода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...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DB344D-94EA-6A7B-0454-F2D921DBAA34}"/>
              </a:ext>
            </a:extLst>
          </p:cNvPr>
          <p:cNvSpPr txBox="1"/>
          <p:nvPr/>
        </p:nvSpPr>
        <p:spPr>
          <a:xfrm>
            <a:off x="725714" y="2597417"/>
            <a:ext cx="447675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500" dirty="0">
              <a:latin typeface="Corbel" panose="020B0503020204020204" pitchFamily="34" charset="0"/>
            </a:endParaRPr>
          </a:p>
          <a:p>
            <a:r>
              <a:rPr lang="ru-RU" sz="1500" dirty="0" smtClean="0">
                <a:latin typeface="Corbel" panose="020B0503020204020204" pitchFamily="34" charset="0"/>
              </a:rPr>
              <a:t>При добавлении все новых и новым методов для работы с заказами возникают определенные </a:t>
            </a:r>
            <a:r>
              <a:rPr lang="ru-RU" sz="1500" dirty="0" smtClean="0">
                <a:solidFill>
                  <a:srgbClr val="FF0000"/>
                </a:solidFill>
                <a:latin typeface="Corbel" panose="020B0503020204020204" pitchFamily="34" charset="0"/>
              </a:rPr>
              <a:t>п</a:t>
            </a:r>
            <a:r>
              <a:rPr lang="ru-RU" sz="1500" dirty="0" smtClean="0">
                <a:solidFill>
                  <a:srgbClr val="FF0000"/>
                </a:solidFill>
                <a:latin typeface="Corbel" panose="020B0503020204020204" pitchFamily="34" charset="0"/>
              </a:rPr>
              <a:t>роблемы</a:t>
            </a:r>
            <a:r>
              <a:rPr lang="ru-RU" sz="1500" dirty="0">
                <a:solidFill>
                  <a:srgbClr val="FF0000"/>
                </a:solidFill>
                <a:latin typeface="Corbel" panose="020B0503020204020204" pitchFamily="34" charset="0"/>
              </a:rPr>
              <a:t>:</a:t>
            </a:r>
          </a:p>
          <a:p>
            <a:endParaRPr lang="ru-RU" sz="1500" dirty="0">
              <a:latin typeface="Corbel" panose="020B0503020204020204" pitchFamily="34" charset="0"/>
            </a:endParaRPr>
          </a:p>
          <a:p>
            <a:pPr marL="238115" indent="-238115">
              <a:buFont typeface="Arial" panose="020B0604020202020204" pitchFamily="34" charset="0"/>
              <a:buChar char="•"/>
            </a:pPr>
            <a:r>
              <a:rPr lang="en-US" sz="1500" dirty="0">
                <a:latin typeface="Corbel" panose="020B0503020204020204" pitchFamily="34" charset="0"/>
              </a:rPr>
              <a:t>SQL </a:t>
            </a:r>
            <a:r>
              <a:rPr lang="ru-RU" sz="1500" dirty="0">
                <a:latin typeface="Corbel" panose="020B0503020204020204" pitchFamily="34" charset="0"/>
              </a:rPr>
              <a:t>код повторяется везде</a:t>
            </a:r>
          </a:p>
          <a:p>
            <a:pPr marL="238115" indent="-238115">
              <a:buFont typeface="Arial" panose="020B0604020202020204" pitchFamily="34" charset="0"/>
              <a:buChar char="•"/>
            </a:pPr>
            <a:r>
              <a:rPr lang="ru-RU" sz="1500" dirty="0">
                <a:latin typeface="Corbel" panose="020B0503020204020204" pitchFamily="34" charset="0"/>
              </a:rPr>
              <a:t>Если нужно поменять БД, меняете везде</a:t>
            </a:r>
          </a:p>
          <a:p>
            <a:pPr marL="238115" indent="-238115">
              <a:buFont typeface="Arial" panose="020B0604020202020204" pitchFamily="34" charset="0"/>
              <a:buChar char="•"/>
            </a:pPr>
            <a:r>
              <a:rPr lang="ru-RU" sz="1500" dirty="0">
                <a:latin typeface="Corbel" panose="020B0503020204020204" pitchFamily="34" charset="0"/>
              </a:rPr>
              <a:t>Нельзя тестировать бизнес-логику без БД</a:t>
            </a:r>
          </a:p>
          <a:p>
            <a:pPr marL="238115" indent="-238115">
              <a:buFont typeface="Arial" panose="020B0604020202020204" pitchFamily="34" charset="0"/>
              <a:buChar char="•"/>
            </a:pPr>
            <a:r>
              <a:rPr lang="ru-RU" sz="1500" dirty="0">
                <a:latin typeface="Corbel" panose="020B0503020204020204" pitchFamily="34" charset="0"/>
              </a:rPr>
              <a:t>Грязная </a:t>
            </a:r>
            <a:r>
              <a:rPr lang="ru-RU" sz="1500" dirty="0" smtClean="0">
                <a:latin typeface="Corbel" panose="020B0503020204020204" pitchFamily="34" charset="0"/>
              </a:rPr>
              <a:t>архитектура</a:t>
            </a:r>
            <a:endParaRPr lang="ru-RU" sz="1500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954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B9DEBE-CFBE-FBEF-DEAF-88F79396F2E2}"/>
              </a:ext>
            </a:extLst>
          </p:cNvPr>
          <p:cNvSpPr txBox="1"/>
          <p:nvPr/>
        </p:nvSpPr>
        <p:spPr>
          <a:xfrm>
            <a:off x="830036" y="1155399"/>
            <a:ext cx="3995964" cy="1310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b="1" dirty="0">
                <a:solidFill>
                  <a:schemeClr val="accent6">
                    <a:lumMod val="75000"/>
                  </a:schemeClr>
                </a:solidFill>
                <a:latin typeface="Corbel" panose="020B0503020204020204" pitchFamily="34" charset="0"/>
              </a:rPr>
              <a:t>Правильный способ — DAO </a:t>
            </a:r>
            <a:r>
              <a:rPr lang="ru-RU" sz="1583" b="1" dirty="0" err="1">
                <a:solidFill>
                  <a:schemeClr val="accent6">
                    <a:lumMod val="75000"/>
                  </a:schemeClr>
                </a:solidFill>
                <a:latin typeface="Corbel" panose="020B0503020204020204" pitchFamily="34" charset="0"/>
              </a:rPr>
              <a:t>Pattern</a:t>
            </a:r>
            <a:r>
              <a:rPr lang="ru-RU" sz="1583" b="1" dirty="0">
                <a:solidFill>
                  <a:schemeClr val="accent6">
                    <a:lumMod val="75000"/>
                  </a:schemeClr>
                </a:solidFill>
                <a:latin typeface="Corbel" panose="020B0503020204020204" pitchFamily="34" charset="0"/>
              </a:rPr>
              <a:t>:</a:t>
            </a:r>
          </a:p>
          <a:p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dirty="0">
                <a:latin typeface="Corbel" panose="020B0503020204020204" pitchFamily="34" charset="0"/>
              </a:rPr>
              <a:t>Вы создаете отдельный класс </a:t>
            </a:r>
            <a:r>
              <a:rPr lang="ru-RU" sz="1583" dirty="0" err="1">
                <a:latin typeface="Corbel" panose="020B0503020204020204" pitchFamily="34" charset="0"/>
              </a:rPr>
              <a:t>OrderDAO</a:t>
            </a:r>
            <a:r>
              <a:rPr lang="ru-RU" sz="1583" dirty="0">
                <a:latin typeface="Corbel" panose="020B0503020204020204" pitchFamily="34" charset="0"/>
              </a:rPr>
              <a:t>, который содержит ВСЕ SQL операции с заказами: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40D518-0EFE-B7C5-B0D3-5E4D37D8A97D}"/>
              </a:ext>
            </a:extLst>
          </p:cNvPr>
          <p:cNvSpPr txBox="1"/>
          <p:nvPr/>
        </p:nvSpPr>
        <p:spPr>
          <a:xfrm>
            <a:off x="5601608" y="612626"/>
            <a:ext cx="6096000" cy="5892677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class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OrderService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private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public void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createOrder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(Order order)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orderDAO.save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(order);  // 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Просто!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public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Order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getOrder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(Long id) 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return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orderDAO.findById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(id);  // 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Просто!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sz="1417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class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OrderDAO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public void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save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(Order order) 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// SQL 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код только здесь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conn.prepareStatement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>
                <a:solidFill>
                  <a:srgbClr val="ABE338"/>
                </a:solidFill>
                <a:latin typeface="Consolas" panose="020B0609020204030204" pitchFamily="49" charset="0"/>
              </a:rPr>
              <a:t>"INSERT INTO orders ..."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public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Order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findById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(Long id) 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// SQL 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код только здесь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/>
            </a:r>
            <a:b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</a:br>
            <a:endParaRPr lang="ru-RU" sz="1417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A26DCF-91E0-BFC1-8926-B015DC23AE59}"/>
              </a:ext>
            </a:extLst>
          </p:cNvPr>
          <p:cNvSpPr txBox="1"/>
          <p:nvPr/>
        </p:nvSpPr>
        <p:spPr>
          <a:xfrm>
            <a:off x="830036" y="2782187"/>
            <a:ext cx="3637643" cy="2284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b="1" dirty="0">
                <a:solidFill>
                  <a:schemeClr val="accent6">
                    <a:lumMod val="75000"/>
                  </a:schemeClr>
                </a:solidFill>
                <a:latin typeface="Corbel" panose="020B0503020204020204" pitchFamily="34" charset="0"/>
              </a:rPr>
              <a:t>Преимущества:</a:t>
            </a:r>
          </a:p>
          <a:p>
            <a:endParaRPr lang="ru-RU" sz="1583" dirty="0">
              <a:latin typeface="Corbel" panose="020B0503020204020204" pitchFamily="34" charset="0"/>
            </a:endParaRPr>
          </a:p>
          <a:p>
            <a:pPr marL="285739" indent="-285739">
              <a:buFont typeface="Arial" panose="020B0604020202020204" pitchFamily="34" charset="0"/>
              <a:buChar char="•"/>
            </a:pPr>
            <a:r>
              <a:rPr lang="ru-RU" sz="1583" dirty="0">
                <a:latin typeface="Corbel" panose="020B0503020204020204" pitchFamily="34" charset="0"/>
              </a:rPr>
              <a:t>SQL код в одном месте</a:t>
            </a:r>
          </a:p>
          <a:p>
            <a:pPr marL="285739" indent="-285739">
              <a:buFont typeface="Arial" panose="020B0604020202020204" pitchFamily="34" charset="0"/>
              <a:buChar char="•"/>
            </a:pPr>
            <a:r>
              <a:rPr lang="ru-RU" sz="1583" dirty="0">
                <a:latin typeface="Corbel" panose="020B0503020204020204" pitchFamily="34" charset="0"/>
              </a:rPr>
              <a:t>Бизнес-логика отделена от БД</a:t>
            </a:r>
          </a:p>
          <a:p>
            <a:pPr marL="285739" indent="-285739">
              <a:buFont typeface="Arial" panose="020B0604020202020204" pitchFamily="34" charset="0"/>
              <a:buChar char="•"/>
            </a:pPr>
            <a:r>
              <a:rPr lang="ru-RU" sz="1583" dirty="0">
                <a:latin typeface="Corbel" panose="020B0503020204020204" pitchFamily="34" charset="0"/>
              </a:rPr>
              <a:t>Легко менять БД (</a:t>
            </a:r>
            <a:r>
              <a:rPr lang="ru-RU" sz="1583" dirty="0" smtClean="0">
                <a:latin typeface="Corbel" panose="020B0503020204020204" pitchFamily="34" charset="0"/>
              </a:rPr>
              <a:t>переписываете </a:t>
            </a:r>
            <a:r>
              <a:rPr lang="ru-RU" sz="1583" dirty="0">
                <a:latin typeface="Corbel" panose="020B0503020204020204" pitchFamily="34" charset="0"/>
              </a:rPr>
              <a:t>только DAO)</a:t>
            </a:r>
          </a:p>
          <a:p>
            <a:pPr marL="285739" indent="-285739">
              <a:buFont typeface="Arial" panose="020B0604020202020204" pitchFamily="34" charset="0"/>
              <a:buChar char="•"/>
            </a:pPr>
            <a:r>
              <a:rPr lang="ru-RU" sz="1583" dirty="0">
                <a:latin typeface="Corbel" panose="020B0503020204020204" pitchFamily="34" charset="0"/>
              </a:rPr>
              <a:t>Легко тестировать (можешь подделать DAO в тестах)</a:t>
            </a:r>
          </a:p>
          <a:p>
            <a:pPr marL="285739" indent="-285739">
              <a:buFont typeface="Arial" panose="020B0604020202020204" pitchFamily="34" charset="0"/>
              <a:buChar char="•"/>
            </a:pPr>
            <a:r>
              <a:rPr lang="ru-RU" sz="1583" dirty="0">
                <a:latin typeface="Corbel" panose="020B0503020204020204" pitchFamily="34" charset="0"/>
              </a:rPr>
              <a:t>Чистая </a:t>
            </a:r>
            <a:r>
              <a:rPr lang="ru-RU" sz="1583" dirty="0" smtClean="0">
                <a:latin typeface="Corbel" panose="020B0503020204020204" pitchFamily="34" charset="0"/>
              </a:rPr>
              <a:t>архитектура</a:t>
            </a:r>
            <a:endParaRPr lang="ru-RU" sz="1583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078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A567E-FD56-F0E5-FDF5-57030584E979}"/>
              </a:ext>
            </a:extLst>
          </p:cNvPr>
          <p:cNvSpPr txBox="1"/>
          <p:nvPr/>
        </p:nvSpPr>
        <p:spPr>
          <a:xfrm>
            <a:off x="4674054" y="705549"/>
            <a:ext cx="28438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000" dirty="0">
                <a:latin typeface="Bahnschrift SemiBold" panose="020B0502040204020203" pitchFamily="34" charset="0"/>
              </a:rPr>
              <a:t>ТРАНЗАКЦИИ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02FD89-AC40-1E04-8F3E-DD3D22CF61A3}"/>
              </a:ext>
            </a:extLst>
          </p:cNvPr>
          <p:cNvSpPr txBox="1"/>
          <p:nvPr/>
        </p:nvSpPr>
        <p:spPr>
          <a:xfrm>
            <a:off x="2333623" y="1883246"/>
            <a:ext cx="7914823" cy="1310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Представьте реальный сценарий: вы создаете заказ в магазине. Нужно сделать две операции:</a:t>
            </a:r>
          </a:p>
          <a:p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dirty="0">
                <a:latin typeface="Corbel" panose="020B0503020204020204" pitchFamily="34" charset="0"/>
              </a:rPr>
              <a:t>Вставить запись в таблицу </a:t>
            </a:r>
            <a:r>
              <a:rPr lang="ru-RU" sz="1583" dirty="0" err="1">
                <a:latin typeface="Corbel" panose="020B0503020204020204" pitchFamily="34" charset="0"/>
              </a:rPr>
              <a:t>orders</a:t>
            </a:r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dirty="0">
                <a:latin typeface="Corbel" panose="020B0503020204020204" pitchFamily="34" charset="0"/>
              </a:rPr>
              <a:t>Уменьшить количество товара </a:t>
            </a:r>
            <a:r>
              <a:rPr lang="ru-RU" sz="1583" dirty="0" smtClean="0">
                <a:latin typeface="Corbel" panose="020B0503020204020204" pitchFamily="34" charset="0"/>
              </a:rPr>
              <a:t>на </a:t>
            </a:r>
            <a:r>
              <a:rPr lang="ru-RU" sz="1583" dirty="0">
                <a:latin typeface="Corbel" panose="020B0503020204020204" pitchFamily="34" charset="0"/>
              </a:rPr>
              <a:t>5 единиц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1A310B-8498-5517-A614-9786ED28DC18}"/>
              </a:ext>
            </a:extLst>
          </p:cNvPr>
          <p:cNvSpPr txBox="1"/>
          <p:nvPr/>
        </p:nvSpPr>
        <p:spPr>
          <a:xfrm>
            <a:off x="2333622" y="3364233"/>
            <a:ext cx="1977572" cy="33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Без транзакций: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69D05E-A954-721D-A91F-B0D94176332D}"/>
              </a:ext>
            </a:extLst>
          </p:cNvPr>
          <p:cNvSpPr txBox="1"/>
          <p:nvPr/>
        </p:nvSpPr>
        <p:spPr>
          <a:xfrm>
            <a:off x="2333623" y="3969724"/>
            <a:ext cx="6447521" cy="612934"/>
          </a:xfrm>
          <a:prstGeom prst="round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1. 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INSERT INTO orders 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... -- </a:t>
            </a:r>
            <a:r>
              <a:rPr lang="ru-RU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успешно</a:t>
            </a:r>
            <a:endParaRPr lang="ru-RU" sz="15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FFC000"/>
                </a:solidFill>
                <a:latin typeface="Consolas" panose="020B0609020204030204" pitchFamily="49" charset="0"/>
              </a:rPr>
              <a:t>2. 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UPDATE products 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SET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FF5050"/>
                </a:solidFill>
                <a:latin typeface="Consolas" panose="020B0609020204030204" pitchFamily="49" charset="0"/>
              </a:rPr>
              <a:t>stock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= stock - 5 ... 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--</a:t>
            </a:r>
            <a:r>
              <a:rPr lang="ru-RU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ошибка БД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209212-8D97-7FDD-A88C-96F1CE2F3E20}"/>
              </a:ext>
            </a:extLst>
          </p:cNvPr>
          <p:cNvSpPr txBox="1"/>
          <p:nvPr/>
        </p:nvSpPr>
        <p:spPr>
          <a:xfrm>
            <a:off x="2299606" y="4866202"/>
            <a:ext cx="7883073" cy="579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 smtClean="0">
                <a:latin typeface="Corbel" panose="020B0503020204020204" pitchFamily="34" charset="0"/>
              </a:rPr>
              <a:t>В результате, з</a:t>
            </a:r>
            <a:r>
              <a:rPr lang="ru-RU" sz="1583" dirty="0" smtClean="0">
                <a:latin typeface="Corbel" panose="020B0503020204020204" pitchFamily="34" charset="0"/>
              </a:rPr>
              <a:t>аказ </a:t>
            </a:r>
            <a:r>
              <a:rPr lang="ru-RU" sz="1583" dirty="0">
                <a:latin typeface="Corbel" panose="020B0503020204020204" pitchFamily="34" charset="0"/>
              </a:rPr>
              <a:t>создан, но товар не </a:t>
            </a:r>
            <a:r>
              <a:rPr lang="ru-RU" sz="1583" dirty="0" smtClean="0">
                <a:latin typeface="Corbel" panose="020B0503020204020204" pitchFamily="34" charset="0"/>
              </a:rPr>
              <a:t>уменьшился, образовалась несогласованность данных. </a:t>
            </a:r>
            <a:r>
              <a:rPr lang="ru-RU" sz="1583" dirty="0">
                <a:latin typeface="Corbel" panose="020B0503020204020204" pitchFamily="34" charset="0"/>
              </a:rPr>
              <a:t>Это </a:t>
            </a:r>
            <a:r>
              <a:rPr lang="ru-RU" sz="1583" dirty="0" smtClean="0">
                <a:solidFill>
                  <a:srgbClr val="FF0000"/>
                </a:solidFill>
                <a:latin typeface="Corbel" panose="020B0503020204020204" pitchFamily="34" charset="0"/>
              </a:rPr>
              <a:t>проблема</a:t>
            </a:r>
            <a:r>
              <a:rPr lang="ru-RU" sz="1583" dirty="0" smtClean="0">
                <a:latin typeface="Corbel" panose="020B0503020204020204" pitchFamily="34" charset="0"/>
              </a:rPr>
              <a:t>.</a:t>
            </a:r>
            <a:endParaRPr lang="ru-RU" sz="1583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3517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5ACF4F-D9A7-D901-9BED-545F901FC00B}"/>
              </a:ext>
            </a:extLst>
          </p:cNvPr>
          <p:cNvSpPr txBox="1"/>
          <p:nvPr/>
        </p:nvSpPr>
        <p:spPr>
          <a:xfrm>
            <a:off x="562429" y="1251588"/>
            <a:ext cx="6096000" cy="4954548"/>
          </a:xfrm>
          <a:prstGeom prst="round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try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conn.setAutoCommit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false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);  // 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Отключаем </a:t>
            </a:r>
            <a:r>
              <a:rPr lang="ru-RU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автокоммит</a:t>
            </a:r>
            <a:endParaRPr lang="ru-RU" sz="15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ru-RU" sz="1500" dirty="0">
                <a:solidFill>
                  <a:srgbClr val="F3E9C7"/>
                </a:solidFill>
                <a:latin typeface="Consolas" panose="020B0609020204030204" pitchFamily="49" charset="0"/>
              </a:rPr>
              <a:t>// Операция 1</a:t>
            </a: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pstmt1.execute(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"INSERT INTO orders ..."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EBE2CF"/>
                </a:solidFill>
                <a:latin typeface="Consolas" panose="020B0609020204030204" pitchFamily="49" charset="0"/>
              </a:rPr>
              <a:t>// </a:t>
            </a:r>
            <a:r>
              <a:rPr lang="ru-RU" sz="1500" dirty="0">
                <a:solidFill>
                  <a:srgbClr val="EBE2CF"/>
                </a:solidFill>
                <a:latin typeface="Consolas" panose="020B0609020204030204" pitchFamily="49" charset="0"/>
              </a:rPr>
              <a:t>Операция 2</a:t>
            </a: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pstmt2.execute(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"UPDATE products SET stock = stock - 5 ..."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EBE2CF"/>
                </a:solidFill>
                <a:latin typeface="Consolas" panose="020B0609020204030204" pitchFamily="49" charset="0"/>
              </a:rPr>
              <a:t>// </a:t>
            </a:r>
            <a:r>
              <a:rPr lang="ru-RU" sz="1500" dirty="0">
                <a:solidFill>
                  <a:srgbClr val="EBE2CF"/>
                </a:solidFill>
                <a:latin typeface="Consolas" panose="020B0609020204030204" pitchFamily="49" charset="0"/>
              </a:rPr>
              <a:t>Всё успешно? Сохраняем ВСЕ операции</a:t>
            </a: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conn.commit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} </a:t>
            </a:r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catch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SQLException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e) {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EBE2CF"/>
                </a:solidFill>
                <a:latin typeface="Consolas" panose="020B0609020204030204" pitchFamily="49" charset="0"/>
              </a:rPr>
              <a:t>// </a:t>
            </a:r>
            <a:r>
              <a:rPr lang="ru-RU" sz="1500" dirty="0">
                <a:solidFill>
                  <a:srgbClr val="EBE2CF"/>
                </a:solidFill>
                <a:latin typeface="Consolas" panose="020B0609020204030204" pitchFamily="49" charset="0"/>
              </a:rPr>
              <a:t>Ошибка? Отменяем ВСЕ операции</a:t>
            </a: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conn.rollback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throw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e;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endParaRPr lang="ru-RU" sz="15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34CC2C-DE67-D979-E6D9-A930CC905847}"/>
              </a:ext>
            </a:extLst>
          </p:cNvPr>
          <p:cNvSpPr txBox="1"/>
          <p:nvPr/>
        </p:nvSpPr>
        <p:spPr>
          <a:xfrm>
            <a:off x="1129394" y="759876"/>
            <a:ext cx="1968648" cy="33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b="1" dirty="0">
                <a:latin typeface="Corbel" panose="020B0503020204020204" pitchFamily="34" charset="0"/>
              </a:rPr>
              <a:t>С транзакциями: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015408-351E-4D9C-6649-600B358C0026}"/>
              </a:ext>
            </a:extLst>
          </p:cNvPr>
          <p:cNvSpPr txBox="1"/>
          <p:nvPr/>
        </p:nvSpPr>
        <p:spPr>
          <a:xfrm>
            <a:off x="7107464" y="995111"/>
            <a:ext cx="4354286" cy="4720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83" dirty="0">
                <a:latin typeface="Corbel" panose="020B0503020204020204" pitchFamily="34" charset="0"/>
              </a:rPr>
              <a:t>Транзакция гарантирует ACID свойства:</a:t>
            </a:r>
          </a:p>
          <a:p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b="1" dirty="0">
                <a:latin typeface="Corbel" panose="020B0503020204020204" pitchFamily="34" charset="0"/>
              </a:rPr>
              <a:t>A — </a:t>
            </a:r>
            <a:r>
              <a:rPr lang="ru-RU" sz="1583" b="1" dirty="0" err="1">
                <a:latin typeface="Corbel" panose="020B0503020204020204" pitchFamily="34" charset="0"/>
              </a:rPr>
              <a:t>Atomicity</a:t>
            </a:r>
            <a:r>
              <a:rPr lang="ru-RU" sz="1583" b="1" dirty="0">
                <a:latin typeface="Corbel" panose="020B0503020204020204" pitchFamily="34" charset="0"/>
              </a:rPr>
              <a:t> </a:t>
            </a:r>
            <a:r>
              <a:rPr lang="ru-RU" sz="1583" dirty="0">
                <a:latin typeface="Corbel" panose="020B0503020204020204" pitchFamily="34" charset="0"/>
              </a:rPr>
              <a:t>(Атомарность): Либо обе операции успешны, либо ни одна. Не может быть </a:t>
            </a:r>
            <a:r>
              <a:rPr lang="ru-RU" sz="1583" dirty="0" err="1">
                <a:latin typeface="Corbel" panose="020B0503020204020204" pitchFamily="34" charset="0"/>
              </a:rPr>
              <a:t>полуформленного</a:t>
            </a:r>
            <a:r>
              <a:rPr lang="ru-RU" sz="1583" dirty="0">
                <a:latin typeface="Corbel" panose="020B0503020204020204" pitchFamily="34" charset="0"/>
              </a:rPr>
              <a:t> заказа.</a:t>
            </a:r>
          </a:p>
          <a:p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b="1" dirty="0">
                <a:latin typeface="Corbel" panose="020B0503020204020204" pitchFamily="34" charset="0"/>
              </a:rPr>
              <a:t>C — </a:t>
            </a:r>
            <a:r>
              <a:rPr lang="ru-RU" sz="1583" b="1" dirty="0" err="1">
                <a:latin typeface="Corbel" panose="020B0503020204020204" pitchFamily="34" charset="0"/>
              </a:rPr>
              <a:t>Consistency</a:t>
            </a:r>
            <a:r>
              <a:rPr lang="ru-RU" sz="1583" b="1" dirty="0">
                <a:latin typeface="Corbel" panose="020B0503020204020204" pitchFamily="34" charset="0"/>
              </a:rPr>
              <a:t> </a:t>
            </a:r>
            <a:r>
              <a:rPr lang="ru-RU" sz="1583" dirty="0">
                <a:latin typeface="Corbel" panose="020B0503020204020204" pitchFamily="34" charset="0"/>
              </a:rPr>
              <a:t>(Согласованность): Данные остаются в корректном состоянии. Если товара было 100, и мы уменьшили на 5, то стало 95. Не </a:t>
            </a:r>
            <a:r>
              <a:rPr lang="ru-RU" sz="1583" dirty="0" smtClean="0">
                <a:latin typeface="Corbel" panose="020B0503020204020204" pitchFamily="34" charset="0"/>
              </a:rPr>
              <a:t>может остаться 100.</a:t>
            </a:r>
            <a:endParaRPr lang="ru-RU" sz="1583" dirty="0">
              <a:latin typeface="Corbel" panose="020B0503020204020204" pitchFamily="34" charset="0"/>
            </a:endParaRPr>
          </a:p>
          <a:p>
            <a:endParaRPr lang="ru-RU" sz="1583" dirty="0">
              <a:latin typeface="Corbel" panose="020B0503020204020204" pitchFamily="34" charset="0"/>
            </a:endParaRPr>
          </a:p>
          <a:p>
            <a:r>
              <a:rPr lang="ru-RU" sz="1583" b="1" dirty="0">
                <a:latin typeface="Corbel" panose="020B0503020204020204" pitchFamily="34" charset="0"/>
              </a:rPr>
              <a:t>I — </a:t>
            </a:r>
            <a:r>
              <a:rPr lang="ru-RU" sz="1583" b="1" dirty="0" err="1">
                <a:latin typeface="Corbel" panose="020B0503020204020204" pitchFamily="34" charset="0"/>
              </a:rPr>
              <a:t>Isolation</a:t>
            </a:r>
            <a:r>
              <a:rPr lang="ru-RU" sz="1583" b="1" dirty="0">
                <a:latin typeface="Corbel" panose="020B0503020204020204" pitchFamily="34" charset="0"/>
              </a:rPr>
              <a:t> </a:t>
            </a:r>
            <a:r>
              <a:rPr lang="ru-RU" sz="1583" dirty="0">
                <a:latin typeface="Corbel" panose="020B0503020204020204" pitchFamily="34" charset="0"/>
              </a:rPr>
              <a:t>(Изоляция): Если два клиента одновременно покупают последний товар в магазине, один из них получит </a:t>
            </a:r>
            <a:r>
              <a:rPr lang="ru-RU" sz="1583" dirty="0" smtClean="0">
                <a:latin typeface="Corbel" panose="020B0503020204020204" pitchFamily="34" charset="0"/>
              </a:rPr>
              <a:t>ошибку.</a:t>
            </a:r>
          </a:p>
          <a:p>
            <a:endParaRPr lang="ru-RU" sz="1583" b="1" dirty="0">
              <a:latin typeface="Corbel" panose="020B0503020204020204" pitchFamily="34" charset="0"/>
            </a:endParaRPr>
          </a:p>
          <a:p>
            <a:r>
              <a:rPr lang="ru-RU" sz="1583" b="1" dirty="0" smtClean="0">
                <a:latin typeface="Corbel" panose="020B0503020204020204" pitchFamily="34" charset="0"/>
              </a:rPr>
              <a:t>D </a:t>
            </a:r>
            <a:r>
              <a:rPr lang="ru-RU" sz="1583" b="1" dirty="0">
                <a:latin typeface="Corbel" panose="020B0503020204020204" pitchFamily="34" charset="0"/>
              </a:rPr>
              <a:t>— </a:t>
            </a:r>
            <a:r>
              <a:rPr lang="ru-RU" sz="1583" b="1" dirty="0" err="1">
                <a:latin typeface="Corbel" panose="020B0503020204020204" pitchFamily="34" charset="0"/>
              </a:rPr>
              <a:t>Durability</a:t>
            </a:r>
            <a:r>
              <a:rPr lang="ru-RU" sz="1583" b="1" dirty="0">
                <a:latin typeface="Corbel" panose="020B0503020204020204" pitchFamily="34" charset="0"/>
              </a:rPr>
              <a:t> </a:t>
            </a:r>
            <a:r>
              <a:rPr lang="ru-RU" sz="1583" dirty="0">
                <a:latin typeface="Corbel" panose="020B0503020204020204" pitchFamily="34" charset="0"/>
              </a:rPr>
              <a:t>(Надежность): Когда вы выполнили </a:t>
            </a:r>
            <a:r>
              <a:rPr lang="ru-RU" sz="1583" dirty="0" err="1">
                <a:latin typeface="Corbel" panose="020B0503020204020204" pitchFamily="34" charset="0"/>
              </a:rPr>
              <a:t>commit</a:t>
            </a:r>
            <a:r>
              <a:rPr lang="ru-RU" sz="1583" dirty="0">
                <a:latin typeface="Corbel" panose="020B0503020204020204" pitchFamily="34" charset="0"/>
              </a:rPr>
              <a:t>(), данные на диске. Если сервер упал, заказ остался в базе. Не потеряется.</a:t>
            </a:r>
          </a:p>
        </p:txBody>
      </p:sp>
    </p:spTree>
    <p:extLst>
      <p:ext uri="{BB962C8B-B14F-4D97-AF65-F5344CB8AC3E}">
        <p14:creationId xmlns:p14="http://schemas.microsoft.com/office/powerpoint/2010/main" val="14434764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C055515-48B8-BF01-FE94-316C0B500DAD}"/>
              </a:ext>
            </a:extLst>
          </p:cNvPr>
          <p:cNvSpPr txBox="1"/>
          <p:nvPr/>
        </p:nvSpPr>
        <p:spPr>
          <a:xfrm>
            <a:off x="4454071" y="365740"/>
            <a:ext cx="32838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BEST PRACTICES</a:t>
            </a:r>
            <a:endParaRPr lang="ru-RU" sz="3000" dirty="0">
              <a:solidFill>
                <a:schemeClr val="accent2">
                  <a:lumMod val="75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EFDAEC-F309-0CEB-19AF-279E815E5BDB}"/>
              </a:ext>
            </a:extLst>
          </p:cNvPr>
          <p:cNvSpPr txBox="1"/>
          <p:nvPr/>
        </p:nvSpPr>
        <p:spPr>
          <a:xfrm>
            <a:off x="1490886" y="1140736"/>
            <a:ext cx="460511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1" dirty="0" smtClean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Рекомендация</a:t>
            </a:r>
            <a:r>
              <a:rPr lang="ru-RU" sz="1500" b="1" dirty="0" smtClean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 </a:t>
            </a:r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1 — Всегда </a:t>
            </a:r>
            <a:r>
              <a:rPr lang="en-US" sz="1500" b="1" dirty="0" err="1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PreparedStatement</a:t>
            </a:r>
            <a:r>
              <a:rPr lang="en-US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.</a:t>
            </a:r>
            <a:endParaRPr lang="ru-RU" sz="1500" b="1" dirty="0">
              <a:solidFill>
                <a:schemeClr val="accent4">
                  <a:lumMod val="7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0E8E34-CB4F-0FD7-7281-2C60905F5541}"/>
              </a:ext>
            </a:extLst>
          </p:cNvPr>
          <p:cNvSpPr txBox="1"/>
          <p:nvPr/>
        </p:nvSpPr>
        <p:spPr>
          <a:xfrm>
            <a:off x="1165855" y="1476652"/>
            <a:ext cx="4558806" cy="868323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ru-RU" sz="1500" dirty="0">
                <a:latin typeface="Corbel" panose="020B0503020204020204" pitchFamily="34" charset="0"/>
              </a:rPr>
              <a:t>Мы уже обсудили SQL </a:t>
            </a:r>
            <a:r>
              <a:rPr lang="ru-RU" sz="1500" dirty="0" err="1">
                <a:latin typeface="Corbel" panose="020B0503020204020204" pitchFamily="34" charset="0"/>
              </a:rPr>
              <a:t>Injection</a:t>
            </a:r>
            <a:r>
              <a:rPr lang="ru-RU" sz="1500" dirty="0">
                <a:latin typeface="Corbel" panose="020B0503020204020204" pitchFamily="34" charset="0"/>
              </a:rPr>
              <a:t>. </a:t>
            </a:r>
            <a:r>
              <a:rPr lang="ru-RU" sz="1500" dirty="0" smtClean="0">
                <a:latin typeface="Corbel" panose="020B0503020204020204" pitchFamily="34" charset="0"/>
              </a:rPr>
              <a:t>Никогда не </a:t>
            </a:r>
            <a:r>
              <a:rPr lang="ru-RU" sz="1500" dirty="0">
                <a:latin typeface="Corbel" panose="020B0503020204020204" pitchFamily="34" charset="0"/>
              </a:rPr>
              <a:t>конкатенируйте параметры в SQL. Всегда используйте '?' и </a:t>
            </a:r>
            <a:r>
              <a:rPr lang="ru-RU" sz="1500" dirty="0" err="1">
                <a:latin typeface="Corbel" panose="020B0503020204020204" pitchFamily="34" charset="0"/>
              </a:rPr>
              <a:t>setXxx</a:t>
            </a:r>
            <a:r>
              <a:rPr lang="ru-RU" sz="1500" dirty="0">
                <a:latin typeface="Corbel" panose="020B0503020204020204" pitchFamily="34" charset="0"/>
              </a:rPr>
              <a:t>() методы.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104084-32E1-C3B9-9D70-C0379CEEE988}"/>
              </a:ext>
            </a:extLst>
          </p:cNvPr>
          <p:cNvSpPr txBox="1"/>
          <p:nvPr/>
        </p:nvSpPr>
        <p:spPr>
          <a:xfrm>
            <a:off x="1490886" y="2529548"/>
            <a:ext cx="3570594" cy="357545"/>
          </a:xfrm>
          <a:prstGeom prst="round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Рекомендация </a:t>
            </a:r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2 — </a:t>
            </a:r>
            <a:r>
              <a:rPr lang="en-US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Try-with-resources.</a:t>
            </a:r>
            <a:endParaRPr lang="ru-RU" sz="1500" b="1" dirty="0">
              <a:solidFill>
                <a:schemeClr val="accent4">
                  <a:lumMod val="7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D780AB-5784-6150-C444-B7BE137B259E}"/>
              </a:ext>
            </a:extLst>
          </p:cNvPr>
          <p:cNvSpPr txBox="1"/>
          <p:nvPr/>
        </p:nvSpPr>
        <p:spPr>
          <a:xfrm>
            <a:off x="920794" y="3006772"/>
            <a:ext cx="4939349" cy="1889879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try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Connection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FF5050"/>
                </a:solidFill>
                <a:latin typeface="Consolas" panose="020B0609020204030204" pitchFamily="49" charset="0"/>
              </a:rPr>
              <a:t>conn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dataSource.getConnection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 </a:t>
            </a:r>
            <a:r>
              <a:rPr lang="en-US" sz="1500" dirty="0" err="1">
                <a:solidFill>
                  <a:srgbClr val="FFC000"/>
                </a:solidFill>
                <a:latin typeface="Consolas" panose="020B0609020204030204" pitchFamily="49" charset="0"/>
              </a:rPr>
              <a:t>PreparedStatement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FF5050"/>
                </a:solidFill>
                <a:latin typeface="Consolas" panose="020B0609020204030204" pitchFamily="49" charset="0"/>
              </a:rPr>
              <a:t>pstmt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conn.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prepareStatement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sql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F3E9C7"/>
                </a:solidFill>
                <a:latin typeface="Consolas" panose="020B0609020204030204" pitchFamily="49" charset="0"/>
              </a:rPr>
              <a:t>// </a:t>
            </a:r>
            <a:r>
              <a:rPr lang="ru-RU" sz="1500" dirty="0">
                <a:solidFill>
                  <a:srgbClr val="F3E9C7"/>
                </a:solidFill>
                <a:latin typeface="Consolas" panose="020B0609020204030204" pitchFamily="49" charset="0"/>
              </a:rPr>
              <a:t>код</a:t>
            </a: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}  </a:t>
            </a:r>
            <a:r>
              <a:rPr lang="ru-RU" sz="1500" dirty="0">
                <a:solidFill>
                  <a:srgbClr val="F3E9C7"/>
                </a:solidFill>
                <a:latin typeface="Consolas" panose="020B0609020204030204" pitchFamily="49" charset="0"/>
              </a:rPr>
              <a:t>// </a:t>
            </a:r>
            <a:r>
              <a:rPr lang="en-US" sz="1500" dirty="0">
                <a:solidFill>
                  <a:srgbClr val="F3E9C7"/>
                </a:solidFill>
                <a:latin typeface="Consolas" panose="020B0609020204030204" pitchFamily="49" charset="0"/>
              </a:rPr>
              <a:t>Connection </a:t>
            </a:r>
            <a:r>
              <a:rPr lang="ru-RU" sz="1500" dirty="0">
                <a:solidFill>
                  <a:srgbClr val="F3E9C7"/>
                </a:solidFill>
                <a:latin typeface="Consolas" panose="020B0609020204030204" pitchFamily="49" charset="0"/>
              </a:rPr>
              <a:t>и </a:t>
            </a:r>
            <a:r>
              <a:rPr lang="en-US" sz="1500" dirty="0" err="1">
                <a:solidFill>
                  <a:srgbClr val="F3E9C7"/>
                </a:solidFill>
                <a:latin typeface="Consolas" panose="020B0609020204030204" pitchFamily="49" charset="0"/>
              </a:rPr>
              <a:t>PreparedStatement</a:t>
            </a:r>
            <a:r>
              <a:rPr lang="en-US" sz="1500" dirty="0">
                <a:solidFill>
                  <a:srgbClr val="F3E9C7"/>
                </a:solidFill>
                <a:latin typeface="Consolas" panose="020B0609020204030204" pitchFamily="49" charset="0"/>
              </a:rPr>
              <a:t> 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закроются автоматически!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583DC3-F8C5-DFB6-621E-4A67A91A4430}"/>
              </a:ext>
            </a:extLst>
          </p:cNvPr>
          <p:cNvSpPr txBox="1"/>
          <p:nvPr/>
        </p:nvSpPr>
        <p:spPr>
          <a:xfrm>
            <a:off x="970686" y="5121358"/>
            <a:ext cx="5402838" cy="612934"/>
          </a:xfrm>
          <a:prstGeom prst="round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>
                <a:latin typeface="Corbel" panose="020B0503020204020204" pitchFamily="34" charset="0"/>
              </a:rPr>
              <a:t>Это гарантирует что ресурсы закроются, даже если произойдет </a:t>
            </a:r>
            <a:r>
              <a:rPr lang="ru-RU" sz="1500" dirty="0" smtClean="0">
                <a:latin typeface="Corbel" panose="020B0503020204020204" pitchFamily="34" charset="0"/>
              </a:rPr>
              <a:t>исключение.</a:t>
            </a:r>
            <a:endParaRPr lang="ru-RU" sz="1500" dirty="0">
              <a:latin typeface="Corbel" panose="020B0503020204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AC2AD8-8D2A-6146-6AEC-9727F739102D}"/>
              </a:ext>
            </a:extLst>
          </p:cNvPr>
          <p:cNvSpPr txBox="1"/>
          <p:nvPr/>
        </p:nvSpPr>
        <p:spPr>
          <a:xfrm>
            <a:off x="7206011" y="1120986"/>
            <a:ext cx="398813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Рекомендация </a:t>
            </a:r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3 — </a:t>
            </a:r>
            <a:r>
              <a:rPr lang="en-US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Connection Pool.</a:t>
            </a:r>
            <a:endParaRPr lang="ru-RU" sz="1500" b="1" dirty="0">
              <a:solidFill>
                <a:schemeClr val="accent4">
                  <a:lumMod val="7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AF2A81-F0FF-7543-37A5-255422808164}"/>
              </a:ext>
            </a:extLst>
          </p:cNvPr>
          <p:cNvSpPr txBox="1"/>
          <p:nvPr/>
        </p:nvSpPr>
        <p:spPr>
          <a:xfrm>
            <a:off x="6448026" y="1476652"/>
            <a:ext cx="474611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>
                <a:latin typeface="Corbel" panose="020B0503020204020204" pitchFamily="34" charset="0"/>
              </a:rPr>
              <a:t>Не используйте </a:t>
            </a:r>
            <a:r>
              <a:rPr lang="ru-RU" sz="1500" dirty="0" err="1">
                <a:latin typeface="Corbel" panose="020B0503020204020204" pitchFamily="34" charset="0"/>
              </a:rPr>
              <a:t>DriverManager.getConnection</a:t>
            </a:r>
            <a:r>
              <a:rPr lang="ru-RU" sz="1500" dirty="0">
                <a:latin typeface="Corbel" panose="020B0503020204020204" pitchFamily="34" charset="0"/>
              </a:rPr>
              <a:t>() каждый раз. Используйте </a:t>
            </a:r>
            <a:r>
              <a:rPr lang="ru-RU" sz="1500" dirty="0" err="1">
                <a:latin typeface="Corbel" panose="020B0503020204020204" pitchFamily="34" charset="0"/>
              </a:rPr>
              <a:t>pool</a:t>
            </a:r>
            <a:r>
              <a:rPr lang="ru-RU" sz="1500" dirty="0">
                <a:latin typeface="Corbel" panose="020B0503020204020204" pitchFamily="34" charset="0"/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7729B9-BB65-83A0-71D4-E1AED7E5DDD3}"/>
              </a:ext>
            </a:extLst>
          </p:cNvPr>
          <p:cNvSpPr txBox="1"/>
          <p:nvPr/>
        </p:nvSpPr>
        <p:spPr>
          <a:xfrm>
            <a:off x="6448026" y="2095651"/>
            <a:ext cx="4637315" cy="1123712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>
            <a:spAutoFit/>
          </a:bodyPr>
          <a:lstStyle/>
          <a:p>
            <a:r>
              <a:rPr lang="en-US" sz="1500" dirty="0" err="1">
                <a:solidFill>
                  <a:srgbClr val="FFC000"/>
                </a:solidFill>
                <a:latin typeface="Consolas" panose="020B0609020204030204" pitchFamily="49" charset="0"/>
              </a:rPr>
              <a:t>DataSource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FF5050"/>
                </a:solidFill>
                <a:latin typeface="Consolas" panose="020B0609020204030204" pitchFamily="49" charset="0"/>
              </a:rPr>
              <a:t>dataSource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DatabaseConfig.getDataSource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Connection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FF5050"/>
                </a:solidFill>
                <a:latin typeface="Consolas" panose="020B0609020204030204" pitchFamily="49" charset="0"/>
              </a:rPr>
              <a:t>conn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dataSource.getConnection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();  </a:t>
            </a:r>
            <a:r>
              <a:rPr lang="en-US" sz="1500" dirty="0">
                <a:solidFill>
                  <a:srgbClr val="F3E9C7"/>
                </a:solidFill>
                <a:latin typeface="Consolas" panose="020B0609020204030204" pitchFamily="49" charset="0"/>
              </a:rPr>
              <a:t>// </a:t>
            </a:r>
            <a:r>
              <a:rPr lang="ru-RU" sz="1500" dirty="0">
                <a:solidFill>
                  <a:srgbClr val="F3E9C7"/>
                </a:solidFill>
                <a:latin typeface="Consolas" panose="020B0609020204030204" pitchFamily="49" charset="0"/>
              </a:rPr>
              <a:t>из пула!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50E1BD-E361-EE54-3703-F518444694FF}"/>
              </a:ext>
            </a:extLst>
          </p:cNvPr>
          <p:cNvSpPr txBox="1"/>
          <p:nvPr/>
        </p:nvSpPr>
        <p:spPr>
          <a:xfrm>
            <a:off x="7206011" y="3448193"/>
            <a:ext cx="312452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Рекомендация </a:t>
            </a:r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4 — </a:t>
            </a:r>
            <a:r>
              <a:rPr lang="en-US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DAO Pattern.</a:t>
            </a:r>
            <a:endParaRPr lang="ru-RU" sz="1500" b="1" dirty="0">
              <a:solidFill>
                <a:schemeClr val="accent4">
                  <a:lumMod val="75000"/>
                </a:schemeClr>
              </a:solidFill>
              <a:latin typeface="Corbel" panose="020B0503020204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E52142-CBC5-8D98-654B-0387F5A79A90}"/>
              </a:ext>
            </a:extLst>
          </p:cNvPr>
          <p:cNvSpPr txBox="1"/>
          <p:nvPr/>
        </p:nvSpPr>
        <p:spPr>
          <a:xfrm>
            <a:off x="6448026" y="3771358"/>
            <a:ext cx="4559878" cy="612934"/>
          </a:xfrm>
          <a:prstGeom prst="round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ru-RU" sz="1500" dirty="0"/>
              <a:t>SQL код не должен быть в сервисах. Должен быть в отдельных DAO классах.</a:t>
            </a:r>
          </a:p>
        </p:txBody>
      </p:sp>
    </p:spTree>
    <p:extLst>
      <p:ext uri="{BB962C8B-B14F-4D97-AF65-F5344CB8AC3E}">
        <p14:creationId xmlns:p14="http://schemas.microsoft.com/office/powerpoint/2010/main" val="275091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6696D52-1722-6FCC-9D14-E1213FAB1AB7}"/>
              </a:ext>
            </a:extLst>
          </p:cNvPr>
          <p:cNvSpPr txBox="1"/>
          <p:nvPr/>
        </p:nvSpPr>
        <p:spPr>
          <a:xfrm>
            <a:off x="2181679" y="768845"/>
            <a:ext cx="309789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Рекомендация </a:t>
            </a:r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5 — Логирование.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B6CD9-313C-E414-8D5E-863F97A6A122}"/>
              </a:ext>
            </a:extLst>
          </p:cNvPr>
          <p:cNvSpPr txBox="1"/>
          <p:nvPr/>
        </p:nvSpPr>
        <p:spPr>
          <a:xfrm>
            <a:off x="1163409" y="1177147"/>
            <a:ext cx="452664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>
                <a:latin typeface="Corbel" panose="020B0503020204020204" pitchFamily="34" charset="0"/>
              </a:rPr>
              <a:t>Вы должны видеть какие SQL запросы выполняются. Это помогает найти проблемы: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6433CA-D243-03AE-7FD7-343AB8D74DEC}"/>
              </a:ext>
            </a:extLst>
          </p:cNvPr>
          <p:cNvSpPr txBox="1"/>
          <p:nvPr/>
        </p:nvSpPr>
        <p:spPr>
          <a:xfrm>
            <a:off x="1190625" y="1842383"/>
            <a:ext cx="4386037" cy="357545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logger.info(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"Executing query: " 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+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sql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  <a:endParaRPr lang="ru-RU" sz="15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61460-7FE5-3DF7-EDAF-487FBEAE7757}"/>
              </a:ext>
            </a:extLst>
          </p:cNvPr>
          <p:cNvSpPr txBox="1"/>
          <p:nvPr/>
        </p:nvSpPr>
        <p:spPr>
          <a:xfrm>
            <a:off x="1122589" y="2519647"/>
            <a:ext cx="503107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Рекомендация </a:t>
            </a:r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6 — Правильная обработка исключений.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8AEEA0-6998-252B-8443-787429CD6829}"/>
              </a:ext>
            </a:extLst>
          </p:cNvPr>
          <p:cNvSpPr txBox="1"/>
          <p:nvPr/>
        </p:nvSpPr>
        <p:spPr>
          <a:xfrm>
            <a:off x="811891" y="3062030"/>
            <a:ext cx="5229680" cy="3166824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>
            <a:spAutoFit/>
          </a:bodyPr>
          <a:lstStyle/>
          <a:p>
            <a:r>
              <a:rPr lang="ru-RU" sz="1500" dirty="0">
                <a:solidFill>
                  <a:srgbClr val="F3E9C7"/>
                </a:solidFill>
                <a:latin typeface="Consolas" panose="020B0609020204030204" pitchFamily="49" charset="0"/>
              </a:rPr>
              <a:t>// </a:t>
            </a:r>
            <a:r>
              <a:rPr lang="ru-RU" sz="1500" dirty="0" smtClean="0">
                <a:solidFill>
                  <a:srgbClr val="F3E9C7"/>
                </a:solidFill>
                <a:latin typeface="Consolas" panose="020B0609020204030204" pitchFamily="49" charset="0"/>
              </a:rPr>
              <a:t>НЕПРАВИЛЬНО</a:t>
            </a:r>
            <a:endParaRPr lang="ru-RU" sz="1500" dirty="0">
              <a:solidFill>
                <a:srgbClr val="F3E9C7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} </a:t>
            </a:r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catch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SQLException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e) {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// 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молчим</a:t>
            </a: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sz="15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F3E9C7"/>
                </a:solidFill>
                <a:latin typeface="Consolas" panose="020B0609020204030204" pitchFamily="49" charset="0"/>
              </a:rPr>
              <a:t>// </a:t>
            </a:r>
            <a:r>
              <a:rPr lang="ru-RU" sz="1500" dirty="0" smtClean="0">
                <a:solidFill>
                  <a:srgbClr val="F3E9C7"/>
                </a:solidFill>
                <a:latin typeface="Consolas" panose="020B0609020204030204" pitchFamily="49" charset="0"/>
              </a:rPr>
              <a:t>ПРАВИЛЬНО</a:t>
            </a:r>
            <a:endParaRPr lang="ru-RU" sz="1500" dirty="0">
              <a:solidFill>
                <a:srgbClr val="F3E9C7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} </a:t>
            </a:r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catch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SQLException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e) {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logger.error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"Database error while creating order"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, e);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throw new </a:t>
            </a:r>
            <a:r>
              <a:rPr lang="en-US" sz="1500" dirty="0" err="1">
                <a:solidFill>
                  <a:srgbClr val="00FFFF"/>
                </a:solidFill>
                <a:latin typeface="Consolas" panose="020B0609020204030204" pitchFamily="49" charset="0"/>
              </a:rPr>
              <a:t>RuntimeException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"Cannot create order"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, e);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endParaRPr lang="ru-RU" sz="15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9F4938-EBFD-E5F0-5005-102BC31B8CA4}"/>
              </a:ext>
            </a:extLst>
          </p:cNvPr>
          <p:cNvSpPr txBox="1"/>
          <p:nvPr/>
        </p:nvSpPr>
        <p:spPr>
          <a:xfrm>
            <a:off x="7315891" y="779051"/>
            <a:ext cx="332467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Рекомендация </a:t>
            </a:r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7 — </a:t>
            </a:r>
            <a:r>
              <a:rPr lang="en-US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Batch </a:t>
            </a:r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операции.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02812D-882F-8FF6-765B-D2A5BF04F628}"/>
              </a:ext>
            </a:extLst>
          </p:cNvPr>
          <p:cNvSpPr txBox="1"/>
          <p:nvPr/>
        </p:nvSpPr>
        <p:spPr>
          <a:xfrm>
            <a:off x="6644821" y="1072941"/>
            <a:ext cx="44450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>
                <a:latin typeface="Corbel" panose="020B0503020204020204" pitchFamily="34" charset="0"/>
              </a:rPr>
              <a:t>Если вы вставляете 1000 заказов, не делайте 1000 отдельных </a:t>
            </a:r>
            <a:r>
              <a:rPr lang="ru-RU" sz="1500" dirty="0" err="1">
                <a:latin typeface="Corbel" panose="020B0503020204020204" pitchFamily="34" charset="0"/>
              </a:rPr>
              <a:t>executeUpdate</a:t>
            </a:r>
            <a:r>
              <a:rPr lang="ru-RU" sz="1500" dirty="0">
                <a:latin typeface="Corbel" panose="020B0503020204020204" pitchFamily="34" charset="0"/>
              </a:rPr>
              <a:t>(). Используйте </a:t>
            </a:r>
            <a:r>
              <a:rPr lang="ru-RU" sz="1500" dirty="0" err="1">
                <a:latin typeface="Corbel" panose="020B0503020204020204" pitchFamily="34" charset="0"/>
              </a:rPr>
              <a:t>addBatch</a:t>
            </a:r>
            <a:r>
              <a:rPr lang="ru-RU" sz="1500" dirty="0">
                <a:latin typeface="Corbel" panose="020B0503020204020204" pitchFamily="34" charset="0"/>
              </a:rPr>
              <a:t>():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D7F9E7-EF28-4A99-FF7A-E868C5A08E64}"/>
              </a:ext>
            </a:extLst>
          </p:cNvPr>
          <p:cNvSpPr txBox="1"/>
          <p:nvPr/>
        </p:nvSpPr>
        <p:spPr>
          <a:xfrm>
            <a:off x="6644821" y="1864804"/>
            <a:ext cx="4666818" cy="1379101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>
            <a:spAutoFit/>
          </a:bodyPr>
          <a:lstStyle/>
          <a:p>
            <a:r>
              <a:rPr lang="ru-RU" sz="1500" dirty="0" err="1">
                <a:solidFill>
                  <a:srgbClr val="D47DFF"/>
                </a:solidFill>
                <a:latin typeface="Consolas" panose="020B0609020204030204" pitchFamily="49" charset="0"/>
              </a:rPr>
              <a:t>for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ru-RU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Order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order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: </a:t>
            </a:r>
            <a:r>
              <a:rPr lang="ru-RU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orders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ru-RU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pstmt.setLong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ru-RU" sz="1500" dirty="0">
                <a:solidFill>
                  <a:srgbClr val="FFC000"/>
                </a:solidFill>
                <a:latin typeface="Consolas" panose="020B0609020204030204" pitchFamily="49" charset="0"/>
              </a:rPr>
              <a:t>1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ru-RU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order.getId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ru-RU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pstmt.addBatch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();  </a:t>
            </a:r>
            <a:r>
              <a:rPr lang="ru-RU" sz="1500" dirty="0">
                <a:solidFill>
                  <a:srgbClr val="F3E9C7"/>
                </a:solidFill>
                <a:latin typeface="Consolas" panose="020B0609020204030204" pitchFamily="49" charset="0"/>
              </a:rPr>
              <a:t>// В памяти</a:t>
            </a:r>
          </a:p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pstmt.executeBatch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();  </a:t>
            </a:r>
            <a:r>
              <a:rPr lang="ru-RU" sz="1500" dirty="0">
                <a:solidFill>
                  <a:srgbClr val="F3E9C7"/>
                </a:solidFill>
                <a:latin typeface="Consolas" panose="020B0609020204030204" pitchFamily="49" charset="0"/>
              </a:rPr>
              <a:t>// Один раз в БД!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00036A-1597-6A5E-F4A2-5D1764885D2C}"/>
              </a:ext>
            </a:extLst>
          </p:cNvPr>
          <p:cNvSpPr txBox="1"/>
          <p:nvPr/>
        </p:nvSpPr>
        <p:spPr>
          <a:xfrm>
            <a:off x="7448121" y="3690678"/>
            <a:ext cx="282932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Рекомендация </a:t>
            </a:r>
            <a:r>
              <a:rPr lang="ru-RU" sz="1500" b="1" dirty="0">
                <a:solidFill>
                  <a:schemeClr val="accent4">
                    <a:lumMod val="75000"/>
                  </a:schemeClr>
                </a:solidFill>
                <a:latin typeface="Corbel" panose="020B0503020204020204" pitchFamily="34" charset="0"/>
              </a:rPr>
              <a:t>8 — Индексы.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8532C6-2E0C-ADC5-6F15-15A33AA4B878}"/>
              </a:ext>
            </a:extLst>
          </p:cNvPr>
          <p:cNvSpPr txBox="1"/>
          <p:nvPr/>
        </p:nvSpPr>
        <p:spPr>
          <a:xfrm>
            <a:off x="6644821" y="4125609"/>
            <a:ext cx="4666818" cy="357545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txBody>
          <a:bodyPr wrap="square">
            <a:spAutoFit/>
          </a:bodyPr>
          <a:lstStyle/>
          <a:p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CREATE INDEX </a:t>
            </a:r>
            <a:r>
              <a:rPr lang="ru-RU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idx_status</a:t>
            </a:r>
            <a:r>
              <a:rPr lang="ru-RU" sz="1500" dirty="0">
                <a:solidFill>
                  <a:schemeClr val="bg1"/>
                </a:solidFill>
                <a:latin typeface="Consolas" panose="020B0609020204030204" pitchFamily="49" charset="0"/>
              </a:rPr>
              <a:t> ON </a:t>
            </a:r>
            <a:r>
              <a:rPr lang="ru-RU" sz="1500" dirty="0" err="1">
                <a:solidFill>
                  <a:srgbClr val="00FFFF"/>
                </a:solidFill>
                <a:latin typeface="Consolas" panose="020B0609020204030204" pitchFamily="49" charset="0"/>
              </a:rPr>
              <a:t>orders</a:t>
            </a:r>
            <a:r>
              <a:rPr lang="ru-RU" sz="1500" dirty="0">
                <a:solidFill>
                  <a:srgbClr val="FFC000"/>
                </a:solidFill>
                <a:latin typeface="Consolas" panose="020B0609020204030204" pitchFamily="49" charset="0"/>
              </a:rPr>
              <a:t>(</a:t>
            </a:r>
            <a:r>
              <a:rPr lang="ru-RU" sz="1500" dirty="0" err="1">
                <a:solidFill>
                  <a:srgbClr val="FFC000"/>
                </a:solidFill>
                <a:latin typeface="Consolas" panose="020B0609020204030204" pitchFamily="49" charset="0"/>
              </a:rPr>
              <a:t>status</a:t>
            </a:r>
            <a:r>
              <a:rPr lang="ru-RU" sz="1500" dirty="0">
                <a:solidFill>
                  <a:srgbClr val="FFC000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34452B-F927-9431-A01A-944163377232}"/>
              </a:ext>
            </a:extLst>
          </p:cNvPr>
          <p:cNvSpPr txBox="1"/>
          <p:nvPr/>
        </p:nvSpPr>
        <p:spPr>
          <a:xfrm>
            <a:off x="6567715" y="4607816"/>
            <a:ext cx="459014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>
                <a:latin typeface="Corbel" panose="020B0503020204020204" pitchFamily="34" charset="0"/>
              </a:rPr>
              <a:t>Без индекса запрос 'SELECT * FROM </a:t>
            </a:r>
            <a:r>
              <a:rPr lang="ru-RU" sz="1500" dirty="0" err="1">
                <a:latin typeface="Corbel" panose="020B0503020204020204" pitchFamily="34" charset="0"/>
              </a:rPr>
              <a:t>orders</a:t>
            </a:r>
            <a:r>
              <a:rPr lang="ru-RU" sz="1500" dirty="0">
                <a:latin typeface="Corbel" panose="020B0503020204020204" pitchFamily="34" charset="0"/>
              </a:rPr>
              <a:t> WHERE </a:t>
            </a:r>
            <a:r>
              <a:rPr lang="ru-RU" sz="1500" dirty="0" err="1">
                <a:latin typeface="Corbel" panose="020B0503020204020204" pitchFamily="34" charset="0"/>
              </a:rPr>
              <a:t>status</a:t>
            </a:r>
            <a:r>
              <a:rPr lang="ru-RU" sz="1500" dirty="0">
                <a:latin typeface="Corbel" panose="020B0503020204020204" pitchFamily="34" charset="0"/>
              </a:rPr>
              <a:t> = PENDING' сканирует ВСЕ строки в таблице. С индексом находит нужные строки сразу</a:t>
            </a:r>
            <a:r>
              <a:rPr lang="ru-RU" sz="1500" dirty="0" smtClean="0">
                <a:latin typeface="Corbel" panose="020B0503020204020204" pitchFamily="34" charset="0"/>
              </a:rPr>
              <a:t>.</a:t>
            </a:r>
            <a:endParaRPr lang="ru-RU" sz="1500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876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26024CD-DDE3-29C9-D065-0BA3A58FFF97}"/>
              </a:ext>
            </a:extLst>
          </p:cNvPr>
          <p:cNvSpPr/>
          <p:nvPr/>
        </p:nvSpPr>
        <p:spPr>
          <a:xfrm>
            <a:off x="-1" y="-1"/>
            <a:ext cx="6059713" cy="685800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sz="15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6A22A-2CB2-5282-58BA-58B4673BBD8E}"/>
              </a:ext>
            </a:extLst>
          </p:cNvPr>
          <p:cNvSpPr txBox="1"/>
          <p:nvPr/>
        </p:nvSpPr>
        <p:spPr>
          <a:xfrm>
            <a:off x="5193392" y="639863"/>
            <a:ext cx="173264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0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ПРИМЕР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133E9-C95F-B870-AB8C-F7EFECC5B9DF}"/>
              </a:ext>
            </a:extLst>
          </p:cNvPr>
          <p:cNvSpPr txBox="1"/>
          <p:nvPr/>
        </p:nvSpPr>
        <p:spPr>
          <a:xfrm>
            <a:off x="1097643" y="1606391"/>
            <a:ext cx="3940794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1" u="sng" dirty="0">
                <a:latin typeface="Corbel" panose="020B0503020204020204" pitchFamily="34" charset="0"/>
              </a:rPr>
              <a:t>5 таблиц:</a:t>
            </a:r>
          </a:p>
          <a:p>
            <a:endParaRPr lang="ru-RU" sz="1500" dirty="0">
              <a:latin typeface="Corbel" panose="020B0503020204020204" pitchFamily="34" charset="0"/>
            </a:endParaRPr>
          </a:p>
          <a:p>
            <a:pPr marL="238115" indent="-238115">
              <a:buFont typeface="Arial" panose="020B0604020202020204" pitchFamily="34" charset="0"/>
              <a:buChar char="•"/>
            </a:pPr>
            <a:r>
              <a:rPr lang="en-US" sz="1500" b="1" dirty="0">
                <a:latin typeface="Corbel" panose="020B0503020204020204" pitchFamily="34" charset="0"/>
              </a:rPr>
              <a:t>customers</a:t>
            </a:r>
            <a:r>
              <a:rPr lang="en-US" sz="1500" dirty="0">
                <a:latin typeface="Corbel" panose="020B0503020204020204" pitchFamily="34" charset="0"/>
              </a:rPr>
              <a:t> — </a:t>
            </a:r>
            <a:r>
              <a:rPr lang="ru-RU" sz="1500" dirty="0">
                <a:latin typeface="Corbel" panose="020B0503020204020204" pitchFamily="34" charset="0"/>
              </a:rPr>
              <a:t>клиенты магазина. </a:t>
            </a:r>
          </a:p>
          <a:p>
            <a:r>
              <a:rPr lang="ru-RU" sz="1500" dirty="0">
                <a:latin typeface="Corbel" panose="020B0503020204020204" pitchFamily="34" charset="0"/>
              </a:rPr>
              <a:t>Колонки: </a:t>
            </a:r>
            <a:r>
              <a:rPr lang="en-US" sz="1500" dirty="0">
                <a:latin typeface="Corbel" panose="020B0503020204020204" pitchFamily="34" charset="0"/>
              </a:rPr>
              <a:t>id, name, email, phone.</a:t>
            </a:r>
          </a:p>
          <a:p>
            <a:pPr marL="238115" indent="-238115">
              <a:buFont typeface="Arial" panose="020B0604020202020204" pitchFamily="34" charset="0"/>
              <a:buChar char="•"/>
            </a:pPr>
            <a:r>
              <a:rPr lang="en-US" sz="1500" b="1" dirty="0">
                <a:latin typeface="Corbel" panose="020B0503020204020204" pitchFamily="34" charset="0"/>
              </a:rPr>
              <a:t>products</a:t>
            </a:r>
            <a:r>
              <a:rPr lang="en-US" sz="1500" dirty="0">
                <a:latin typeface="Corbel" panose="020B0503020204020204" pitchFamily="34" charset="0"/>
              </a:rPr>
              <a:t> — </a:t>
            </a:r>
            <a:r>
              <a:rPr lang="ru-RU" sz="1500" dirty="0">
                <a:latin typeface="Corbel" panose="020B0503020204020204" pitchFamily="34" charset="0"/>
              </a:rPr>
              <a:t>товары. </a:t>
            </a:r>
          </a:p>
          <a:p>
            <a:r>
              <a:rPr lang="ru-RU" sz="1500" dirty="0">
                <a:latin typeface="Corbel" panose="020B0503020204020204" pitchFamily="34" charset="0"/>
              </a:rPr>
              <a:t>Колонки: </a:t>
            </a:r>
            <a:r>
              <a:rPr lang="en-US" sz="1500" dirty="0">
                <a:latin typeface="Corbel" panose="020B0503020204020204" pitchFamily="34" charset="0"/>
              </a:rPr>
              <a:t>id, name, price, </a:t>
            </a:r>
            <a:r>
              <a:rPr lang="en-US" sz="1500" dirty="0" err="1">
                <a:latin typeface="Corbel" panose="020B0503020204020204" pitchFamily="34" charset="0"/>
              </a:rPr>
              <a:t>stock_quantity</a:t>
            </a:r>
            <a:r>
              <a:rPr lang="en-US" sz="1500" dirty="0">
                <a:latin typeface="Corbel" panose="020B0503020204020204" pitchFamily="34" charset="0"/>
              </a:rPr>
              <a:t>. </a:t>
            </a:r>
            <a:r>
              <a:rPr lang="ru-RU" sz="1500" dirty="0">
                <a:latin typeface="Corbel" panose="020B0503020204020204" pitchFamily="34" charset="0"/>
              </a:rPr>
              <a:t>Реальные товары: </a:t>
            </a:r>
            <a:r>
              <a:rPr lang="en-US" sz="1500" dirty="0">
                <a:latin typeface="Corbel" panose="020B0503020204020204" pitchFamily="34" charset="0"/>
              </a:rPr>
              <a:t>ASUS </a:t>
            </a:r>
            <a:r>
              <a:rPr lang="en-US" sz="1500" dirty="0" err="1">
                <a:latin typeface="Corbel" panose="020B0503020204020204" pitchFamily="34" charset="0"/>
              </a:rPr>
              <a:t>VivoBook</a:t>
            </a:r>
            <a:r>
              <a:rPr lang="en-US" sz="1500" dirty="0">
                <a:latin typeface="Corbel" panose="020B0503020204020204" pitchFamily="34" charset="0"/>
              </a:rPr>
              <a:t> </a:t>
            </a:r>
            <a:r>
              <a:rPr lang="ru-RU" sz="1500" dirty="0">
                <a:latin typeface="Corbel" panose="020B0503020204020204" pitchFamily="34" charset="0"/>
              </a:rPr>
              <a:t>ноутбук за 50 тысяч рублей, </a:t>
            </a:r>
            <a:r>
              <a:rPr lang="en-US" sz="1500" dirty="0">
                <a:latin typeface="Corbel" panose="020B0503020204020204" pitchFamily="34" charset="0"/>
              </a:rPr>
              <a:t>LG </a:t>
            </a:r>
            <a:r>
              <a:rPr lang="ru-RU" sz="1500" dirty="0">
                <a:latin typeface="Corbel" panose="020B0503020204020204" pitchFamily="34" charset="0"/>
              </a:rPr>
              <a:t>монитор за 15 тысяч, </a:t>
            </a:r>
            <a:r>
              <a:rPr lang="en-US" sz="1500" dirty="0">
                <a:latin typeface="Corbel" panose="020B0503020204020204" pitchFamily="34" charset="0"/>
              </a:rPr>
              <a:t>Corsair </a:t>
            </a:r>
            <a:r>
              <a:rPr lang="ru-RU" sz="1500" dirty="0">
                <a:latin typeface="Corbel" panose="020B0503020204020204" pitchFamily="34" charset="0"/>
              </a:rPr>
              <a:t>клавиатура, </a:t>
            </a:r>
            <a:r>
              <a:rPr lang="en-US" sz="1500" dirty="0">
                <a:latin typeface="Corbel" panose="020B0503020204020204" pitchFamily="34" charset="0"/>
              </a:rPr>
              <a:t>Logitech </a:t>
            </a:r>
            <a:r>
              <a:rPr lang="ru-RU" sz="1500" dirty="0">
                <a:latin typeface="Corbel" panose="020B0503020204020204" pitchFamily="34" charset="0"/>
              </a:rPr>
              <a:t>мышь и т.д.</a:t>
            </a:r>
          </a:p>
          <a:p>
            <a:pPr marL="238115" indent="-238115">
              <a:buFont typeface="Arial" panose="020B0604020202020204" pitchFamily="34" charset="0"/>
              <a:buChar char="•"/>
            </a:pPr>
            <a:r>
              <a:rPr lang="en-US" sz="1500" b="1" dirty="0">
                <a:latin typeface="Corbel" panose="020B0503020204020204" pitchFamily="34" charset="0"/>
              </a:rPr>
              <a:t>orders</a:t>
            </a:r>
            <a:r>
              <a:rPr lang="en-US" sz="1500" dirty="0">
                <a:latin typeface="Corbel" panose="020B0503020204020204" pitchFamily="34" charset="0"/>
              </a:rPr>
              <a:t> — </a:t>
            </a:r>
            <a:r>
              <a:rPr lang="ru-RU" sz="1500" dirty="0">
                <a:latin typeface="Corbel" panose="020B0503020204020204" pitchFamily="34" charset="0"/>
              </a:rPr>
              <a:t>заказы. </a:t>
            </a:r>
          </a:p>
          <a:p>
            <a:r>
              <a:rPr lang="ru-RU" sz="1500" dirty="0">
                <a:latin typeface="Corbel" panose="020B0503020204020204" pitchFamily="34" charset="0"/>
              </a:rPr>
              <a:t>Колонки: </a:t>
            </a:r>
            <a:r>
              <a:rPr lang="en-US" sz="1500" dirty="0">
                <a:latin typeface="Corbel" panose="020B0503020204020204" pitchFamily="34" charset="0"/>
              </a:rPr>
              <a:t>id, </a:t>
            </a:r>
            <a:r>
              <a:rPr lang="en-US" sz="1500" dirty="0" err="1">
                <a:latin typeface="Corbel" panose="020B0503020204020204" pitchFamily="34" charset="0"/>
              </a:rPr>
              <a:t>customer_id</a:t>
            </a:r>
            <a:r>
              <a:rPr lang="en-US" sz="1500" dirty="0">
                <a:latin typeface="Corbel" panose="020B0503020204020204" pitchFamily="34" charset="0"/>
              </a:rPr>
              <a:t>, status, </a:t>
            </a:r>
            <a:r>
              <a:rPr lang="en-US" sz="1500" dirty="0" err="1">
                <a:latin typeface="Corbel" panose="020B0503020204020204" pitchFamily="34" charset="0"/>
              </a:rPr>
              <a:t>total_amount</a:t>
            </a:r>
            <a:r>
              <a:rPr lang="en-US" sz="1500" dirty="0">
                <a:latin typeface="Corbel" panose="020B0503020204020204" pitchFamily="34" charset="0"/>
              </a:rPr>
              <a:t>, </a:t>
            </a:r>
            <a:r>
              <a:rPr lang="en-US" sz="1500" dirty="0" err="1">
                <a:latin typeface="Corbel" panose="020B0503020204020204" pitchFamily="34" charset="0"/>
              </a:rPr>
              <a:t>delivery_address</a:t>
            </a:r>
            <a:r>
              <a:rPr lang="en-US" sz="1500" dirty="0">
                <a:latin typeface="Corbel" panose="020B0503020204020204" pitchFamily="34" charset="0"/>
              </a:rPr>
              <a:t>, </a:t>
            </a:r>
            <a:r>
              <a:rPr lang="en-US" sz="1500" dirty="0" err="1">
                <a:latin typeface="Corbel" panose="020B0503020204020204" pitchFamily="34" charset="0"/>
              </a:rPr>
              <a:t>created_at</a:t>
            </a:r>
            <a:r>
              <a:rPr lang="en-US" sz="1500" dirty="0">
                <a:latin typeface="Corbel" panose="020B0503020204020204" pitchFamily="34" charset="0"/>
              </a:rPr>
              <a:t>.</a:t>
            </a:r>
          </a:p>
          <a:p>
            <a:pPr marL="238115" indent="-238115">
              <a:buFont typeface="Arial" panose="020B0604020202020204" pitchFamily="34" charset="0"/>
              <a:buChar char="•"/>
            </a:pPr>
            <a:r>
              <a:rPr lang="en-US" sz="1500" b="1" dirty="0" err="1">
                <a:latin typeface="Corbel" panose="020B0503020204020204" pitchFamily="34" charset="0"/>
              </a:rPr>
              <a:t>order_items</a:t>
            </a:r>
            <a:r>
              <a:rPr lang="en-US" sz="1500" b="1" dirty="0">
                <a:latin typeface="Corbel" panose="020B0503020204020204" pitchFamily="34" charset="0"/>
              </a:rPr>
              <a:t> </a:t>
            </a:r>
            <a:r>
              <a:rPr lang="en-US" sz="1500" dirty="0">
                <a:latin typeface="Corbel" panose="020B0503020204020204" pitchFamily="34" charset="0"/>
              </a:rPr>
              <a:t>— </a:t>
            </a:r>
            <a:r>
              <a:rPr lang="ru-RU" sz="1500" dirty="0">
                <a:latin typeface="Corbel" panose="020B0503020204020204" pitchFamily="34" charset="0"/>
              </a:rPr>
              <a:t>содержимое заказа. </a:t>
            </a:r>
          </a:p>
          <a:p>
            <a:r>
              <a:rPr lang="ru-RU" sz="1500" dirty="0">
                <a:latin typeface="Corbel" panose="020B0503020204020204" pitchFamily="34" charset="0"/>
              </a:rPr>
              <a:t>Какие товары в каком заказе, в каких количествах.</a:t>
            </a:r>
          </a:p>
          <a:p>
            <a:pPr marL="238115" indent="-238115">
              <a:buFont typeface="Arial" panose="020B0604020202020204" pitchFamily="34" charset="0"/>
              <a:buChar char="•"/>
            </a:pPr>
            <a:r>
              <a:rPr lang="en-US" sz="1500" b="1" dirty="0" err="1">
                <a:latin typeface="Corbel" panose="020B0503020204020204" pitchFamily="34" charset="0"/>
              </a:rPr>
              <a:t>order_status_history</a:t>
            </a:r>
            <a:r>
              <a:rPr lang="en-US" sz="1500" b="1" dirty="0">
                <a:latin typeface="Corbel" panose="020B0503020204020204" pitchFamily="34" charset="0"/>
              </a:rPr>
              <a:t> </a:t>
            </a:r>
            <a:r>
              <a:rPr lang="en-US" sz="1500" dirty="0">
                <a:latin typeface="Corbel" panose="020B0503020204020204" pitchFamily="34" charset="0"/>
              </a:rPr>
              <a:t>— </a:t>
            </a:r>
            <a:r>
              <a:rPr lang="ru-RU" sz="1500" dirty="0">
                <a:latin typeface="Corbel" panose="020B0503020204020204" pitchFamily="34" charset="0"/>
              </a:rPr>
              <a:t>аудит лог. </a:t>
            </a:r>
          </a:p>
          <a:p>
            <a:r>
              <a:rPr lang="ru-RU" sz="1500" dirty="0">
                <a:latin typeface="Corbel" panose="020B0503020204020204" pitchFamily="34" charset="0"/>
              </a:rPr>
              <a:t>История всех изменений статуса заказа.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8FA063-7CE5-E8AB-E5B1-68366BD8B001}"/>
              </a:ext>
            </a:extLst>
          </p:cNvPr>
          <p:cNvSpPr txBox="1"/>
          <p:nvPr/>
        </p:nvSpPr>
        <p:spPr>
          <a:xfrm>
            <a:off x="7475227" y="2337966"/>
            <a:ext cx="3512912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1" u="sng" dirty="0">
                <a:latin typeface="Corbel" panose="020B0503020204020204" pitchFamily="34" charset="0"/>
              </a:rPr>
              <a:t>4 клиента</a:t>
            </a:r>
            <a:r>
              <a:rPr lang="ru-RU" sz="1500" dirty="0">
                <a:latin typeface="Corbel" panose="020B0503020204020204" pitchFamily="34" charset="0"/>
              </a:rPr>
              <a:t>: Иван, Мария, Николай, Анна.</a:t>
            </a:r>
          </a:p>
          <a:p>
            <a:endParaRPr lang="ru-RU" sz="1500" dirty="0">
              <a:latin typeface="Corbel" panose="020B0503020204020204" pitchFamily="34" charset="0"/>
            </a:endParaRPr>
          </a:p>
          <a:p>
            <a:r>
              <a:rPr lang="ru-RU" sz="1500" b="1" u="sng" dirty="0">
                <a:latin typeface="Corbel" panose="020B0503020204020204" pitchFamily="34" charset="0"/>
              </a:rPr>
              <a:t>6 товаров</a:t>
            </a:r>
            <a:r>
              <a:rPr lang="ru-RU" sz="1500" dirty="0">
                <a:latin typeface="Corbel" panose="020B0503020204020204" pitchFamily="34" charset="0"/>
              </a:rPr>
              <a:t>: ASUS ноутбук, LG монитор, Corsair клавиатура, Logitech мышь, подставка для монитора, USB хаб.</a:t>
            </a:r>
          </a:p>
          <a:p>
            <a:endParaRPr lang="ru-RU" sz="1500" dirty="0">
              <a:latin typeface="Corbel" panose="020B0503020204020204" pitchFamily="34" charset="0"/>
            </a:endParaRPr>
          </a:p>
          <a:p>
            <a:r>
              <a:rPr lang="ru-RU" sz="1500" b="1" u="sng" dirty="0">
                <a:latin typeface="Corbel" panose="020B0503020204020204" pitchFamily="34" charset="0"/>
              </a:rPr>
              <a:t>5 заказов. </a:t>
            </a:r>
            <a:r>
              <a:rPr lang="ru-RU" sz="1500" dirty="0">
                <a:latin typeface="Corbel" panose="020B0503020204020204" pitchFamily="34" charset="0"/>
              </a:rPr>
              <a:t>Каждый заказ с реальными данными: кто заказал, какие товары, сколько, какой статус (PENDING, CONFIRMED, SHIPPED, DELIVERED).</a:t>
            </a:r>
          </a:p>
        </p:txBody>
      </p:sp>
    </p:spTree>
    <p:extLst>
      <p:ext uri="{BB962C8B-B14F-4D97-AF65-F5344CB8AC3E}">
        <p14:creationId xmlns:p14="http://schemas.microsoft.com/office/powerpoint/2010/main" val="3917575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6011BC-2AB6-2173-FA5F-A749A5D714E1}"/>
              </a:ext>
            </a:extLst>
          </p:cNvPr>
          <p:cNvSpPr txBox="1"/>
          <p:nvPr/>
        </p:nvSpPr>
        <p:spPr>
          <a:xfrm>
            <a:off x="4963927" y="634801"/>
            <a:ext cx="217095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Структура проекта: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DF238-B7E5-D4C3-0D87-48BD53824459}"/>
              </a:ext>
            </a:extLst>
          </p:cNvPr>
          <p:cNvSpPr txBox="1"/>
          <p:nvPr/>
        </p:nvSpPr>
        <p:spPr>
          <a:xfrm>
            <a:off x="3048000" y="4029388"/>
            <a:ext cx="6096000" cy="13791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500" dirty="0">
                <a:solidFill>
                  <a:schemeClr val="tx1"/>
                </a:solidFill>
                <a:latin typeface="Corbel" panose="020B0503020204020204" pitchFamily="34" charset="0"/>
              </a:rPr>
              <a:t>Flyway </a:t>
            </a:r>
            <a:r>
              <a:rPr lang="ru-RU" sz="1500" dirty="0">
                <a:solidFill>
                  <a:schemeClr val="tx1"/>
                </a:solidFill>
                <a:latin typeface="Corbel" panose="020B0503020204020204" pitchFamily="34" charset="0"/>
              </a:rPr>
              <a:t>миграции:</a:t>
            </a:r>
          </a:p>
          <a:p>
            <a:endParaRPr lang="ru-RU" sz="1500" dirty="0">
              <a:solidFill>
                <a:schemeClr val="tx1"/>
              </a:solidFill>
              <a:latin typeface="Corbel" panose="020B0503020204020204" pitchFamily="34" charset="0"/>
            </a:endParaRPr>
          </a:p>
          <a:p>
            <a:r>
              <a:rPr lang="en-US" sz="1500" dirty="0">
                <a:solidFill>
                  <a:schemeClr val="tx1"/>
                </a:solidFill>
                <a:latin typeface="Corbel" panose="020B0503020204020204" pitchFamily="34" charset="0"/>
              </a:rPr>
              <a:t>V1__Create_schema.sql — </a:t>
            </a:r>
            <a:r>
              <a:rPr lang="ru-RU" sz="1500" dirty="0">
                <a:solidFill>
                  <a:schemeClr val="tx1"/>
                </a:solidFill>
                <a:latin typeface="Corbel" panose="020B0503020204020204" pitchFamily="34" charset="0"/>
              </a:rPr>
              <a:t>создает таблицы</a:t>
            </a:r>
          </a:p>
          <a:p>
            <a:r>
              <a:rPr lang="en-US" sz="1500" dirty="0">
                <a:solidFill>
                  <a:schemeClr val="tx1"/>
                </a:solidFill>
                <a:latin typeface="Corbel" panose="020B0503020204020204" pitchFamily="34" charset="0"/>
              </a:rPr>
              <a:t>V2__Insert_test_data.sql — </a:t>
            </a:r>
            <a:r>
              <a:rPr lang="ru-RU" sz="1500" dirty="0">
                <a:solidFill>
                  <a:schemeClr val="tx1"/>
                </a:solidFill>
                <a:latin typeface="Corbel" panose="020B0503020204020204" pitchFamily="34" charset="0"/>
              </a:rPr>
              <a:t>добавляет тестовые данные</a:t>
            </a:r>
          </a:p>
          <a:p>
            <a:r>
              <a:rPr lang="en-US" sz="1500" dirty="0">
                <a:solidFill>
                  <a:schemeClr val="tx1"/>
                </a:solidFill>
                <a:latin typeface="Corbel" panose="020B0503020204020204" pitchFamily="34" charset="0"/>
              </a:rPr>
              <a:t>V3__Create_indexes.sql — </a:t>
            </a:r>
            <a:r>
              <a:rPr lang="ru-RU" sz="1500" dirty="0">
                <a:solidFill>
                  <a:schemeClr val="tx1"/>
                </a:solidFill>
                <a:latin typeface="Corbel" panose="020B0503020204020204" pitchFamily="34" charset="0"/>
              </a:rPr>
              <a:t>создает индексы для </a:t>
            </a:r>
            <a:r>
              <a:rPr lang="ru-RU" sz="1500" dirty="0" smtClean="0">
                <a:solidFill>
                  <a:schemeClr val="tx1"/>
                </a:solidFill>
                <a:latin typeface="Corbel" panose="020B0503020204020204" pitchFamily="34" charset="0"/>
              </a:rPr>
              <a:t>оптимизации</a:t>
            </a:r>
            <a:endParaRPr lang="ru-RU" sz="1500" dirty="0">
              <a:solidFill>
                <a:schemeClr val="tx1"/>
              </a:solidFill>
              <a:latin typeface="Corbel" panose="020B05030202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70C966-2D82-0233-0D76-B45CBFF55E08}"/>
              </a:ext>
            </a:extLst>
          </p:cNvPr>
          <p:cNvSpPr txBox="1"/>
          <p:nvPr/>
        </p:nvSpPr>
        <p:spPr>
          <a:xfrm>
            <a:off x="3048000" y="1080513"/>
            <a:ext cx="6096000" cy="61293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500" dirty="0">
                <a:solidFill>
                  <a:schemeClr val="tx1"/>
                </a:solidFill>
                <a:latin typeface="Corbel" panose="020B0503020204020204" pitchFamily="34" charset="0"/>
              </a:rPr>
              <a:t>DatabaseConfig.java — инициализирует </a:t>
            </a:r>
            <a:r>
              <a:rPr lang="ru-RU" sz="1500" dirty="0" err="1">
                <a:solidFill>
                  <a:schemeClr val="tx1"/>
                </a:solidFill>
                <a:latin typeface="Corbel" panose="020B0503020204020204" pitchFamily="34" charset="0"/>
              </a:rPr>
              <a:t>HikariCP</a:t>
            </a:r>
            <a:r>
              <a:rPr lang="ru-RU" sz="1500" dirty="0">
                <a:solidFill>
                  <a:schemeClr val="tx1"/>
                </a:solidFill>
                <a:latin typeface="Corbel" panose="020B0503020204020204" pitchFamily="34" charset="0"/>
              </a:rPr>
              <a:t> пул. 10 соединений, готовых к работе.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85AB82-F0FF-F9DE-4A95-FA0D98A61F06}"/>
              </a:ext>
            </a:extLst>
          </p:cNvPr>
          <p:cNvSpPr txBox="1"/>
          <p:nvPr/>
        </p:nvSpPr>
        <p:spPr>
          <a:xfrm>
            <a:off x="3048000" y="1821078"/>
            <a:ext cx="6096000" cy="86832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500" dirty="0">
                <a:solidFill>
                  <a:schemeClr val="tx1"/>
                </a:solidFill>
                <a:latin typeface="Corbel" panose="020B0503020204020204" pitchFamily="34" charset="0"/>
              </a:rPr>
              <a:t>Order.java — </a:t>
            </a:r>
            <a:r>
              <a:rPr lang="ru-RU" sz="1500" dirty="0">
                <a:solidFill>
                  <a:schemeClr val="tx1"/>
                </a:solidFill>
                <a:latin typeface="Corbel" panose="020B0503020204020204" pitchFamily="34" charset="0"/>
              </a:rPr>
              <a:t>модель заказа. Содержит поля: </a:t>
            </a:r>
            <a:r>
              <a:rPr lang="en-US" sz="1500" dirty="0">
                <a:solidFill>
                  <a:schemeClr val="tx1"/>
                </a:solidFill>
                <a:latin typeface="Corbel" panose="020B0503020204020204" pitchFamily="34" charset="0"/>
              </a:rPr>
              <a:t>id, </a:t>
            </a:r>
            <a:r>
              <a:rPr lang="en-US" sz="1500" dirty="0" err="1">
                <a:solidFill>
                  <a:schemeClr val="tx1"/>
                </a:solidFill>
                <a:latin typeface="Corbel" panose="020B0503020204020204" pitchFamily="34" charset="0"/>
              </a:rPr>
              <a:t>customerId</a:t>
            </a:r>
            <a:r>
              <a:rPr lang="en-US" sz="1500" dirty="0">
                <a:solidFill>
                  <a:schemeClr val="tx1"/>
                </a:solidFill>
                <a:latin typeface="Corbel" panose="020B0503020204020204" pitchFamily="34" charset="0"/>
              </a:rPr>
              <a:t>, status, </a:t>
            </a:r>
            <a:r>
              <a:rPr lang="en-US" sz="1500" dirty="0" err="1">
                <a:solidFill>
                  <a:schemeClr val="tx1"/>
                </a:solidFill>
                <a:latin typeface="Corbel" panose="020B0503020204020204" pitchFamily="34" charset="0"/>
              </a:rPr>
              <a:t>totalAmount</a:t>
            </a:r>
            <a:r>
              <a:rPr lang="en-US" sz="1500" dirty="0">
                <a:solidFill>
                  <a:schemeClr val="tx1"/>
                </a:solidFill>
                <a:latin typeface="Corbel" panose="020B0503020204020204" pitchFamily="34" charset="0"/>
              </a:rPr>
              <a:t>, </a:t>
            </a:r>
            <a:r>
              <a:rPr lang="en-US" sz="1500" dirty="0" err="1">
                <a:solidFill>
                  <a:schemeClr val="tx1"/>
                </a:solidFill>
                <a:latin typeface="Corbel" panose="020B0503020204020204" pitchFamily="34" charset="0"/>
              </a:rPr>
              <a:t>deliveryAddress</a:t>
            </a:r>
            <a:r>
              <a:rPr lang="en-US" sz="1500" dirty="0">
                <a:solidFill>
                  <a:schemeClr val="tx1"/>
                </a:solidFill>
                <a:latin typeface="Corbel" panose="020B0503020204020204" pitchFamily="34" charset="0"/>
              </a:rPr>
              <a:t> </a:t>
            </a:r>
            <a:r>
              <a:rPr lang="ru-RU" sz="1500" dirty="0">
                <a:solidFill>
                  <a:schemeClr val="tx1"/>
                </a:solidFill>
                <a:latin typeface="Corbel" panose="020B0503020204020204" pitchFamily="34" charset="0"/>
              </a:rPr>
              <a:t>и т.д.</a:t>
            </a:r>
          </a:p>
          <a:p>
            <a:endParaRPr lang="ru-RU" sz="1500" dirty="0">
              <a:solidFill>
                <a:schemeClr val="tx1"/>
              </a:solidFill>
              <a:latin typeface="Corbel" panose="020B0503020204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3B16CA-23A2-B6AE-110E-9B624FF95E1F}"/>
              </a:ext>
            </a:extLst>
          </p:cNvPr>
          <p:cNvSpPr txBox="1"/>
          <p:nvPr/>
        </p:nvSpPr>
        <p:spPr>
          <a:xfrm>
            <a:off x="3048000" y="2810311"/>
            <a:ext cx="6096000" cy="3575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500" dirty="0">
                <a:solidFill>
                  <a:schemeClr val="tx1"/>
                </a:solidFill>
                <a:latin typeface="Corbel" panose="020B0503020204020204" pitchFamily="34" charset="0"/>
              </a:rPr>
              <a:t>OrderDAO.java — все SQL операции с заказами.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7851A4-489C-3C7A-E157-9CE79891A144}"/>
              </a:ext>
            </a:extLst>
          </p:cNvPr>
          <p:cNvSpPr txBox="1"/>
          <p:nvPr/>
        </p:nvSpPr>
        <p:spPr>
          <a:xfrm>
            <a:off x="3048000" y="3292155"/>
            <a:ext cx="6096000" cy="61293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500" dirty="0">
                <a:latin typeface="Corbel" panose="020B0503020204020204" pitchFamily="34" charset="0"/>
              </a:rPr>
              <a:t>Application.java — entry point. </a:t>
            </a:r>
            <a:r>
              <a:rPr lang="ru-RU" sz="1500" dirty="0">
                <a:latin typeface="Corbel" panose="020B0503020204020204" pitchFamily="34" charset="0"/>
              </a:rPr>
              <a:t>Запускает всё: </a:t>
            </a:r>
            <a:r>
              <a:rPr lang="en-US" sz="1500" dirty="0" err="1">
                <a:latin typeface="Corbel" panose="020B0503020204020204" pitchFamily="34" charset="0"/>
              </a:rPr>
              <a:t>DatabaseConfig</a:t>
            </a:r>
            <a:r>
              <a:rPr lang="en-US" sz="1500" dirty="0">
                <a:latin typeface="Corbel" panose="020B0503020204020204" pitchFamily="34" charset="0"/>
              </a:rPr>
              <a:t>, </a:t>
            </a:r>
            <a:r>
              <a:rPr lang="ru-RU" sz="1500" dirty="0">
                <a:latin typeface="Corbel" panose="020B0503020204020204" pitchFamily="34" charset="0"/>
              </a:rPr>
              <a:t>миграции, демонстрирует </a:t>
            </a:r>
            <a:r>
              <a:rPr lang="en-US" sz="1500" dirty="0">
                <a:latin typeface="Corbel" panose="020B0503020204020204" pitchFamily="34" charset="0"/>
              </a:rPr>
              <a:t>CRUD </a:t>
            </a:r>
            <a:r>
              <a:rPr lang="ru-RU" sz="1500" dirty="0">
                <a:latin typeface="Corbel" panose="020B0503020204020204" pitchFamily="34" charset="0"/>
              </a:rPr>
              <a:t>операции.</a:t>
            </a:r>
          </a:p>
        </p:txBody>
      </p:sp>
    </p:spTree>
    <p:extLst>
      <p:ext uri="{BB962C8B-B14F-4D97-AF65-F5344CB8AC3E}">
        <p14:creationId xmlns:p14="http://schemas.microsoft.com/office/powerpoint/2010/main" val="729360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8FBD10D-A5A3-9260-7656-267DEAC78A3A}"/>
              </a:ext>
            </a:extLst>
          </p:cNvPr>
          <p:cNvSpPr txBox="1"/>
          <p:nvPr/>
        </p:nvSpPr>
        <p:spPr>
          <a:xfrm>
            <a:off x="671280" y="3027168"/>
            <a:ext cx="395266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DatabaseConfig</a:t>
            </a:r>
            <a:r>
              <a:rPr lang="en-US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. </a:t>
            </a:r>
            <a:r>
              <a:rPr lang="en-US" sz="1500" dirty="0" err="1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HikariCP</a:t>
            </a:r>
            <a:r>
              <a:rPr lang="en-US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 </a:t>
            </a:r>
            <a:r>
              <a:rPr lang="ru-RU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инициализация: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F6DA0-8A49-FBB1-BB0D-76A6783D75C9}"/>
              </a:ext>
            </a:extLst>
          </p:cNvPr>
          <p:cNvSpPr txBox="1"/>
          <p:nvPr/>
        </p:nvSpPr>
        <p:spPr>
          <a:xfrm>
            <a:off x="4955446" y="951726"/>
            <a:ext cx="6565274" cy="4954548"/>
          </a:xfrm>
          <a:prstGeom prst="round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public class </a:t>
            </a:r>
            <a:r>
              <a:rPr lang="en-US" sz="1500" dirty="0" err="1">
                <a:solidFill>
                  <a:srgbClr val="00FFFF"/>
                </a:solidFill>
                <a:latin typeface="Consolas" panose="020B0609020204030204" pitchFamily="49" charset="0"/>
              </a:rPr>
              <a:t>DatabaseConfig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private static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HikariDataSource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dataSource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public static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HikariDataSource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FFFF"/>
                </a:solidFill>
                <a:latin typeface="Consolas" panose="020B0609020204030204" pitchFamily="49" charset="0"/>
              </a:rPr>
              <a:t>getDataSource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()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if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dataSource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== 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null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) {</a:t>
            </a:r>
          </a:p>
          <a:p>
            <a:pPr algn="just"/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500" dirty="0" err="1" smtClean="0">
                <a:solidFill>
                  <a:srgbClr val="FFC000"/>
                </a:solidFill>
                <a:latin typeface="Consolas" panose="020B0609020204030204" pitchFamily="49" charset="0"/>
              </a:rPr>
              <a:t>HikariConfig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smtClean="0">
                <a:solidFill>
                  <a:srgbClr val="D47DFF"/>
                </a:solidFill>
                <a:latin typeface="Consolas" panose="020B0609020204030204" pitchFamily="49" charset="0"/>
              </a:rPr>
              <a:t>new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 smtClean="0">
                <a:solidFill>
                  <a:srgbClr val="00FFFF"/>
                </a:solidFill>
                <a:latin typeface="Consolas" panose="020B0609020204030204" pitchFamily="49" charset="0"/>
              </a:rPr>
              <a:t>HikariConfig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pPr algn="just"/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5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config.setJdbcUrl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 err="1" smtClean="0">
                <a:solidFill>
                  <a:srgbClr val="ABE338"/>
                </a:solidFill>
                <a:latin typeface="Consolas" panose="020B0609020204030204" pitchFamily="49" charset="0"/>
              </a:rPr>
              <a:t>jdbc:postgresql</a:t>
            </a:r>
            <a:r>
              <a:rPr lang="en-US" sz="1500" dirty="0" smtClean="0">
                <a:solidFill>
                  <a:srgbClr val="ABE338"/>
                </a:solidFill>
                <a:latin typeface="Consolas" panose="020B0609020204030204" pitchFamily="49" charset="0"/>
              </a:rPr>
              <a:t>://</a:t>
            </a:r>
            <a:r>
              <a:rPr lang="en-US" sz="1500" dirty="0" err="1" smtClean="0">
                <a:solidFill>
                  <a:srgbClr val="ABE338"/>
                </a:solidFill>
                <a:latin typeface="Consolas" panose="020B0609020204030204" pitchFamily="49" charset="0"/>
              </a:rPr>
              <a:t>localh</a:t>
            </a:r>
            <a:endParaRPr lang="en-US" sz="15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just"/>
            <a:r>
              <a:rPr lang="en-US" sz="1500" dirty="0" smtClean="0">
                <a:solidFill>
                  <a:srgbClr val="ABE338"/>
                </a:solidFill>
                <a:latin typeface="Consolas" panose="020B0609020204030204" pitchFamily="49" charset="0"/>
              </a:rPr>
              <a:t>ost:5432/</a:t>
            </a:r>
            <a:r>
              <a:rPr lang="en-US" sz="1500" dirty="0" err="1" smtClean="0">
                <a:solidFill>
                  <a:srgbClr val="ABE338"/>
                </a:solidFill>
                <a:latin typeface="Consolas" panose="020B0609020204030204" pitchFamily="49" charset="0"/>
              </a:rPr>
              <a:t>shop_db</a:t>
            </a:r>
            <a:r>
              <a:rPr lang="en-US" sz="1500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pPr algn="just"/>
            <a:endParaRPr lang="en-US" sz="15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5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config.setUsername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 err="1" smtClean="0">
                <a:solidFill>
                  <a:srgbClr val="ABE338"/>
                </a:solidFill>
                <a:latin typeface="Consolas" panose="020B0609020204030204" pitchFamily="49" charset="0"/>
              </a:rPr>
              <a:t>postgres</a:t>
            </a:r>
            <a:r>
              <a:rPr lang="en-US" sz="1500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5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config.setPassword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ABE338"/>
                </a:solidFill>
                <a:latin typeface="Consolas" panose="020B0609020204030204" pitchFamily="49" charset="0"/>
              </a:rPr>
              <a:t>"admin</a:t>
            </a:r>
            <a:r>
              <a:rPr lang="en-US" sz="1500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  <a:endParaRPr lang="en-US" sz="15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config.setMaximumPoolSize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10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config.setConnectionTimeout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FFC000"/>
                </a:solidFill>
                <a:latin typeface="Consolas" panose="020B0609020204030204" pitchFamily="49" charset="0"/>
              </a:rPr>
              <a:t>20000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dataSource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D47DFF"/>
                </a:solidFill>
                <a:latin typeface="Consolas" panose="020B0609020204030204" pitchFamily="49" charset="0"/>
              </a:rPr>
              <a:t>new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FFFF"/>
                </a:solidFill>
                <a:latin typeface="Consolas" panose="020B0609020204030204" pitchFamily="49" charset="0"/>
              </a:rPr>
              <a:t>HikariDataSource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(config);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    return </a:t>
            </a:r>
            <a:r>
              <a:rPr lang="en-US" sz="1500" dirty="0" err="1">
                <a:solidFill>
                  <a:schemeClr val="bg1"/>
                </a:solidFill>
                <a:latin typeface="Consolas" panose="020B0609020204030204" pitchFamily="49" charset="0"/>
              </a:rPr>
              <a:t>dataSource</a:t>
            </a:r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5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endParaRPr lang="ru-RU" sz="15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6984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FB924D-BD9B-ED2A-4D1A-34D36C8DEBF8}"/>
              </a:ext>
            </a:extLst>
          </p:cNvPr>
          <p:cNvSpPr txBox="1"/>
          <p:nvPr/>
        </p:nvSpPr>
        <p:spPr>
          <a:xfrm>
            <a:off x="3357716" y="612626"/>
            <a:ext cx="8400174" cy="5651406"/>
          </a:xfrm>
          <a:prstGeom prst="round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ru-RU" sz="1417" dirty="0" err="1">
                <a:solidFill>
                  <a:srgbClr val="D47DFF"/>
                </a:solidFill>
                <a:latin typeface="Consolas" panose="020B0609020204030204" pitchFamily="49" charset="0"/>
              </a:rPr>
              <a:t>public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long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save</a:t>
            </a:r>
            <a:r>
              <a:rPr lang="ru-RU" sz="1417" dirty="0">
                <a:solidFill>
                  <a:srgbClr val="FFC000"/>
                </a:solidFill>
                <a:latin typeface="Consolas" panose="020B0609020204030204" pitchFamily="49" charset="0"/>
              </a:rPr>
              <a:t>(</a:t>
            </a:r>
            <a:r>
              <a:rPr lang="ru-RU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Order</a:t>
            </a:r>
            <a:r>
              <a:rPr lang="ru-RU" sz="1417" dirty="0">
                <a:solidFill>
                  <a:srgbClr val="FFC000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order</a:t>
            </a:r>
            <a:r>
              <a:rPr lang="ru-RU" sz="1417" dirty="0">
                <a:solidFill>
                  <a:srgbClr val="FFC000"/>
                </a:solidFill>
                <a:latin typeface="Consolas" panose="020B0609020204030204" pitchFamily="49" charset="0"/>
              </a:rPr>
              <a:t>) 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ru-RU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String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rgbClr val="FF5050"/>
                </a:solidFill>
                <a:latin typeface="Consolas" panose="020B0609020204030204" pitchFamily="49" charset="0"/>
              </a:rPr>
              <a:t>sql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"INSERT INTO 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orders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 (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customer_id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, 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status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, 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total_amount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, " 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+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        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delivery_address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, 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created_at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) " 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+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        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"VALUES (?, ?, ?, ?, NOW()) RETURNING 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id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ru-RU" sz="1417" dirty="0" err="1">
                <a:solidFill>
                  <a:srgbClr val="D47DFF"/>
                </a:solidFill>
                <a:latin typeface="Consolas" panose="020B0609020204030204" pitchFamily="49" charset="0"/>
              </a:rPr>
              <a:t>try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ru-RU" sz="1417" dirty="0">
                <a:solidFill>
                  <a:srgbClr val="FFC000"/>
                </a:solidFill>
                <a:latin typeface="Consolas" panose="020B0609020204030204" pitchFamily="49" charset="0"/>
              </a:rPr>
              <a:t>Connection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rgbClr val="FF5050"/>
                </a:solidFill>
                <a:latin typeface="Consolas" panose="020B0609020204030204" pitchFamily="49" charset="0"/>
              </a:rPr>
              <a:t>conn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dataSource.getConnection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</a:t>
            </a:r>
            <a:r>
              <a:rPr lang="ru-RU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PreparedStatement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rgbClr val="FF5050"/>
                </a:solidFill>
                <a:latin typeface="Consolas" panose="020B0609020204030204" pitchFamily="49" charset="0"/>
              </a:rPr>
              <a:t>pstmt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conn.prepareStatement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sql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pstmt.setLong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ru-RU" sz="1417" dirty="0">
                <a:solidFill>
                  <a:srgbClr val="FFC000"/>
                </a:solidFill>
                <a:latin typeface="Consolas" panose="020B0609020204030204" pitchFamily="49" charset="0"/>
              </a:rPr>
              <a:t>1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order.getCustomerId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pstmt.setString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ru-RU" sz="1417" dirty="0">
                <a:solidFill>
                  <a:srgbClr val="FFC000"/>
                </a:solidFill>
                <a:latin typeface="Consolas" panose="020B0609020204030204" pitchFamily="49" charset="0"/>
              </a:rPr>
              <a:t>2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order.getStatus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().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toString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pstmt.setBigDecimal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ru-RU" sz="1417" dirty="0">
                <a:solidFill>
                  <a:srgbClr val="FFC000"/>
                </a:solidFill>
                <a:latin typeface="Consolas" panose="020B0609020204030204" pitchFamily="49" charset="0"/>
              </a:rPr>
              <a:t>3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order.getTotalAmount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pstmt.setString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ru-RU" sz="1417" dirty="0">
                <a:solidFill>
                  <a:srgbClr val="FFC000"/>
                </a:solidFill>
                <a:latin typeface="Consolas" panose="020B0609020204030204" pitchFamily="49" charset="0"/>
              </a:rPr>
              <a:t>4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order.getDeliveryAddress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ru-RU" sz="1417" dirty="0" err="1">
                <a:solidFill>
                  <a:srgbClr val="D47DFF"/>
                </a:solidFill>
                <a:latin typeface="Consolas" panose="020B0609020204030204" pitchFamily="49" charset="0"/>
              </a:rPr>
              <a:t>try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ru-RU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ResultSet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rgbClr val="FF5050"/>
                </a:solidFill>
                <a:latin typeface="Consolas" panose="020B0609020204030204" pitchFamily="49" charset="0"/>
              </a:rPr>
              <a:t>rs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pstmt.executeQuery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ru-RU" sz="1417" dirty="0" err="1">
                <a:solidFill>
                  <a:srgbClr val="D47DFF"/>
                </a:solidFill>
                <a:latin typeface="Consolas" panose="020B0609020204030204" pitchFamily="49" charset="0"/>
              </a:rPr>
              <a:t>if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rs.next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       </a:t>
            </a:r>
            <a:r>
              <a:rPr lang="ru-RU" sz="1417" dirty="0" err="1">
                <a:solidFill>
                  <a:srgbClr val="D47DFF"/>
                </a:solidFill>
                <a:latin typeface="Consolas" panose="020B0609020204030204" pitchFamily="49" charset="0"/>
              </a:rPr>
              <a:t>return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rs.getLong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id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} </a:t>
            </a:r>
            <a:r>
              <a:rPr lang="ru-RU" sz="1417" dirty="0" err="1">
                <a:solidFill>
                  <a:srgbClr val="D47DFF"/>
                </a:solidFill>
                <a:latin typeface="Consolas" panose="020B0609020204030204" pitchFamily="49" charset="0"/>
              </a:rPr>
              <a:t>catch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ru-RU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SQLException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e) {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ru-RU" sz="1417" dirty="0" err="1">
                <a:solidFill>
                  <a:srgbClr val="D47DFF"/>
                </a:solidFill>
                <a:latin typeface="Consolas" panose="020B0609020204030204" pitchFamily="49" charset="0"/>
              </a:rPr>
              <a:t>throw</a:t>
            </a:r>
            <a:r>
              <a:rPr lang="ru-RU" sz="1417" dirty="0">
                <a:solidFill>
                  <a:srgbClr val="D47DFF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rgbClr val="D47DFF"/>
                </a:solidFill>
                <a:latin typeface="Consolas" panose="020B0609020204030204" pitchFamily="49" charset="0"/>
              </a:rPr>
              <a:t>new</a:t>
            </a:r>
            <a:r>
              <a:rPr lang="ru-RU" sz="1417" dirty="0">
                <a:solidFill>
                  <a:srgbClr val="D47DFF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RuntimeException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Cannot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save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 </a:t>
            </a:r>
            <a:r>
              <a:rPr lang="ru-RU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order</a:t>
            </a:r>
            <a:r>
              <a:rPr lang="ru-RU" sz="1417" dirty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, e);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ru-RU" sz="1417" dirty="0" err="1">
                <a:solidFill>
                  <a:srgbClr val="D47DFF"/>
                </a:solidFill>
                <a:latin typeface="Consolas" panose="020B0609020204030204" pitchFamily="49" charset="0"/>
              </a:rPr>
              <a:t>return</a:t>
            </a:r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 -1;</a:t>
            </a:r>
          </a:p>
          <a:p>
            <a:r>
              <a:rPr lang="ru-RU" sz="1417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7124D9-27C5-FF65-E773-CF6863B680C5}"/>
              </a:ext>
            </a:extLst>
          </p:cNvPr>
          <p:cNvSpPr txBox="1"/>
          <p:nvPr/>
        </p:nvSpPr>
        <p:spPr>
          <a:xfrm>
            <a:off x="959346" y="3159695"/>
            <a:ext cx="177461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OrderDAO.save</a:t>
            </a:r>
            <a:r>
              <a:rPr lang="en-US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(). </a:t>
            </a:r>
            <a:r>
              <a:rPr lang="ru-RU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Создание заказа:</a:t>
            </a:r>
          </a:p>
        </p:txBody>
      </p:sp>
    </p:spTree>
    <p:extLst>
      <p:ext uri="{BB962C8B-B14F-4D97-AF65-F5344CB8AC3E}">
        <p14:creationId xmlns:p14="http://schemas.microsoft.com/office/powerpoint/2010/main" val="12670449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ECF7D95-3918-0C04-78FF-0D1FC462F841}"/>
              </a:ext>
            </a:extLst>
          </p:cNvPr>
          <p:cNvSpPr txBox="1"/>
          <p:nvPr/>
        </p:nvSpPr>
        <p:spPr>
          <a:xfrm>
            <a:off x="763897" y="3084583"/>
            <a:ext cx="279210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OrderDAO.findByCustomerId</a:t>
            </a:r>
            <a:r>
              <a:rPr lang="en-US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(</a:t>
            </a:r>
            <a:r>
              <a:rPr lang="ru-RU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)</a:t>
            </a:r>
            <a:r>
              <a:rPr lang="en-US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. </a:t>
            </a:r>
            <a:r>
              <a:rPr lang="ru-RU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Получение заказов: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0D609E-0F23-6516-B8AA-CA2A0FDD5545}"/>
              </a:ext>
            </a:extLst>
          </p:cNvPr>
          <p:cNvSpPr txBox="1"/>
          <p:nvPr/>
        </p:nvSpPr>
        <p:spPr>
          <a:xfrm>
            <a:off x="3939309" y="733227"/>
            <a:ext cx="7742547" cy="5410134"/>
          </a:xfrm>
          <a:prstGeom prst="round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public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List&lt;Order&gt;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findByCustomerId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(long </a:t>
            </a:r>
            <a:r>
              <a:rPr lang="en-US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customerId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) 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String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rgbClr val="FF5050"/>
                </a:solidFill>
                <a:latin typeface="Consolas" panose="020B0609020204030204" pitchFamily="49" charset="0"/>
              </a:rPr>
              <a:t>sql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417" dirty="0">
                <a:solidFill>
                  <a:srgbClr val="ABE338"/>
                </a:solidFill>
                <a:latin typeface="Consolas" panose="020B0609020204030204" pitchFamily="49" charset="0"/>
              </a:rPr>
              <a:t>"SELECT * FROM orders WHERE </a:t>
            </a:r>
            <a:r>
              <a:rPr lang="en-US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customer_id</a:t>
            </a:r>
            <a:r>
              <a:rPr lang="en-US" sz="1417" dirty="0">
                <a:solidFill>
                  <a:srgbClr val="ABE338"/>
                </a:solidFill>
                <a:latin typeface="Consolas" panose="020B0609020204030204" pitchFamily="49" charset="0"/>
              </a:rPr>
              <a:t> = ? " 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+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        </a:t>
            </a:r>
            <a:r>
              <a:rPr lang="en-US" sz="1417" dirty="0">
                <a:solidFill>
                  <a:srgbClr val="ABE338"/>
                </a:solidFill>
                <a:latin typeface="Consolas" panose="020B0609020204030204" pitchFamily="49" charset="0"/>
              </a:rPr>
              <a:t>"ORDER BY </a:t>
            </a:r>
            <a:r>
              <a:rPr lang="en-US" sz="1417" dirty="0" err="1">
                <a:solidFill>
                  <a:srgbClr val="ABE338"/>
                </a:solidFill>
                <a:latin typeface="Consolas" panose="020B0609020204030204" pitchFamily="49" charset="0"/>
              </a:rPr>
              <a:t>created_at</a:t>
            </a:r>
            <a:r>
              <a:rPr lang="en-US" sz="1417" dirty="0">
                <a:solidFill>
                  <a:srgbClr val="ABE338"/>
                </a:solidFill>
                <a:latin typeface="Consolas" panose="020B0609020204030204" pitchFamily="49" charset="0"/>
              </a:rPr>
              <a:t> DESC"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List&lt;Order&gt; orders =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new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ArrayList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&lt;&gt;();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try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Connection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>
                <a:solidFill>
                  <a:srgbClr val="FF5050"/>
                </a:solidFill>
                <a:latin typeface="Consolas" panose="020B0609020204030204" pitchFamily="49" charset="0"/>
              </a:rPr>
              <a:t>conn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dataSource.getConnection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</a:t>
            </a:r>
            <a:r>
              <a:rPr lang="en-US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PreparedStatement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rgbClr val="FF5050"/>
                </a:solidFill>
                <a:latin typeface="Consolas" panose="020B0609020204030204" pitchFamily="49" charset="0"/>
              </a:rPr>
              <a:t>pstmt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conn.prepareStatement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sql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pstmt.setLong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1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customerId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try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en-US" sz="1417" dirty="0" err="1">
                <a:solidFill>
                  <a:srgbClr val="FFC000"/>
                </a:solidFill>
                <a:latin typeface="Consolas" panose="020B0609020204030204" pitchFamily="49" charset="0"/>
              </a:rPr>
              <a:t>ResultSet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rgbClr val="FF5050"/>
                </a:solidFill>
                <a:latin typeface="Consolas" panose="020B0609020204030204" pitchFamily="49" charset="0"/>
              </a:rPr>
              <a:t>rs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pstmt.executeQuery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while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rs.next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417" dirty="0">
                <a:solidFill>
                  <a:srgbClr val="FFC000"/>
                </a:solidFill>
                <a:latin typeface="Consolas" panose="020B0609020204030204" pitchFamily="49" charset="0"/>
              </a:rPr>
              <a:t>Order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rgbClr val="FF5050"/>
                </a:solidFill>
                <a:latin typeface="Consolas" panose="020B0609020204030204" pitchFamily="49" charset="0"/>
              </a:rPr>
              <a:t>order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mapResultSetToOrder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rs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orders.add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(order);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}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catch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(</a:t>
            </a:r>
            <a:r>
              <a:rPr lang="en-US" sz="1417" dirty="0" err="1">
                <a:solidFill>
                  <a:schemeClr val="bg1"/>
                </a:solidFill>
                <a:latin typeface="Consolas" panose="020B0609020204030204" pitchFamily="49" charset="0"/>
              </a:rPr>
              <a:t>SQLException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e) {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throw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new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417" dirty="0" err="1">
                <a:solidFill>
                  <a:srgbClr val="00FFFF"/>
                </a:solidFill>
                <a:latin typeface="Consolas" panose="020B0609020204030204" pitchFamily="49" charset="0"/>
              </a:rPr>
              <a:t>RuntimeException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417" dirty="0">
                <a:solidFill>
                  <a:srgbClr val="ABE338"/>
                </a:solidFill>
                <a:latin typeface="Consolas" panose="020B0609020204030204" pitchFamily="49" charset="0"/>
              </a:rPr>
              <a:t>"Cannot fetch orders"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, e);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417" dirty="0">
                <a:solidFill>
                  <a:srgbClr val="D47DFF"/>
                </a:solidFill>
                <a:latin typeface="Consolas" panose="020B0609020204030204" pitchFamily="49" charset="0"/>
              </a:rPr>
              <a:t>return</a:t>
            </a:r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 orders;</a:t>
            </a:r>
          </a:p>
          <a:p>
            <a:r>
              <a:rPr lang="en-US" sz="1417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endParaRPr lang="ru-RU" sz="1417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67344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352E56-30E5-EF4D-4E8F-7B9366A2705B}"/>
              </a:ext>
            </a:extLst>
          </p:cNvPr>
          <p:cNvSpPr txBox="1"/>
          <p:nvPr/>
        </p:nvSpPr>
        <p:spPr>
          <a:xfrm>
            <a:off x="1629658" y="114626"/>
            <a:ext cx="342941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Application.java. </a:t>
            </a:r>
            <a:r>
              <a:rPr lang="ru-RU" sz="1500" dirty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Полный цикл: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33F9EC-C915-60CD-E065-8E724E43F3A5}"/>
              </a:ext>
            </a:extLst>
          </p:cNvPr>
          <p:cNvSpPr txBox="1"/>
          <p:nvPr/>
        </p:nvSpPr>
        <p:spPr>
          <a:xfrm>
            <a:off x="0" y="912571"/>
            <a:ext cx="6253795" cy="54254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1333" dirty="0">
                <a:solidFill>
                  <a:srgbClr val="D47DFF"/>
                </a:solidFill>
                <a:latin typeface="Consolas" panose="020B0609020204030204" pitchFamily="49" charset="0"/>
              </a:rPr>
              <a:t>public static void </a:t>
            </a:r>
            <a:r>
              <a:rPr lang="en-US" sz="1333" dirty="0">
                <a:solidFill>
                  <a:srgbClr val="00FFFF"/>
                </a:solidFill>
                <a:latin typeface="Consolas" panose="020B0609020204030204" pitchFamily="49" charset="0"/>
              </a:rPr>
              <a:t>main</a:t>
            </a:r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(String[] </a:t>
            </a:r>
            <a:r>
              <a:rPr lang="en-US" sz="1333" dirty="0" err="1">
                <a:solidFill>
                  <a:srgbClr val="FFC000"/>
                </a:solidFill>
                <a:latin typeface="Consolas" panose="020B0609020204030204" pitchFamily="49" charset="0"/>
              </a:rPr>
              <a:t>args</a:t>
            </a:r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) 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333" dirty="0">
                <a:solidFill>
                  <a:srgbClr val="D47DFF"/>
                </a:solidFill>
                <a:latin typeface="Consolas" panose="020B0609020204030204" pitchFamily="49" charset="0"/>
              </a:rPr>
              <a:t>try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rgbClr val="F3E9C7"/>
                </a:solidFill>
                <a:latin typeface="Consolas" panose="020B0609020204030204" pitchFamily="49" charset="0"/>
              </a:rPr>
              <a:t>// 1. </a:t>
            </a:r>
            <a:r>
              <a:rPr lang="ru-RU" sz="1333" dirty="0">
                <a:solidFill>
                  <a:srgbClr val="F3E9C7"/>
                </a:solidFill>
                <a:latin typeface="Consolas" panose="020B0609020204030204" pitchFamily="49" charset="0"/>
              </a:rPr>
              <a:t>Инициализируем </a:t>
            </a:r>
            <a:r>
              <a:rPr lang="en-US" sz="1333" dirty="0" err="1">
                <a:solidFill>
                  <a:srgbClr val="F3E9C7"/>
                </a:solidFill>
                <a:latin typeface="Consolas" panose="020B0609020204030204" pitchFamily="49" charset="0"/>
              </a:rPr>
              <a:t>DataSource</a:t>
            </a:r>
            <a:endParaRPr lang="en-US" sz="1333" dirty="0">
              <a:solidFill>
                <a:srgbClr val="F3E9C7"/>
              </a:solidFill>
              <a:latin typeface="Consolas" panose="020B0609020204030204" pitchFamily="49" charset="0"/>
            </a:endParaRP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rgbClr val="FFC000"/>
                </a:solidFill>
                <a:latin typeface="Consolas" panose="020B0609020204030204" pitchFamily="49" charset="0"/>
              </a:rPr>
              <a:t>DataSource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>
                <a:solidFill>
                  <a:srgbClr val="FF5050"/>
                </a:solidFill>
                <a:latin typeface="Consolas" panose="020B0609020204030204" pitchFamily="49" charset="0"/>
              </a:rPr>
              <a:t>ds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DatabaseConfig.getDataSource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System.out.println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en-US" sz="1333" dirty="0" err="1" smtClean="0">
                <a:solidFill>
                  <a:srgbClr val="ABE338"/>
                </a:solidFill>
                <a:latin typeface="Consolas" panose="020B0609020204030204" pitchFamily="49" charset="0"/>
              </a:rPr>
              <a:t>HikariCP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>
                <a:solidFill>
                  <a:srgbClr val="ABE338"/>
                </a:solidFill>
                <a:latin typeface="Consolas" panose="020B0609020204030204" pitchFamily="49" charset="0"/>
              </a:rPr>
              <a:t>pool </a:t>
            </a:r>
            <a:r>
              <a:rPr lang="ru-RU" sz="1333" dirty="0">
                <a:solidFill>
                  <a:srgbClr val="ABE338"/>
                </a:solidFill>
                <a:latin typeface="Consolas" panose="020B0609020204030204" pitchFamily="49" charset="0"/>
              </a:rPr>
              <a:t>инициализирован"</a:t>
            </a:r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ru-RU" sz="1333" dirty="0">
                <a:solidFill>
                  <a:srgbClr val="F3E9C7"/>
                </a:solidFill>
                <a:latin typeface="Consolas" panose="020B0609020204030204" pitchFamily="49" charset="0"/>
              </a:rPr>
              <a:t>// 2. Запускаем </a:t>
            </a:r>
            <a:r>
              <a:rPr lang="en-US" sz="1333" dirty="0">
                <a:solidFill>
                  <a:srgbClr val="F3E9C7"/>
                </a:solidFill>
                <a:latin typeface="Consolas" panose="020B0609020204030204" pitchFamily="49" charset="0"/>
              </a:rPr>
              <a:t>Flyway </a:t>
            </a:r>
            <a:r>
              <a:rPr lang="ru-RU" sz="1333" dirty="0">
                <a:solidFill>
                  <a:srgbClr val="F3E9C7"/>
                </a:solidFill>
                <a:latin typeface="Consolas" panose="020B0609020204030204" pitchFamily="49" charset="0"/>
              </a:rPr>
              <a:t>миграции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Flyway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 err="1">
                <a:solidFill>
                  <a:srgbClr val="FF5050"/>
                </a:solidFill>
                <a:latin typeface="Consolas" panose="020B0609020204030204" pitchFamily="49" charset="0"/>
              </a:rPr>
              <a:t>flyway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Flyway.configure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    .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dataSource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(ds)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    .locations(</a:t>
            </a:r>
            <a:r>
              <a:rPr lang="en-US" sz="1333" dirty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en-US" sz="1333" dirty="0" err="1">
                <a:solidFill>
                  <a:srgbClr val="ABE338"/>
                </a:solidFill>
                <a:latin typeface="Consolas" panose="020B0609020204030204" pitchFamily="49" charset="0"/>
              </a:rPr>
              <a:t>classpath:db</a:t>
            </a:r>
            <a:r>
              <a:rPr lang="en-US" sz="1333" dirty="0">
                <a:solidFill>
                  <a:srgbClr val="ABE338"/>
                </a:solidFill>
                <a:latin typeface="Consolas" panose="020B0609020204030204" pitchFamily="49" charset="0"/>
              </a:rPr>
              <a:t>/migration"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    .load();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flyway.migrate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System.out.println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Миграции </a:t>
            </a:r>
            <a:r>
              <a:rPr lang="ru-RU" sz="1333" dirty="0">
                <a:solidFill>
                  <a:srgbClr val="ABE338"/>
                </a:solidFill>
                <a:latin typeface="Consolas" panose="020B0609020204030204" pitchFamily="49" charset="0"/>
              </a:rPr>
              <a:t>выполнены"</a:t>
            </a:r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ru-RU" sz="1333" dirty="0">
                <a:solidFill>
                  <a:srgbClr val="F3E9C7"/>
                </a:solidFill>
                <a:latin typeface="Consolas" panose="020B0609020204030204" pitchFamily="49" charset="0"/>
              </a:rPr>
              <a:t>// 3. Демонстрация </a:t>
            </a:r>
            <a:r>
              <a:rPr lang="en-US" sz="1333" dirty="0">
                <a:solidFill>
                  <a:srgbClr val="F3E9C7"/>
                </a:solidFill>
                <a:latin typeface="Consolas" panose="020B0609020204030204" pitchFamily="49" charset="0"/>
              </a:rPr>
              <a:t>CRUD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rgbClr val="FFC000"/>
                </a:solidFill>
                <a:latin typeface="Consolas" panose="020B0609020204030204" pitchFamily="49" charset="0"/>
              </a:rPr>
              <a:t>OrderDAO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 err="1">
                <a:solidFill>
                  <a:srgbClr val="FF5050"/>
                </a:solidFill>
                <a:latin typeface="Consolas" panose="020B0609020204030204" pitchFamily="49" charset="0"/>
              </a:rPr>
              <a:t>orderDAO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333" dirty="0">
                <a:solidFill>
                  <a:srgbClr val="D47DFF"/>
                </a:solidFill>
                <a:latin typeface="Consolas" panose="020B0609020204030204" pitchFamily="49" charset="0"/>
              </a:rPr>
              <a:t>new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 err="1">
                <a:solidFill>
                  <a:srgbClr val="00FFFF"/>
                </a:solidFill>
                <a:latin typeface="Consolas" panose="020B0609020204030204" pitchFamily="49" charset="0"/>
              </a:rPr>
              <a:t>OrderDAO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(ds);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rgbClr val="F3E9C7"/>
                </a:solidFill>
                <a:latin typeface="Consolas" panose="020B0609020204030204" pitchFamily="49" charset="0"/>
              </a:rPr>
              <a:t>// CREATE — </a:t>
            </a:r>
            <a:r>
              <a:rPr lang="ru-RU" sz="1333" dirty="0">
                <a:solidFill>
                  <a:srgbClr val="F3E9C7"/>
                </a:solidFill>
                <a:latin typeface="Consolas" panose="020B0609020204030204" pitchFamily="49" charset="0"/>
              </a:rPr>
              <a:t>создаем заказ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Order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 err="1">
                <a:solidFill>
                  <a:srgbClr val="FF5050"/>
                </a:solidFill>
                <a:latin typeface="Consolas" panose="020B0609020204030204" pitchFamily="49" charset="0"/>
              </a:rPr>
              <a:t>order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333" dirty="0">
                <a:solidFill>
                  <a:srgbClr val="D47DFF"/>
                </a:solidFill>
                <a:latin typeface="Consolas" panose="020B0609020204030204" pitchFamily="49" charset="0"/>
              </a:rPr>
              <a:t>new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>
                <a:solidFill>
                  <a:srgbClr val="00FFFF"/>
                </a:solidFill>
                <a:latin typeface="Consolas" panose="020B0609020204030204" pitchFamily="49" charset="0"/>
              </a:rPr>
              <a:t>Order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1L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,  </a:t>
            </a:r>
            <a:r>
              <a:rPr lang="en-US" sz="1333" dirty="0">
                <a:solidFill>
                  <a:srgbClr val="F3E9C7"/>
                </a:solidFill>
                <a:latin typeface="Consolas" panose="020B0609020204030204" pitchFamily="49" charset="0"/>
              </a:rPr>
              <a:t>// </a:t>
            </a:r>
            <a:r>
              <a:rPr lang="en-US" sz="1333" dirty="0" err="1">
                <a:solidFill>
                  <a:srgbClr val="F3E9C7"/>
                </a:solidFill>
                <a:latin typeface="Consolas" panose="020B0609020204030204" pitchFamily="49" charset="0"/>
              </a:rPr>
              <a:t>customer_id</a:t>
            </a:r>
            <a:endParaRPr lang="en-US" sz="1333" dirty="0">
              <a:solidFill>
                <a:srgbClr val="F3E9C7"/>
              </a:solidFill>
              <a:latin typeface="Consolas" panose="020B0609020204030204" pitchFamily="49" charset="0"/>
            </a:endParaRP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333" dirty="0">
                <a:solidFill>
                  <a:srgbClr val="D47DFF"/>
                </a:solidFill>
                <a:latin typeface="Consolas" panose="020B0609020204030204" pitchFamily="49" charset="0"/>
              </a:rPr>
              <a:t>new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 err="1">
                <a:solidFill>
                  <a:srgbClr val="00FFFF"/>
                </a:solidFill>
                <a:latin typeface="Consolas" panose="020B0609020204030204" pitchFamily="49" charset="0"/>
              </a:rPr>
              <a:t>BigDecimal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>
                <a:solidFill>
                  <a:srgbClr val="ABE338"/>
                </a:solidFill>
                <a:latin typeface="Consolas" panose="020B0609020204030204" pitchFamily="49" charset="0"/>
              </a:rPr>
              <a:t>"1599.99"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),  </a:t>
            </a:r>
            <a:r>
              <a:rPr lang="en-US" sz="1333" dirty="0">
                <a:solidFill>
                  <a:srgbClr val="F3E9C7"/>
                </a:solidFill>
                <a:latin typeface="Consolas" panose="020B0609020204030204" pitchFamily="49" charset="0"/>
              </a:rPr>
              <a:t>// </a:t>
            </a:r>
            <a:r>
              <a:rPr lang="en-US" sz="1333" dirty="0" err="1">
                <a:solidFill>
                  <a:srgbClr val="F3E9C7"/>
                </a:solidFill>
                <a:latin typeface="Consolas" panose="020B0609020204030204" pitchFamily="49" charset="0"/>
              </a:rPr>
              <a:t>total_amount</a:t>
            </a:r>
            <a:endParaRPr lang="en-US" sz="1333" dirty="0">
              <a:solidFill>
                <a:srgbClr val="F3E9C7"/>
              </a:solidFill>
              <a:latin typeface="Consolas" panose="020B0609020204030204" pitchFamily="49" charset="0"/>
            </a:endParaRP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333" dirty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333" dirty="0">
                <a:solidFill>
                  <a:srgbClr val="ABE338"/>
                </a:solidFill>
                <a:latin typeface="Consolas" panose="020B0609020204030204" pitchFamily="49" charset="0"/>
              </a:rPr>
              <a:t>ул. Пушкина, 10"  </a:t>
            </a:r>
            <a:r>
              <a:rPr lang="ru-RU" sz="1333" dirty="0">
                <a:solidFill>
                  <a:srgbClr val="F3E9C7"/>
                </a:solidFill>
                <a:latin typeface="Consolas" panose="020B0609020204030204" pitchFamily="49" charset="0"/>
              </a:rPr>
              <a:t>// </a:t>
            </a:r>
            <a:r>
              <a:rPr lang="en-US" sz="1333" dirty="0" err="1">
                <a:solidFill>
                  <a:srgbClr val="F3E9C7"/>
                </a:solidFill>
                <a:latin typeface="Consolas" panose="020B0609020204030204" pitchFamily="49" charset="0"/>
              </a:rPr>
              <a:t>delivery_address</a:t>
            </a:r>
            <a:endParaRPr lang="en-US" sz="1333" dirty="0">
              <a:solidFill>
                <a:srgbClr val="F3E9C7"/>
              </a:solidFill>
              <a:latin typeface="Consolas" panose="020B0609020204030204" pitchFamily="49" charset="0"/>
            </a:endParaRP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long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 err="1">
                <a:solidFill>
                  <a:srgbClr val="FF5050"/>
                </a:solidFill>
                <a:latin typeface="Consolas" panose="020B0609020204030204" pitchFamily="49" charset="0"/>
              </a:rPr>
              <a:t>orderId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orderDAO.save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(order);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System.out.println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Заказ </a:t>
            </a:r>
            <a:r>
              <a:rPr lang="ru-RU" sz="1333" dirty="0">
                <a:solidFill>
                  <a:srgbClr val="ABE338"/>
                </a:solidFill>
                <a:latin typeface="Consolas" panose="020B0609020204030204" pitchFamily="49" charset="0"/>
              </a:rPr>
              <a:t>создан: </a:t>
            </a:r>
            <a:r>
              <a:rPr lang="en-US" sz="1333" dirty="0">
                <a:solidFill>
                  <a:srgbClr val="ABE338"/>
                </a:solidFill>
                <a:latin typeface="Consolas" panose="020B0609020204030204" pitchFamily="49" charset="0"/>
              </a:rPr>
              <a:t>ID=" 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+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orderId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  <a:endParaRPr lang="ru-RU" sz="1333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B1C431-54BE-9D14-7DDE-1A506AC250E3}"/>
              </a:ext>
            </a:extLst>
          </p:cNvPr>
          <p:cNvSpPr txBox="1"/>
          <p:nvPr/>
        </p:nvSpPr>
        <p:spPr>
          <a:xfrm>
            <a:off x="5694258" y="437791"/>
            <a:ext cx="6679305" cy="54254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// READ — </a:t>
            </a:r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получаем по 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ID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Order</a:t>
            </a:r>
            <a:r>
              <a:rPr lang="en-US" sz="1333" dirty="0">
                <a:solidFill>
                  <a:srgbClr val="FF5050"/>
                </a:solidFill>
                <a:latin typeface="Consolas" panose="020B0609020204030204" pitchFamily="49" charset="0"/>
              </a:rPr>
              <a:t> found 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=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orderDAO.findById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orderId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).get();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System.out.println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Найден </a:t>
            </a:r>
            <a:r>
              <a:rPr lang="ru-RU" sz="1333" dirty="0">
                <a:solidFill>
                  <a:srgbClr val="ABE338"/>
                </a:solidFill>
                <a:latin typeface="Consolas" panose="020B0609020204030204" pitchFamily="49" charset="0"/>
              </a:rPr>
              <a:t>заказ: " </a:t>
            </a:r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+ 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found);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rgbClr val="F3E9C7"/>
                </a:solidFill>
                <a:latin typeface="Consolas" panose="020B0609020204030204" pitchFamily="49" charset="0"/>
              </a:rPr>
              <a:t>// UPDATE — </a:t>
            </a:r>
            <a:r>
              <a:rPr lang="ru-RU" sz="1333" dirty="0">
                <a:solidFill>
                  <a:srgbClr val="F3E9C7"/>
                </a:solidFill>
                <a:latin typeface="Consolas" panose="020B0609020204030204" pitchFamily="49" charset="0"/>
              </a:rPr>
              <a:t>меняем статус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orderDAO.updateStatus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orderId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OrderStatus.SHIPPED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System.out.println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“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C</a:t>
            </a:r>
            <a:r>
              <a:rPr lang="ru-RU" sz="1333" dirty="0" err="1" smtClean="0">
                <a:solidFill>
                  <a:srgbClr val="ABE338"/>
                </a:solidFill>
                <a:latin typeface="Consolas" panose="020B0609020204030204" pitchFamily="49" charset="0"/>
              </a:rPr>
              <a:t>татус</a:t>
            </a:r>
            <a:r>
              <a:rPr lang="ru-RU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 </a:t>
            </a:r>
            <a:r>
              <a:rPr lang="ru-RU" sz="1333" dirty="0">
                <a:solidFill>
                  <a:srgbClr val="ABE338"/>
                </a:solidFill>
                <a:latin typeface="Consolas" panose="020B0609020204030204" pitchFamily="49" charset="0"/>
              </a:rPr>
              <a:t>изменен на </a:t>
            </a:r>
            <a:r>
              <a:rPr lang="en-US" sz="1333" dirty="0">
                <a:solidFill>
                  <a:srgbClr val="ABE338"/>
                </a:solidFill>
                <a:latin typeface="Consolas" panose="020B0609020204030204" pitchFamily="49" charset="0"/>
              </a:rPr>
              <a:t>SHIPPED"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rgbClr val="F3E9C7"/>
                </a:solidFill>
                <a:latin typeface="Consolas" panose="020B0609020204030204" pitchFamily="49" charset="0"/>
              </a:rPr>
              <a:t>// LIST — </a:t>
            </a:r>
            <a:r>
              <a:rPr lang="ru-RU" sz="1333" dirty="0">
                <a:solidFill>
                  <a:srgbClr val="F3E9C7"/>
                </a:solidFill>
                <a:latin typeface="Consolas" panose="020B0609020204030204" pitchFamily="49" charset="0"/>
              </a:rPr>
              <a:t>получаем все заказы клиента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List&lt;Order&gt;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customerOrders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orderDAO.findByCustomerId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>
                <a:solidFill>
                  <a:srgbClr val="FFC000"/>
                </a:solidFill>
                <a:latin typeface="Consolas" panose="020B0609020204030204" pitchFamily="49" charset="0"/>
              </a:rPr>
              <a:t>1L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System.out.println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Заказы </a:t>
            </a:r>
            <a:r>
              <a:rPr lang="ru-RU" sz="1333" dirty="0">
                <a:solidFill>
                  <a:srgbClr val="ABE338"/>
                </a:solidFill>
                <a:latin typeface="Consolas" panose="020B0609020204030204" pitchFamily="49" charset="0"/>
              </a:rPr>
              <a:t>клиента: "</a:t>
            </a:r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+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customerOrders.size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rgbClr val="F3E9C7"/>
                </a:solidFill>
                <a:latin typeface="Consolas" panose="020B0609020204030204" pitchFamily="49" charset="0"/>
              </a:rPr>
              <a:t>// STATS — </a:t>
            </a:r>
            <a:r>
              <a:rPr lang="ru-RU" sz="1333" dirty="0">
                <a:solidFill>
                  <a:srgbClr val="F3E9C7"/>
                </a:solidFill>
                <a:latin typeface="Consolas" panose="020B0609020204030204" pitchFamily="49" charset="0"/>
              </a:rPr>
              <a:t>считаем статистику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OrderDAO.</a:t>
            </a:r>
            <a:r>
              <a:rPr lang="en-US" sz="1333" dirty="0" err="1">
                <a:solidFill>
                  <a:srgbClr val="FFC000"/>
                </a:solidFill>
                <a:latin typeface="Consolas" panose="020B0609020204030204" pitchFamily="49" charset="0"/>
              </a:rPr>
              <a:t>OrderStats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>
                <a:solidFill>
                  <a:srgbClr val="FF5050"/>
                </a:solidFill>
                <a:latin typeface="Consolas" panose="020B0609020204030204" pitchFamily="49" charset="0"/>
              </a:rPr>
              <a:t>stats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orderDAO.getStats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System.out.println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Всего </a:t>
            </a:r>
            <a:r>
              <a:rPr lang="ru-RU" sz="1333" dirty="0">
                <a:solidFill>
                  <a:srgbClr val="ABE338"/>
                </a:solidFill>
                <a:latin typeface="Consolas" panose="020B0609020204030204" pitchFamily="49" charset="0"/>
              </a:rPr>
              <a:t>заказов: "</a:t>
            </a:r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+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stats.totalOrders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System.out.println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Выручка</a:t>
            </a:r>
            <a:r>
              <a:rPr lang="ru-RU" sz="1333" dirty="0">
                <a:solidFill>
                  <a:srgbClr val="ABE338"/>
                </a:solidFill>
                <a:latin typeface="Consolas" panose="020B0609020204030204" pitchFamily="49" charset="0"/>
              </a:rPr>
              <a:t>: "</a:t>
            </a:r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+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stats.totalRevenue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>
                <a:solidFill>
                  <a:srgbClr val="F3E9C7"/>
                </a:solidFill>
                <a:latin typeface="Consolas" panose="020B0609020204030204" pitchFamily="49" charset="0"/>
              </a:rPr>
              <a:t>// DELETE — </a:t>
            </a:r>
            <a:r>
              <a:rPr lang="ru-RU" sz="1333" dirty="0">
                <a:solidFill>
                  <a:srgbClr val="F3E9C7"/>
                </a:solidFill>
                <a:latin typeface="Consolas" panose="020B0609020204030204" pitchFamily="49" charset="0"/>
              </a:rPr>
              <a:t>удаляем заказ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orderDAO.delete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orderId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System.out.println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"</a:t>
            </a:r>
            <a:r>
              <a:rPr lang="ru-RU" sz="1333" dirty="0" smtClean="0">
                <a:solidFill>
                  <a:srgbClr val="ABE338"/>
                </a:solidFill>
                <a:latin typeface="Consolas" panose="020B0609020204030204" pitchFamily="49" charset="0"/>
              </a:rPr>
              <a:t>Заказ </a:t>
            </a:r>
            <a:r>
              <a:rPr lang="ru-RU" sz="1333" dirty="0">
                <a:solidFill>
                  <a:srgbClr val="ABE338"/>
                </a:solidFill>
                <a:latin typeface="Consolas" panose="020B0609020204030204" pitchFamily="49" charset="0"/>
              </a:rPr>
              <a:t>удален"</a:t>
            </a:r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ru-RU" sz="1333" dirty="0">
                <a:solidFill>
                  <a:schemeClr val="bg1"/>
                </a:solidFill>
                <a:latin typeface="Consolas" panose="020B0609020204030204" pitchFamily="49" charset="0"/>
              </a:rPr>
              <a:t>    } </a:t>
            </a:r>
            <a:r>
              <a:rPr lang="en-US" sz="1333" dirty="0" smtClean="0">
                <a:solidFill>
                  <a:srgbClr val="D47DFF"/>
                </a:solidFill>
                <a:latin typeface="Consolas" panose="020B0609020204030204" pitchFamily="49" charset="0"/>
              </a:rPr>
              <a:t>finally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333" dirty="0" smtClean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  <a:endParaRPr lang="en-US" sz="1333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333" dirty="0" err="1">
                <a:solidFill>
                  <a:schemeClr val="bg1"/>
                </a:solidFill>
                <a:latin typeface="Consolas" panose="020B0609020204030204" pitchFamily="49" charset="0"/>
              </a:rPr>
              <a:t>DatabaseConfig.closeDataSource</a:t>
            </a:r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333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endParaRPr lang="ru-RU" sz="1333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2186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1DB0C5-9B2C-6089-F042-F371BD309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3713" y="2815979"/>
            <a:ext cx="4926208" cy="1325563"/>
          </a:xfrm>
        </p:spPr>
        <p:txBody>
          <a:bodyPr>
            <a:normAutofit/>
          </a:bodyPr>
          <a:lstStyle/>
          <a:p>
            <a:r>
              <a:rPr lang="ru-RU" sz="3600" dirty="0" smtClean="0">
                <a:solidFill>
                  <a:schemeClr val="accent2">
                    <a:lumMod val="75000"/>
                  </a:schemeClr>
                </a:solidFill>
                <a:latin typeface="Bahnschrift SemiBold" panose="020B0502040204020203" pitchFamily="34" charset="0"/>
              </a:rPr>
              <a:t>Спасибо за внимание!</a:t>
            </a:r>
            <a:endParaRPr lang="ru-RU" sz="3600" dirty="0">
              <a:solidFill>
                <a:schemeClr val="accent2">
                  <a:lumMod val="75000"/>
                </a:schemeClr>
              </a:solidFill>
              <a:latin typeface="Bahnschrift SemiBol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44854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джава преза</Template>
  <TotalTime>167</TotalTime>
  <Words>2405</Words>
  <Application>Microsoft Office PowerPoint</Application>
  <PresentationFormat>Широкоэкранный</PresentationFormat>
  <Paragraphs>372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32" baseType="lpstr">
      <vt:lpstr>Arial</vt:lpstr>
      <vt:lpstr>Bahnschrift SemiBold</vt:lpstr>
      <vt:lpstr>Calibri</vt:lpstr>
      <vt:lpstr>Calibri Light</vt:lpstr>
      <vt:lpstr>Consolas</vt:lpstr>
      <vt:lpstr>Corbel</vt:lpstr>
      <vt:lpstr>Instrument Sans Medium</vt:lpstr>
      <vt:lpstr>Instrument Sans Semi Bold</vt:lpstr>
      <vt:lpstr>Lucida Console</vt:lpstr>
      <vt:lpstr>Segoe UI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Alex Eysmont</dc:creator>
  <cp:lastModifiedBy>Slava</cp:lastModifiedBy>
  <cp:revision>22</cp:revision>
  <dcterms:created xsi:type="dcterms:W3CDTF">2025-12-13T07:40:28Z</dcterms:created>
  <dcterms:modified xsi:type="dcterms:W3CDTF">2025-12-13T10:56:34Z</dcterms:modified>
</cp:coreProperties>
</file>