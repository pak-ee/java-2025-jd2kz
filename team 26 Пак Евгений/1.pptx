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90622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4428537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78462831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3241293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4321372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163285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892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3153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jar command reference (Oracle Java SE 17 docs): https://docs.oracle.com/en/java/javase/17/docs/specs/man/jar.html</a:t>
            </a:r>
            <a:br>
              <a:rPr lang="en-US"/>
            </a:br>
            <a:r>
              <a:rPr lang="en-US"/>
              <a:t>- Terminal icon (GNOME Terminal icon 2019): https://commons.wikimedia.org/wiki/File:GNOME_Terminal_icon_2019.svg (PNG preview used)</a:t>
            </a:r>
            <a:br>
              <a:rPr lang="en-US"/>
            </a:br>
            <a:r>
              <a:rPr lang="en-US"/>
              <a:t>- Jar icon: https://commons.wikimedia.org/wiki/File:Jar.svg (PNG preview used)</a:t>
            </a:r>
            <a:br>
              <a:rPr lang="en-US"/>
            </a:br>
            <a:r>
              <a:rPr lang="en-US"/>
              <a:t>- Coffee cup icon: https://commons.wikimedia.org/wiki/File:Coffee_cup_icon.svg (PNG preview used)</a:t>
            </a:r>
            <a:br>
              <a:rPr lang="en-US"/>
            </a:br>
            <a:endParaRPr lang="en-US"/>
          </a:p>
        </p:txBody>
      </p:sp>
      <p:sp>
        <p:nvSpPr>
          <p:cNvPr id="18999313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676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2431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jar is ZIP/ZLIB-based and packs classes/resources (Oracle jar tool docs): https://docs.oracle.com/en/java/javase/17/docs/specs/man/jar.html</a:t>
            </a:r>
            <a:br>
              <a:rPr lang="en-US"/>
            </a:br>
            <a:r>
              <a:rPr lang="en-US"/>
              <a:t>- Jar icon: https://commons.wikimedia.org/wiki/File:Jar.svg (PNG preview used)</a:t>
            </a:r>
            <a:br>
              <a:rPr lang="en-US"/>
            </a:br>
            <a:endParaRPr lang="en-US"/>
          </a:p>
        </p:txBody>
      </p:sp>
      <p:sp>
        <p:nvSpPr>
          <p:cNvPr id="892593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047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4175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jar options: --help, --help:compat, --version, --describe-module (Oracle jar tool docs): https://docs.oracle.com/en/java/javase/17/docs/specs/man/jar.html</a:t>
            </a:r>
            <a:br>
              <a:rPr lang="en-US"/>
            </a:br>
            <a:r>
              <a:rPr lang="en-US"/>
              <a:t>- Terminal icon: https://commons.wikimedia.org/wiki/File:GNOME_Terminal_icon_2019.svg (PNG preview used)</a:t>
            </a:r>
            <a:br>
              <a:rPr lang="en-US"/>
            </a:br>
            <a:endParaRPr lang="en-US"/>
          </a:p>
        </p:txBody>
      </p:sp>
      <p:sp>
        <p:nvSpPr>
          <p:cNvPr id="16052246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437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7761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Main operation modes and modifiers (Oracle jar tool docs): https://docs.oracle.com/en/java/javase/17/docs/specs/man/jar.html</a:t>
            </a:r>
            <a:br>
              <a:rPr lang="en-US"/>
            </a:br>
            <a:endParaRPr lang="en-US"/>
          </a:p>
        </p:txBody>
      </p:sp>
      <p:sp>
        <p:nvSpPr>
          <p:cNvPr id="606730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134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8852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Create mode, --file and -C explained, plus examples (Oracle jar tool docs): https://docs.oracle.com/en/java/javase/17/docs/specs/man/jar.html</a:t>
            </a:r>
            <a:br>
              <a:rPr lang="en-US"/>
            </a:br>
            <a:endParaRPr lang="en-US"/>
          </a:p>
        </p:txBody>
      </p:sp>
      <p:sp>
        <p:nvSpPr>
          <p:cNvPr id="138280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5868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9572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List mode (-t/--list) and verbose (-v) (Oracle jar tool docs): https://docs.oracle.com/en/java/javase/17/docs/specs/man/jar.html</a:t>
            </a:r>
            <a:br>
              <a:rPr lang="en-US"/>
            </a:br>
            <a:r>
              <a:rPr lang="en-US"/>
              <a:t>- Jar icon: https://commons.wikimedia.org/wiki/File:Jar.svg (PNG preview used)</a:t>
            </a:r>
            <a:br>
              <a:rPr lang="en-US"/>
            </a:br>
            <a:endParaRPr lang="en-US"/>
          </a:p>
        </p:txBody>
      </p:sp>
      <p:sp>
        <p:nvSpPr>
          <p:cNvPr id="2758633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886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999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Extract mode (-x/--extract) and basic syntax (Oracle jar tool docs): https://docs.oracle.com/en/java/javase/17/docs/specs/man/jar.html</a:t>
            </a:r>
            <a:br>
              <a:rPr lang="en-US"/>
            </a:br>
            <a:r>
              <a:rPr lang="en-US"/>
              <a:t>- Oracle tutorial: Extracting contents of a JAR: https://docs.oracle.com/javase/tutorial/deployment/jar/unpack.html</a:t>
            </a:r>
            <a:br>
              <a:rPr lang="en-US"/>
            </a:br>
            <a:endParaRPr lang="en-US"/>
          </a:p>
        </p:txBody>
      </p:sp>
      <p:sp>
        <p:nvSpPr>
          <p:cNvPr id="604410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7974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8274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--main-class/-e option and executable JAR creation (Oracle jar tool docs): https://docs.oracle.com/en/java/javase/17/docs/specs/man/jar.html</a:t>
            </a:r>
            <a:br>
              <a:rPr lang="en-US"/>
            </a:br>
            <a:r>
              <a:rPr lang="en-US"/>
              <a:t>- Oracle tutorial: Setting an application's entry point (jar cfe, java -jar): https://docs.oracle.com/javase/tutorial/deployment/jar/appman.html</a:t>
            </a:r>
            <a:br>
              <a:rPr lang="en-US"/>
            </a:br>
            <a:r>
              <a:rPr lang="en-US"/>
              <a:t>- java -jar behavior (Oracle java tool docs): https://docs.oracle.com/en/java/javase/11/tools/java.html</a:t>
            </a:r>
            <a:br>
              <a:rPr lang="en-US"/>
            </a:br>
            <a:endParaRPr lang="en-US"/>
          </a:p>
        </p:txBody>
      </p:sp>
      <p:sp>
        <p:nvSpPr>
          <p:cNvPr id="20239283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3587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316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Update mode (-u/--update) (Oracle jar tool docs): https://docs.oracle.com/en/java/javase/17/docs/specs/man/jar.html</a:t>
            </a:r>
            <a:br>
              <a:rPr lang="en-US"/>
            </a:br>
            <a:r>
              <a:rPr lang="en-US"/>
              <a:t>- Oracle tutorial: Updating a JAR file (u/f behavior, overwriting): https://docs.oracle.com/javase/tutorial/deployment/jar/update.html</a:t>
            </a:r>
            <a:br>
              <a:rPr lang="en-US"/>
            </a:br>
            <a:endParaRPr lang="en-US"/>
          </a:p>
        </p:txBody>
      </p:sp>
      <p:sp>
        <p:nvSpPr>
          <p:cNvPr id="1329308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6523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0645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--release behavior and MRJAR example (Oracle jar tool docs): https://docs.oracle.com/en/java/javase/17/docs/specs/man/jar.html</a:t>
            </a:r>
            <a:br>
              <a:rPr lang="en-US"/>
            </a:br>
            <a:r>
              <a:rPr lang="en-US"/>
              <a:t>- Multi-release JAR concept (JEP 238): https://openjdk.org/jeps/238</a:t>
            </a:r>
            <a:br>
              <a:rPr lang="en-US"/>
            </a:br>
            <a:endParaRPr lang="en-US"/>
          </a:p>
        </p:txBody>
      </p:sp>
      <p:sp>
        <p:nvSpPr>
          <p:cNvPr id="1503531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476271" name="Shape 0"/>
          <p:cNvSpPr/>
          <p:nvPr/>
        </p:nvSpPr>
        <p:spPr bwMode="auto">
          <a:xfrm>
            <a:off x="5852160" y="3886200"/>
            <a:ext cx="2743200" cy="2743200"/>
          </a:xfrm>
          <a:prstGeom prst="ellipse">
            <a:avLst/>
          </a:prstGeom>
          <a:solidFill>
            <a:srgbClr val="111B2E">
              <a:alpha val="45000"/>
            </a:srgbClr>
          </a:solidFill>
          <a:ln w="12700">
            <a:solidFill>
              <a:srgbClr val="111B2E">
                <a:alpha val="0"/>
              </a:srgbClr>
            </a:solidFill>
            <a:prstDash val="solid"/>
          </a:ln>
        </p:spPr>
      </p:sp>
      <p:sp>
        <p:nvSpPr>
          <p:cNvPr id="1484492929" name="Shape 1"/>
          <p:cNvSpPr/>
          <p:nvPr/>
        </p:nvSpPr>
        <p:spPr bwMode="auto">
          <a:xfrm>
            <a:off x="182880" y="228600"/>
            <a:ext cx="1280160" cy="1005840"/>
          </a:xfrm>
          <a:prstGeom prst="ellipse">
            <a:avLst/>
          </a:prstGeom>
          <a:solidFill>
            <a:srgbClr val="0B1326">
              <a:alpha val="35000"/>
            </a:srgbClr>
          </a:solidFill>
          <a:ln w="12700">
            <a:solidFill>
              <a:srgbClr val="0B1326">
                <a:alpha val="0"/>
              </a:srgbClr>
            </a:solidFill>
            <a:prstDash val="solid"/>
          </a:ln>
        </p:spPr>
      </p:sp>
      <p:pic>
        <p:nvPicPr>
          <p:cNvPr id="1849347946" name="Image 0" descr="/mnt/data/terminal_ico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686800" y="3977640"/>
            <a:ext cx="1828800" cy="1828800"/>
          </a:xfrm>
          <a:prstGeom prst="rect">
            <a:avLst/>
          </a:prstGeom>
        </p:spPr>
      </p:pic>
      <p:sp>
        <p:nvSpPr>
          <p:cNvPr id="1626752855" name="Text 2"/>
          <p:cNvSpPr/>
          <p:nvPr/>
        </p:nvSpPr>
        <p:spPr bwMode="auto">
          <a:xfrm>
            <a:off x="777240" y="123444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ru-RU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JAR и </a:t>
            </a:r>
            <a:r>
              <a:rPr lang="ru-RU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команд</a:t>
            </a:r>
            <a:r>
              <a:rPr lang="ru-RU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ная </a:t>
            </a:r>
            <a:r>
              <a:rPr lang="ru-RU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строка</a:t>
            </a:r>
            <a:endParaRPr lang="ru-RU" sz="4400"/>
          </a:p>
        </p:txBody>
      </p:sp>
      <p:sp>
        <p:nvSpPr>
          <p:cNvPr id="1042533546" name="Shape 3"/>
          <p:cNvSpPr/>
          <p:nvPr/>
        </p:nvSpPr>
        <p:spPr bwMode="auto">
          <a:xfrm>
            <a:off x="777240" y="2240280"/>
            <a:ext cx="576072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3859207" name="Text 4"/>
          <p:cNvSpPr/>
          <p:nvPr/>
        </p:nvSpPr>
        <p:spPr bwMode="auto">
          <a:xfrm>
            <a:off x="777240" y="2514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Командная строка • быстрый </a:t>
            </a:r>
            <a:r>
              <a:rPr lang="ru-RU" sz="18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справочник </a:t>
            </a:r>
            <a:r>
              <a:rPr lang="en-US" sz="18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с примерами</a:t>
            </a:r>
            <a:endParaRPr lang="en-US" sz="1800"/>
          </a:p>
        </p:txBody>
      </p:sp>
      <p:sp>
        <p:nvSpPr>
          <p:cNvPr id="716388031" name="Text 5"/>
          <p:cNvSpPr/>
          <p:nvPr/>
        </p:nvSpPr>
        <p:spPr bwMode="auto">
          <a:xfrm>
            <a:off x="777240" y="28529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JDK 9+ (короткие и длинные </a:t>
            </a:r>
            <a:r>
              <a:rPr lang="ru-RU"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опции</a:t>
            </a:r>
            <a:r>
              <a:rPr lang="en-US"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400"/>
          </a:p>
        </p:txBody>
      </p:sp>
      <p:sp>
        <p:nvSpPr>
          <p:cNvPr id="162441223" name=""/>
          <p:cNvSpPr txBox="1"/>
          <p:nvPr/>
        </p:nvSpPr>
        <p:spPr bwMode="auto">
          <a:xfrm rot="0" flipH="0" flipV="0">
            <a:off x="9109415" y="6263280"/>
            <a:ext cx="293597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Пак </a:t>
            </a:r>
            <a:r>
              <a:rPr lang="ru-RU">
                <a:solidFill>
                  <a:schemeClr val="bg1"/>
                </a:solidFill>
              </a:rPr>
              <a:t>Евгений 5030102</a:t>
            </a:r>
            <a:r>
              <a:rPr lang="en-US">
                <a:solidFill>
                  <a:schemeClr val="bg1"/>
                </a:solidFill>
              </a:rPr>
              <a:t>/</a:t>
            </a:r>
            <a:r>
              <a:rPr lang="ru-RU">
                <a:solidFill>
                  <a:schemeClr val="bg1"/>
                </a:solidFill>
              </a:rPr>
              <a:t>30101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7328" name="Shape 0"/>
          <p:cNvSpPr/>
          <p:nvPr/>
        </p:nvSpPr>
        <p:spPr bwMode="auto">
          <a:xfrm>
            <a:off x="0" y="0"/>
            <a:ext cx="12192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48318906" name="Shape 1"/>
          <p:cNvSpPr/>
          <p:nvPr/>
        </p:nvSpPr>
        <p:spPr bwMode="auto">
          <a:xfrm>
            <a:off x="0" y="603504"/>
            <a:ext cx="12192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08334041" name="Text 2"/>
          <p:cNvSpPr/>
          <p:nvPr/>
        </p:nvSpPr>
        <p:spPr bwMode="auto">
          <a:xfrm>
            <a:off x="640080" y="146304"/>
            <a:ext cx="1091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Что такое JAR и чем занимается `jar`</a:t>
            </a:r>
            <a:endParaRPr lang="en-US" sz="2200"/>
          </a:p>
        </p:txBody>
      </p:sp>
      <p:sp>
        <p:nvSpPr>
          <p:cNvPr id="1091070717" name="Text 3"/>
          <p:cNvSpPr/>
          <p:nvPr/>
        </p:nvSpPr>
        <p:spPr bwMode="auto">
          <a:xfrm>
            <a:off x="640080" y="960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JAR (Java ARchive) — это архив для классов и ресурсов.</a:t>
            </a:r>
            <a:endParaRPr lang="en-US" sz="2000"/>
          </a:p>
        </p:txBody>
      </p:sp>
      <p:sp>
        <p:nvSpPr>
          <p:cNvPr id="21801876" name="Text 4"/>
          <p:cNvSpPr/>
          <p:nvPr/>
        </p:nvSpPr>
        <p:spPr bwMode="auto">
          <a:xfrm>
            <a:off x="731520" y="1554480"/>
            <a:ext cx="6309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Формат основан на ZIP и использует сжатие (ZLIB)</a:t>
            </a:r>
            <a:endParaRPr lang="en-US" sz="1800"/>
          </a:p>
          <a:p>
            <a:pPr marL="228600" indent="-2286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Внутри: .class, ресурсы (файлы, картинки), и META-INF/MANIFEST.MF</a:t>
            </a:r>
            <a:endParaRPr lang="en-US" sz="1800"/>
          </a:p>
          <a:p>
            <a:pPr marL="228600" indent="-2286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`jar` — утилита JDK для создания, просмотра и распаковки JAR</a:t>
            </a:r>
            <a:endParaRPr lang="en-US" sz="1800"/>
          </a:p>
        </p:txBody>
      </p:sp>
      <p:sp>
        <p:nvSpPr>
          <p:cNvPr id="1737458087" name="Shape 5"/>
          <p:cNvSpPr/>
          <p:nvPr/>
        </p:nvSpPr>
        <p:spPr bwMode="auto">
          <a:xfrm>
            <a:off x="7315200" y="1280160"/>
            <a:ext cx="4206240" cy="42062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8106496" name="Text 6"/>
          <p:cNvSpPr/>
          <p:nvPr/>
        </p:nvSpPr>
        <p:spPr bwMode="auto">
          <a:xfrm>
            <a:off x="7635240" y="1508759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JAR = ZIP-архив</a:t>
            </a:r>
            <a:endParaRPr lang="en-US" sz="1800"/>
          </a:p>
        </p:txBody>
      </p:sp>
      <p:sp>
        <p:nvSpPr>
          <p:cNvPr id="1824077036" name="Shape 7"/>
          <p:cNvSpPr/>
          <p:nvPr/>
        </p:nvSpPr>
        <p:spPr bwMode="auto">
          <a:xfrm>
            <a:off x="7635240" y="2103120"/>
            <a:ext cx="3566160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04963812" name="Text 8"/>
          <p:cNvSpPr/>
          <p:nvPr/>
        </p:nvSpPr>
        <p:spPr bwMode="auto">
          <a:xfrm>
            <a:off x="7818120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META-INF/MANIFEST.MF</a:t>
            </a:r>
            <a:endParaRPr lang="en-US" sz="1500"/>
          </a:p>
        </p:txBody>
      </p:sp>
      <p:sp>
        <p:nvSpPr>
          <p:cNvPr id="1899354817" name="Shape 9"/>
          <p:cNvSpPr/>
          <p:nvPr/>
        </p:nvSpPr>
        <p:spPr bwMode="auto">
          <a:xfrm>
            <a:off x="7635240" y="2880360"/>
            <a:ext cx="3566160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2928943" name="Text 10"/>
          <p:cNvSpPr/>
          <p:nvPr/>
        </p:nvSpPr>
        <p:spPr bwMode="auto">
          <a:xfrm>
            <a:off x="7818120" y="3044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com/example/*.class</a:t>
            </a:r>
            <a:endParaRPr lang="en-US" sz="1500"/>
          </a:p>
        </p:txBody>
      </p:sp>
      <p:sp>
        <p:nvSpPr>
          <p:cNvPr id="2034511574" name="Shape 11"/>
          <p:cNvSpPr/>
          <p:nvPr/>
        </p:nvSpPr>
        <p:spPr bwMode="auto">
          <a:xfrm>
            <a:off x="7635240" y="3657600"/>
            <a:ext cx="3566160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55061577" name="Text 12"/>
          <p:cNvSpPr/>
          <p:nvPr/>
        </p:nvSpPr>
        <p:spPr bwMode="auto">
          <a:xfrm>
            <a:off x="7818120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resources/*</a:t>
            </a:r>
            <a:endParaRPr lang="en-US" sz="1500"/>
          </a:p>
        </p:txBody>
      </p:sp>
      <p:sp>
        <p:nvSpPr>
          <p:cNvPr id="1635795225" name="Shape 13"/>
          <p:cNvSpPr/>
          <p:nvPr/>
        </p:nvSpPr>
        <p:spPr bwMode="auto">
          <a:xfrm>
            <a:off x="7635240" y="4434840"/>
            <a:ext cx="3566160" cy="59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08047645" name="Text 14"/>
          <p:cNvSpPr/>
          <p:nvPr/>
        </p:nvSpPr>
        <p:spPr bwMode="auto">
          <a:xfrm>
            <a:off x="7818120" y="4599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(опционально) module-info.class</a:t>
            </a:r>
            <a:endParaRPr lang="en-US" sz="1500"/>
          </a:p>
        </p:txBody>
      </p:sp>
      <p:sp>
        <p:nvSpPr>
          <p:cNvPr id="2070533071" name="Text 15"/>
          <p:cNvSpPr/>
          <p:nvPr/>
        </p:nvSpPr>
        <p:spPr bwMode="auto">
          <a:xfrm>
            <a:off x="1371600" y="55595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Обычный файл → удобно переносить и подключать в classpath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681937" name="Shape 0"/>
          <p:cNvSpPr/>
          <p:nvPr/>
        </p:nvSpPr>
        <p:spPr bwMode="auto">
          <a:xfrm>
            <a:off x="0" y="0"/>
            <a:ext cx="12192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49720729" name="Shape 1"/>
          <p:cNvSpPr/>
          <p:nvPr/>
        </p:nvSpPr>
        <p:spPr bwMode="auto">
          <a:xfrm>
            <a:off x="0" y="603504"/>
            <a:ext cx="12192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77550941" name="Text 2"/>
          <p:cNvSpPr/>
          <p:nvPr/>
        </p:nvSpPr>
        <p:spPr bwMode="auto">
          <a:xfrm>
            <a:off x="640080" y="146304"/>
            <a:ext cx="1091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Быстрый старт: где найти и как проверить</a:t>
            </a:r>
            <a:endParaRPr lang="en-US" sz="2200"/>
          </a:p>
        </p:txBody>
      </p:sp>
      <p:pic>
        <p:nvPicPr>
          <p:cNvPr id="831906688" name="Image 0" descr="/mnt/data/terminal_ico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7240" y="1234440"/>
            <a:ext cx="1143000" cy="1143000"/>
          </a:xfrm>
          <a:prstGeom prst="rect">
            <a:avLst/>
          </a:prstGeom>
        </p:spPr>
      </p:pic>
      <p:sp>
        <p:nvSpPr>
          <p:cNvPr id="1718735293" name="Text 3"/>
          <p:cNvSpPr/>
          <p:nvPr/>
        </p:nvSpPr>
        <p:spPr bwMode="auto">
          <a:xfrm>
            <a:off x="2011680" y="1325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Утилита `jar` поставляется вместе с JDK.</a:t>
            </a:r>
            <a:endParaRPr lang="en-US" sz="2200"/>
          </a:p>
        </p:txBody>
      </p:sp>
      <p:sp>
        <p:nvSpPr>
          <p:cNvPr id="1677340785" name="Text 4"/>
          <p:cNvSpPr/>
          <p:nvPr/>
        </p:nvSpPr>
        <p:spPr bwMode="auto">
          <a:xfrm>
            <a:off x="2011680" y="1874520"/>
            <a:ext cx="95859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Проверьте, что JDK установлен и доступен в PATH</a:t>
            </a:r>
            <a:endParaRPr lang="en-US" sz="1800"/>
          </a:p>
          <a:p>
            <a:pPr marL="228600" indent="-2286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Посмотреть справку: `jar --help` (есть также `--help:compat` для старого синтаксиса)</a:t>
            </a:r>
            <a:endParaRPr lang="en-US" sz="1800"/>
          </a:p>
          <a:p>
            <a:pPr marL="228600" indent="-2286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Проверить версию: `jar --version`</a:t>
            </a:r>
            <a:endParaRPr lang="en-US" sz="1800"/>
          </a:p>
          <a:p>
            <a:pPr marL="228600" indent="-2286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С JDK 9 `jar` умеет создавать модульные JAR (module-info.class) и multi-release JAR</a:t>
            </a:r>
            <a:endParaRPr lang="en-US" sz="1800"/>
          </a:p>
        </p:txBody>
      </p:sp>
      <p:sp>
        <p:nvSpPr>
          <p:cNvPr id="525561090" name="Shape 5"/>
          <p:cNvSpPr/>
          <p:nvPr/>
        </p:nvSpPr>
        <p:spPr bwMode="auto">
          <a:xfrm>
            <a:off x="594360" y="4892039"/>
            <a:ext cx="11003280" cy="128016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  <a:effectLst>
            <a:outerShdw blurRad="38100" dist="19050" dir="27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615695380" name="Text 6"/>
          <p:cNvSpPr/>
          <p:nvPr/>
        </p:nvSpPr>
        <p:spPr bwMode="auto">
          <a:xfrm>
            <a:off x="822960" y="5074920"/>
            <a:ext cx="1054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примеры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--help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--version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--describe-module --file my.jar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144747" name="Shape 0"/>
          <p:cNvSpPr/>
          <p:nvPr/>
        </p:nvSpPr>
        <p:spPr bwMode="auto">
          <a:xfrm>
            <a:off x="0" y="0"/>
            <a:ext cx="12192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93402975" name="Shape 1"/>
          <p:cNvSpPr/>
          <p:nvPr/>
        </p:nvSpPr>
        <p:spPr bwMode="auto">
          <a:xfrm>
            <a:off x="0" y="603504"/>
            <a:ext cx="12192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53679847" name="Text 2"/>
          <p:cNvSpPr/>
          <p:nvPr/>
        </p:nvSpPr>
        <p:spPr bwMode="auto">
          <a:xfrm>
            <a:off x="640080" y="146304"/>
            <a:ext cx="1091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Синтаксис и режимы работы</a:t>
            </a:r>
            <a:endParaRPr lang="en-US" sz="2200"/>
          </a:p>
        </p:txBody>
      </p:sp>
      <p:sp>
        <p:nvSpPr>
          <p:cNvPr id="115930873" name="Text 3"/>
          <p:cNvSpPr/>
          <p:nvPr/>
        </p:nvSpPr>
        <p:spPr bwMode="auto">
          <a:xfrm>
            <a:off x="594360" y="1051560"/>
            <a:ext cx="1100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Два стиля команд:</a:t>
            </a:r>
            <a:endParaRPr lang="en-US" sz="2000"/>
          </a:p>
        </p:txBody>
      </p:sp>
      <p:sp>
        <p:nvSpPr>
          <p:cNvPr id="174357700" name="Shape 4"/>
          <p:cNvSpPr/>
          <p:nvPr/>
        </p:nvSpPr>
        <p:spPr bwMode="auto">
          <a:xfrm>
            <a:off x="594360" y="1508759"/>
            <a:ext cx="5364480" cy="384048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9148725" name="Text 5"/>
          <p:cNvSpPr/>
          <p:nvPr/>
        </p:nvSpPr>
        <p:spPr bwMode="auto">
          <a:xfrm>
            <a:off x="758952" y="1581912"/>
            <a:ext cx="503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Старый (короткий): jar cf / jar tf / jar xf</a:t>
            </a:r>
            <a:endParaRPr lang="en-US" sz="1200"/>
          </a:p>
        </p:txBody>
      </p:sp>
      <p:sp>
        <p:nvSpPr>
          <p:cNvPr id="1866266574" name="Shape 6"/>
          <p:cNvSpPr/>
          <p:nvPr/>
        </p:nvSpPr>
        <p:spPr bwMode="auto">
          <a:xfrm>
            <a:off x="6233160" y="1508759"/>
            <a:ext cx="5364480" cy="384048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64555603" name="Text 7"/>
          <p:cNvSpPr/>
          <p:nvPr/>
        </p:nvSpPr>
        <p:spPr bwMode="auto">
          <a:xfrm>
            <a:off x="6397751" y="1581912"/>
            <a:ext cx="503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Новый (длинный): jar --create / --list / --extract</a:t>
            </a:r>
            <a:endParaRPr lang="en-US" sz="1200"/>
          </a:p>
        </p:txBody>
      </p:sp>
      <p:sp>
        <p:nvSpPr>
          <p:cNvPr id="1158475061" name="Shape 8"/>
          <p:cNvSpPr/>
          <p:nvPr/>
        </p:nvSpPr>
        <p:spPr bwMode="auto">
          <a:xfrm>
            <a:off x="594360" y="2103120"/>
            <a:ext cx="3484880" cy="32461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35692759" name="Text 9"/>
          <p:cNvSpPr/>
          <p:nvPr/>
        </p:nvSpPr>
        <p:spPr bwMode="auto">
          <a:xfrm>
            <a:off x="868680" y="2331720"/>
            <a:ext cx="293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Создать</a:t>
            </a:r>
            <a:endParaRPr lang="en-US" sz="1800"/>
          </a:p>
        </p:txBody>
      </p:sp>
      <p:sp>
        <p:nvSpPr>
          <p:cNvPr id="1060384805" name="Text 10"/>
          <p:cNvSpPr/>
          <p:nvPr/>
        </p:nvSpPr>
        <p:spPr bwMode="auto">
          <a:xfrm>
            <a:off x="868680" y="2743200"/>
            <a:ext cx="293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-c / --create</a:t>
            </a:r>
            <a:endParaRPr lang="en-US" sz="1300"/>
          </a:p>
        </p:txBody>
      </p:sp>
      <p:sp>
        <p:nvSpPr>
          <p:cNvPr id="1641940068" name="Shape 11"/>
          <p:cNvSpPr/>
          <p:nvPr/>
        </p:nvSpPr>
        <p:spPr bwMode="auto">
          <a:xfrm>
            <a:off x="822960" y="3154680"/>
            <a:ext cx="3027680" cy="19202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  <a:effectLst>
            <a:outerShdw blurRad="38100" dist="19050" dir="27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042699863" name="Text 12"/>
          <p:cNvSpPr/>
          <p:nvPr/>
        </p:nvSpPr>
        <p:spPr bwMode="auto">
          <a:xfrm>
            <a:off x="1051560" y="3337560"/>
            <a:ext cx="257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--create --file app.jar ...</a:t>
            </a:r>
            <a:endParaRPr lang="en-US" sz="1400"/>
          </a:p>
        </p:txBody>
      </p:sp>
      <p:sp>
        <p:nvSpPr>
          <p:cNvPr id="342939516" name="Shape 13"/>
          <p:cNvSpPr/>
          <p:nvPr/>
        </p:nvSpPr>
        <p:spPr bwMode="auto">
          <a:xfrm>
            <a:off x="4353560" y="2103120"/>
            <a:ext cx="3484880" cy="32461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39008000" name="Text 14"/>
          <p:cNvSpPr/>
          <p:nvPr/>
        </p:nvSpPr>
        <p:spPr bwMode="auto">
          <a:xfrm>
            <a:off x="4627880" y="2331720"/>
            <a:ext cx="293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Список</a:t>
            </a:r>
            <a:endParaRPr lang="en-US" sz="1800"/>
          </a:p>
        </p:txBody>
      </p:sp>
      <p:sp>
        <p:nvSpPr>
          <p:cNvPr id="1290939849" name="Text 15"/>
          <p:cNvSpPr/>
          <p:nvPr/>
        </p:nvSpPr>
        <p:spPr bwMode="auto">
          <a:xfrm>
            <a:off x="4627880" y="2743200"/>
            <a:ext cx="293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-t / --list</a:t>
            </a:r>
            <a:endParaRPr lang="en-US" sz="1300"/>
          </a:p>
        </p:txBody>
      </p:sp>
      <p:sp>
        <p:nvSpPr>
          <p:cNvPr id="1967323079" name="Shape 16"/>
          <p:cNvSpPr/>
          <p:nvPr/>
        </p:nvSpPr>
        <p:spPr bwMode="auto">
          <a:xfrm>
            <a:off x="4582160" y="3154680"/>
            <a:ext cx="3027680" cy="19202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  <a:effectLst>
            <a:outerShdw blurRad="38100" dist="19050" dir="27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598757782" name="Text 17"/>
          <p:cNvSpPr/>
          <p:nvPr/>
        </p:nvSpPr>
        <p:spPr bwMode="auto">
          <a:xfrm>
            <a:off x="4810760" y="3337560"/>
            <a:ext cx="257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--list --file app.jar</a:t>
            </a:r>
            <a:endParaRPr lang="en-US" sz="1400"/>
          </a:p>
        </p:txBody>
      </p:sp>
      <p:sp>
        <p:nvSpPr>
          <p:cNvPr id="1802253103" name="Shape 18"/>
          <p:cNvSpPr/>
          <p:nvPr/>
        </p:nvSpPr>
        <p:spPr bwMode="auto">
          <a:xfrm>
            <a:off x="8112760" y="2103120"/>
            <a:ext cx="3484880" cy="32461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20454268" name="Text 19"/>
          <p:cNvSpPr/>
          <p:nvPr/>
        </p:nvSpPr>
        <p:spPr bwMode="auto">
          <a:xfrm>
            <a:off x="8387080" y="2331720"/>
            <a:ext cx="293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Распаковать</a:t>
            </a:r>
            <a:endParaRPr lang="en-US" sz="1800"/>
          </a:p>
        </p:txBody>
      </p:sp>
      <p:sp>
        <p:nvSpPr>
          <p:cNvPr id="1746543096" name="Text 20"/>
          <p:cNvSpPr/>
          <p:nvPr/>
        </p:nvSpPr>
        <p:spPr bwMode="auto">
          <a:xfrm>
            <a:off x="8387080" y="2743200"/>
            <a:ext cx="293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-x / --extract</a:t>
            </a:r>
            <a:endParaRPr lang="en-US" sz="1300"/>
          </a:p>
        </p:txBody>
      </p:sp>
      <p:sp>
        <p:nvSpPr>
          <p:cNvPr id="1803341080" name="Shape 21"/>
          <p:cNvSpPr/>
          <p:nvPr/>
        </p:nvSpPr>
        <p:spPr bwMode="auto">
          <a:xfrm>
            <a:off x="8341360" y="3154680"/>
            <a:ext cx="3027680" cy="19202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  <a:effectLst>
            <a:outerShdw blurRad="38100" dist="19050" dir="27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526088647" name="Text 22"/>
          <p:cNvSpPr/>
          <p:nvPr/>
        </p:nvSpPr>
        <p:spPr bwMode="auto">
          <a:xfrm>
            <a:off x="8569960" y="3337560"/>
            <a:ext cx="257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--extract --file app.jar</a:t>
            </a:r>
            <a:endParaRPr lang="en-US" sz="1400"/>
          </a:p>
        </p:txBody>
      </p:sp>
      <p:sp>
        <p:nvSpPr>
          <p:cNvPr id="1237710710" name="Text 23"/>
          <p:cNvSpPr/>
          <p:nvPr/>
        </p:nvSpPr>
        <p:spPr bwMode="auto">
          <a:xfrm>
            <a:off x="594360" y="5486400"/>
            <a:ext cx="1100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Часто используемые модификаторы:</a:t>
            </a:r>
            <a:endParaRPr lang="en-US" sz="1600"/>
          </a:p>
        </p:txBody>
      </p:sp>
      <p:sp>
        <p:nvSpPr>
          <p:cNvPr id="1633673728" name="Text 24"/>
          <p:cNvSpPr/>
          <p:nvPr/>
        </p:nvSpPr>
        <p:spPr bwMode="auto">
          <a:xfrm>
            <a:off x="594360" y="5797296"/>
            <a:ext cx="1100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`--file`/`-f` (имя архива), `-C` (смена каталога), `--verbose`/`-v` (подробно), `--manifest`/`-m`, `--main-class`/`-e`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073950" name="Shape 0"/>
          <p:cNvSpPr/>
          <p:nvPr/>
        </p:nvSpPr>
        <p:spPr bwMode="auto">
          <a:xfrm>
            <a:off x="0" y="0"/>
            <a:ext cx="12192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37026494" name="Shape 1"/>
          <p:cNvSpPr/>
          <p:nvPr/>
        </p:nvSpPr>
        <p:spPr bwMode="auto">
          <a:xfrm>
            <a:off x="0" y="603504"/>
            <a:ext cx="12192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93987414" name="Text 2"/>
          <p:cNvSpPr/>
          <p:nvPr/>
        </p:nvSpPr>
        <p:spPr bwMode="auto">
          <a:xfrm>
            <a:off x="640080" y="146304"/>
            <a:ext cx="1091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Создание JAR: практические команды</a:t>
            </a:r>
            <a:endParaRPr lang="en-US" sz="2200"/>
          </a:p>
        </p:txBody>
      </p:sp>
      <p:sp>
        <p:nvSpPr>
          <p:cNvPr id="59438003" name="Text 3"/>
          <p:cNvSpPr/>
          <p:nvPr/>
        </p:nvSpPr>
        <p:spPr bwMode="auto">
          <a:xfrm>
            <a:off x="594360" y="1051560"/>
            <a:ext cx="1100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Минимальный сценарий — собрать скомпилированные классы и ресурсы в один файл.</a:t>
            </a:r>
            <a:endParaRPr lang="en-US" sz="1800"/>
          </a:p>
        </p:txBody>
      </p:sp>
      <p:sp>
        <p:nvSpPr>
          <p:cNvPr id="1245433386" name="Shape 4"/>
          <p:cNvSpPr/>
          <p:nvPr/>
        </p:nvSpPr>
        <p:spPr bwMode="auto">
          <a:xfrm>
            <a:off x="594360" y="1691640"/>
            <a:ext cx="11003280" cy="201168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  <a:effectLst>
            <a:outerShdw blurRad="38100" dist="19050" dir="27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484492747" name="Text 5"/>
          <p:cNvSpPr/>
          <p:nvPr/>
        </p:nvSpPr>
        <p:spPr bwMode="auto">
          <a:xfrm>
            <a:off x="822960" y="1874520"/>
            <a:ext cx="1054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современный синтаксис (JDK 9+)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--create --file app.jar -C out/production/app .</a:t>
            </a:r>
            <a:endParaRPr lang="en-US" sz="1400"/>
          </a:p>
          <a:p>
            <a:pPr marL="0" indent="0">
              <a:buNone/>
              <a:defRPr/>
            </a:pP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короткий синтаксис (совместимость)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cf app.jar -C build/classes/java/main .</a:t>
            </a:r>
            <a:endParaRPr lang="en-US" sz="1400"/>
          </a:p>
        </p:txBody>
      </p:sp>
      <p:sp>
        <p:nvSpPr>
          <p:cNvPr id="164118339" name="Shape 6"/>
          <p:cNvSpPr/>
          <p:nvPr/>
        </p:nvSpPr>
        <p:spPr bwMode="auto">
          <a:xfrm>
            <a:off x="594360" y="3886200"/>
            <a:ext cx="11003280" cy="1920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6225444" name="Text 7"/>
          <p:cNvSpPr/>
          <p:nvPr/>
        </p:nvSpPr>
        <p:spPr bwMode="auto">
          <a:xfrm>
            <a:off x="868680" y="4069080"/>
            <a:ext cx="1045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Разбор ключевых частей</a:t>
            </a:r>
            <a:endParaRPr lang="en-US" sz="1600"/>
          </a:p>
        </p:txBody>
      </p:sp>
      <p:sp>
        <p:nvSpPr>
          <p:cNvPr id="929750539" name="Text 8"/>
          <p:cNvSpPr/>
          <p:nvPr/>
        </p:nvSpPr>
        <p:spPr bwMode="auto">
          <a:xfrm>
            <a:off x="868680" y="4434840"/>
            <a:ext cx="1045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`--create` / `-c` — режим создания</a:t>
            </a:r>
            <a:endParaRPr lang="en-US" sz="1600"/>
          </a:p>
          <a:p>
            <a:pPr marL="203200" indent="-2032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`--file app.jar` / `-f app.jar` — имя архива</a:t>
            </a:r>
            <a:endParaRPr lang="en-US" sz="1600"/>
          </a:p>
          <a:p>
            <a:pPr marL="203200" indent="-2032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`-C &lt;dir&gt; .` — перейти в каталог и добавить всё содержимое (с относительными путями)</a:t>
            </a:r>
            <a:endParaRPr lang="en-US" sz="1600"/>
          </a:p>
          <a:p>
            <a:pPr marL="203200" indent="-2032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Если перечислить файлы явно — добавятся только они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036925" name="Shape 0"/>
          <p:cNvSpPr/>
          <p:nvPr/>
        </p:nvSpPr>
        <p:spPr bwMode="auto">
          <a:xfrm>
            <a:off x="0" y="0"/>
            <a:ext cx="12192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95304137" name="Shape 1"/>
          <p:cNvSpPr/>
          <p:nvPr/>
        </p:nvSpPr>
        <p:spPr bwMode="auto">
          <a:xfrm>
            <a:off x="0" y="603504"/>
            <a:ext cx="12192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8831088" name="Text 2"/>
          <p:cNvSpPr/>
          <p:nvPr/>
        </p:nvSpPr>
        <p:spPr bwMode="auto">
          <a:xfrm>
            <a:off x="640080" y="146304"/>
            <a:ext cx="1091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Просмотр содержимого (list)</a:t>
            </a:r>
            <a:endParaRPr lang="en-US" sz="2200"/>
          </a:p>
        </p:txBody>
      </p:sp>
      <p:sp>
        <p:nvSpPr>
          <p:cNvPr id="998845793" name="Text 3"/>
          <p:cNvSpPr/>
          <p:nvPr/>
        </p:nvSpPr>
        <p:spPr bwMode="auto">
          <a:xfrm>
            <a:off x="594360" y="1051560"/>
            <a:ext cx="1100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Проверяем, что попало в архив:</a:t>
            </a:r>
            <a:endParaRPr lang="en-US" sz="2000"/>
          </a:p>
        </p:txBody>
      </p:sp>
      <p:sp>
        <p:nvSpPr>
          <p:cNvPr id="2049676528" name="Shape 4"/>
          <p:cNvSpPr/>
          <p:nvPr/>
        </p:nvSpPr>
        <p:spPr bwMode="auto">
          <a:xfrm flipH="0" flipV="0">
            <a:off x="594358" y="1508759"/>
            <a:ext cx="11003279" cy="219456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  <a:effectLst>
            <a:outerShdw blurRad="38100" dist="19050" dir="27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574191924" name="Text 5"/>
          <p:cNvSpPr/>
          <p:nvPr/>
        </p:nvSpPr>
        <p:spPr bwMode="auto">
          <a:xfrm>
            <a:off x="822960" y="1691640"/>
            <a:ext cx="6629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длинный синтаксис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--list --file app.jar</a:t>
            </a:r>
            <a:endParaRPr lang="en-US" sz="1400"/>
          </a:p>
          <a:p>
            <a:pPr marL="0" indent="0">
              <a:buNone/>
              <a:defRPr/>
            </a:pP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короткий синтаксис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tf app.jar</a:t>
            </a:r>
            <a:endParaRPr lang="en-US" sz="1400"/>
          </a:p>
          <a:p>
            <a:pPr marL="0" indent="0">
              <a:buNone/>
              <a:defRPr/>
            </a:pP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подробнее (размеры/даты)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tvf app.jar</a:t>
            </a:r>
            <a:endParaRPr lang="en-US" sz="1400"/>
          </a:p>
        </p:txBody>
      </p:sp>
      <p:sp>
        <p:nvSpPr>
          <p:cNvPr id="1413971227" name="Shape 6"/>
          <p:cNvSpPr/>
          <p:nvPr/>
        </p:nvSpPr>
        <p:spPr bwMode="auto">
          <a:xfrm>
            <a:off x="594360" y="3886200"/>
            <a:ext cx="11003280" cy="16916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5707236" name="Text 7"/>
          <p:cNvSpPr/>
          <p:nvPr/>
        </p:nvSpPr>
        <p:spPr bwMode="auto">
          <a:xfrm>
            <a:off x="868680" y="4069080"/>
            <a:ext cx="1045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Совет</a:t>
            </a:r>
            <a:endParaRPr lang="en-US" sz="1600"/>
          </a:p>
        </p:txBody>
      </p:sp>
      <p:sp>
        <p:nvSpPr>
          <p:cNvPr id="1163602054" name="Text 8"/>
          <p:cNvSpPr/>
          <p:nvPr/>
        </p:nvSpPr>
        <p:spPr bwMode="auto">
          <a:xfrm>
            <a:off x="868680" y="4434840"/>
            <a:ext cx="1045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Удобно быстро найти путь к классу/ресурсу и убедиться, что MANIFEST.MF на месте: META-INF/MANIFEST.MF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776334" name="Shape 0"/>
          <p:cNvSpPr/>
          <p:nvPr/>
        </p:nvSpPr>
        <p:spPr bwMode="auto">
          <a:xfrm>
            <a:off x="0" y="0"/>
            <a:ext cx="12192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82757135" name="Shape 1"/>
          <p:cNvSpPr/>
          <p:nvPr/>
        </p:nvSpPr>
        <p:spPr bwMode="auto">
          <a:xfrm>
            <a:off x="0" y="603504"/>
            <a:ext cx="12192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8257496" name="Text 2"/>
          <p:cNvSpPr/>
          <p:nvPr/>
        </p:nvSpPr>
        <p:spPr bwMode="auto">
          <a:xfrm>
            <a:off x="640080" y="146304"/>
            <a:ext cx="1091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Распаковка (extract)</a:t>
            </a:r>
            <a:endParaRPr lang="en-US" sz="2200"/>
          </a:p>
        </p:txBody>
      </p:sp>
      <p:sp>
        <p:nvSpPr>
          <p:cNvPr id="673892436" name="Shape 3"/>
          <p:cNvSpPr/>
          <p:nvPr/>
        </p:nvSpPr>
        <p:spPr bwMode="auto">
          <a:xfrm>
            <a:off x="594360" y="1051560"/>
            <a:ext cx="11003280" cy="23774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  <a:effectLst>
            <a:outerShdw blurRad="38100" dist="19050" dir="27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157478466" name="Text 4"/>
          <p:cNvSpPr/>
          <p:nvPr/>
        </p:nvSpPr>
        <p:spPr bwMode="auto">
          <a:xfrm>
            <a:off x="822960" y="1234440"/>
            <a:ext cx="1054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извлечь всё в текущую папку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--extract --file app.jar</a:t>
            </a:r>
            <a:endParaRPr lang="en-US" sz="1400"/>
          </a:p>
          <a:p>
            <a:pPr marL="0" indent="0">
              <a:buNone/>
              <a:defRPr/>
            </a:pP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короткий вариант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xf app.jar</a:t>
            </a:r>
            <a:endParaRPr lang="en-US" sz="1400"/>
          </a:p>
          <a:p>
            <a:pPr marL="0" indent="0">
              <a:buNone/>
              <a:defRPr/>
            </a:pP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извлечь только выбранные файлы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xf app.jar META-INF/MANIFEST.MF</a:t>
            </a:r>
            <a:endParaRPr lang="en-US" sz="1400"/>
          </a:p>
        </p:txBody>
      </p:sp>
      <p:sp>
        <p:nvSpPr>
          <p:cNvPr id="2067904220" name="Shape 5"/>
          <p:cNvSpPr/>
          <p:nvPr/>
        </p:nvSpPr>
        <p:spPr bwMode="auto">
          <a:xfrm>
            <a:off x="594360" y="3657600"/>
            <a:ext cx="11003280" cy="205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5234057" name="Text 6"/>
          <p:cNvSpPr/>
          <p:nvPr/>
        </p:nvSpPr>
        <p:spPr bwMode="auto">
          <a:xfrm>
            <a:off x="868680" y="3840480"/>
            <a:ext cx="1045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Важно помнить</a:t>
            </a:r>
            <a:endParaRPr lang="en-US" sz="1600"/>
          </a:p>
        </p:txBody>
      </p:sp>
      <p:sp>
        <p:nvSpPr>
          <p:cNvPr id="914903609" name="Text 7"/>
          <p:cNvSpPr/>
          <p:nvPr/>
        </p:nvSpPr>
        <p:spPr bwMode="auto">
          <a:xfrm>
            <a:off x="868680" y="4206240"/>
            <a:ext cx="1045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Извлечение идёт в текущий каталог (проверьте, где вы находитесь)</a:t>
            </a:r>
            <a:endParaRPr lang="en-US" sz="1600"/>
          </a:p>
          <a:p>
            <a:pPr marL="203200" indent="-2032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Если в архиве есть подпапки, они будут созданы автоматически</a:t>
            </a:r>
            <a:endParaRPr lang="en-US" sz="1600"/>
          </a:p>
          <a:p>
            <a:pPr marL="203200" indent="-2032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Можно указывать конкретные пути внутри JAR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52842" name="Shape 0"/>
          <p:cNvSpPr/>
          <p:nvPr/>
        </p:nvSpPr>
        <p:spPr bwMode="auto">
          <a:xfrm>
            <a:off x="0" y="0"/>
            <a:ext cx="12192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17092901" name="Shape 1"/>
          <p:cNvSpPr/>
          <p:nvPr/>
        </p:nvSpPr>
        <p:spPr bwMode="auto">
          <a:xfrm>
            <a:off x="0" y="603504"/>
            <a:ext cx="12192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60738671" name="Text 2"/>
          <p:cNvSpPr/>
          <p:nvPr/>
        </p:nvSpPr>
        <p:spPr bwMode="auto">
          <a:xfrm>
            <a:off x="640080" y="146304"/>
            <a:ext cx="1091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MANIFEST.MF и исполняемый JAR</a:t>
            </a:r>
            <a:endParaRPr lang="en-US" sz="2200"/>
          </a:p>
        </p:txBody>
      </p:sp>
      <p:sp>
        <p:nvSpPr>
          <p:cNvPr id="1409727666" name="Text 3"/>
          <p:cNvSpPr/>
          <p:nvPr/>
        </p:nvSpPr>
        <p:spPr bwMode="auto">
          <a:xfrm>
            <a:off x="594360" y="960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Чтобы запускать так:</a:t>
            </a:r>
            <a:endParaRPr lang="en-US" sz="1800"/>
          </a:p>
        </p:txBody>
      </p:sp>
      <p:sp>
        <p:nvSpPr>
          <p:cNvPr id="793652749" name="Shape 4"/>
          <p:cNvSpPr/>
          <p:nvPr/>
        </p:nvSpPr>
        <p:spPr bwMode="auto">
          <a:xfrm>
            <a:off x="594360" y="1234440"/>
            <a:ext cx="4480560" cy="68580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  <a:effectLst>
            <a:outerShdw blurRad="38100" dist="19050" dir="27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795672447" name="Text 5"/>
          <p:cNvSpPr/>
          <p:nvPr/>
        </p:nvSpPr>
        <p:spPr bwMode="auto">
          <a:xfrm>
            <a:off x="82296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java -jar app.jar</a:t>
            </a:r>
            <a:endParaRPr lang="en-US" sz="1400"/>
          </a:p>
        </p:txBody>
      </p:sp>
      <p:sp>
        <p:nvSpPr>
          <p:cNvPr id="1116506850" name="Text 6"/>
          <p:cNvSpPr/>
          <p:nvPr/>
        </p:nvSpPr>
        <p:spPr bwMode="auto">
          <a:xfrm>
            <a:off x="5440680" y="1024128"/>
            <a:ext cx="615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…нужна точка входа (Main-Class) в манифесте.</a:t>
            </a:r>
            <a:endParaRPr lang="en-US" sz="1800"/>
          </a:p>
        </p:txBody>
      </p:sp>
      <p:sp>
        <p:nvSpPr>
          <p:cNvPr id="26115927" name="Shape 7"/>
          <p:cNvSpPr/>
          <p:nvPr/>
        </p:nvSpPr>
        <p:spPr bwMode="auto">
          <a:xfrm>
            <a:off x="594360" y="2148840"/>
            <a:ext cx="11003280" cy="30632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2855883" name="Text 8"/>
          <p:cNvSpPr/>
          <p:nvPr/>
        </p:nvSpPr>
        <p:spPr bwMode="auto">
          <a:xfrm>
            <a:off x="868680" y="2331720"/>
            <a:ext cx="1045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Сделать entry point через `jar`</a:t>
            </a:r>
            <a:endParaRPr lang="en-US" sz="1600"/>
          </a:p>
        </p:txBody>
      </p:sp>
      <p:sp>
        <p:nvSpPr>
          <p:cNvPr id="639772068" name="Shape 9"/>
          <p:cNvSpPr/>
          <p:nvPr/>
        </p:nvSpPr>
        <p:spPr bwMode="auto">
          <a:xfrm>
            <a:off x="822960" y="2697480"/>
            <a:ext cx="10546080" cy="233172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  <a:effectLst>
            <a:outerShdw blurRad="38100" dist="19050" dir="27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863098088" name="Text 10"/>
          <p:cNvSpPr/>
          <p:nvPr/>
        </p:nvSpPr>
        <p:spPr bwMode="auto">
          <a:xfrm>
            <a:off x="1051560" y="2880360"/>
            <a:ext cx="100888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lang="ru-RU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длинный </a:t>
            </a:r>
            <a:r>
              <a:rPr lang="ru-RU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синтаксис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--create --file app.jar --main-class com.example.Main -C out .</a:t>
            </a:r>
            <a:endParaRPr lang="en-US" sz="1400"/>
          </a:p>
          <a:p>
            <a:pPr marL="0" indent="0">
              <a:buNone/>
              <a:defRPr/>
            </a:pP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короткий (</a:t>
            </a:r>
            <a:r>
              <a:rPr lang="ru-RU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совместимость</a:t>
            </a: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)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cfe app.jar com.example.Main -C out .</a:t>
            </a:r>
            <a:endParaRPr lang="en-US" sz="1400"/>
          </a:p>
        </p:txBody>
      </p:sp>
      <p:sp>
        <p:nvSpPr>
          <p:cNvPr id="392515198" name="Text 11"/>
          <p:cNvSpPr/>
          <p:nvPr/>
        </p:nvSpPr>
        <p:spPr bwMode="auto">
          <a:xfrm>
            <a:off x="594360" y="5257800"/>
            <a:ext cx="1100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Внутри META-INF/MANIFEST.MF появится строка:</a:t>
            </a:r>
            <a:endParaRPr lang="en-US" sz="1400"/>
          </a:p>
        </p:txBody>
      </p:sp>
      <p:sp>
        <p:nvSpPr>
          <p:cNvPr id="413172530" name="Text 12"/>
          <p:cNvSpPr/>
          <p:nvPr/>
        </p:nvSpPr>
        <p:spPr bwMode="auto">
          <a:xfrm>
            <a:off x="594360" y="5532120"/>
            <a:ext cx="1100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Main-Class: com.example.Main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298996" name="Shape 0"/>
          <p:cNvSpPr/>
          <p:nvPr/>
        </p:nvSpPr>
        <p:spPr bwMode="auto">
          <a:xfrm>
            <a:off x="0" y="0"/>
            <a:ext cx="12192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030339" name="Shape 1"/>
          <p:cNvSpPr/>
          <p:nvPr/>
        </p:nvSpPr>
        <p:spPr bwMode="auto">
          <a:xfrm>
            <a:off x="0" y="603504"/>
            <a:ext cx="12192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081309" name="Text 2"/>
          <p:cNvSpPr/>
          <p:nvPr/>
        </p:nvSpPr>
        <p:spPr bwMode="auto">
          <a:xfrm>
            <a:off x="640080" y="146304"/>
            <a:ext cx="1091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Обновление существующего архива (update)</a:t>
            </a:r>
            <a:endParaRPr lang="en-US" sz="2200"/>
          </a:p>
        </p:txBody>
      </p:sp>
      <p:sp>
        <p:nvSpPr>
          <p:cNvPr id="1137471843" name="Text 3"/>
          <p:cNvSpPr/>
          <p:nvPr/>
        </p:nvSpPr>
        <p:spPr bwMode="auto">
          <a:xfrm>
            <a:off x="594360" y="1051560"/>
            <a:ext cx="1100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Добавить/заменить файлы в уже созданном JAR:</a:t>
            </a:r>
            <a:endParaRPr lang="en-US" sz="2000"/>
          </a:p>
        </p:txBody>
      </p:sp>
      <p:sp>
        <p:nvSpPr>
          <p:cNvPr id="1916834776" name="Shape 4"/>
          <p:cNvSpPr/>
          <p:nvPr/>
        </p:nvSpPr>
        <p:spPr bwMode="auto">
          <a:xfrm>
            <a:off x="594360" y="1508759"/>
            <a:ext cx="11003280" cy="164592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  <a:effectLst>
            <a:outerShdw blurRad="38100" dist="19050" dir="27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826720781" name="Text 5"/>
          <p:cNvSpPr/>
          <p:nvPr/>
        </p:nvSpPr>
        <p:spPr bwMode="auto">
          <a:xfrm>
            <a:off x="822960" y="1691640"/>
            <a:ext cx="1054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длинный синтаксис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--update --file app.jar -C extra/ config/</a:t>
            </a:r>
            <a:endParaRPr lang="en-US" sz="1400"/>
          </a:p>
          <a:p>
            <a:pPr marL="0" indent="0">
              <a:buNone/>
              <a:defRPr/>
            </a:pP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короткий синтаксис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uf app.jar -C extra/ config/</a:t>
            </a:r>
            <a:endParaRPr lang="en-US" sz="1400"/>
          </a:p>
        </p:txBody>
      </p:sp>
      <p:sp>
        <p:nvSpPr>
          <p:cNvPr id="957027874" name="Shape 6"/>
          <p:cNvSpPr/>
          <p:nvPr/>
        </p:nvSpPr>
        <p:spPr bwMode="auto">
          <a:xfrm>
            <a:off x="594360" y="3383280"/>
            <a:ext cx="11003280" cy="233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40763276" name="Text 7"/>
          <p:cNvSpPr/>
          <p:nvPr/>
        </p:nvSpPr>
        <p:spPr bwMode="auto">
          <a:xfrm>
            <a:off x="868680" y="3566160"/>
            <a:ext cx="1045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Поведение</a:t>
            </a:r>
            <a:endParaRPr lang="en-US" sz="1600"/>
          </a:p>
        </p:txBody>
      </p:sp>
      <p:sp>
        <p:nvSpPr>
          <p:cNvPr id="1104090538" name="Text 8"/>
          <p:cNvSpPr/>
          <p:nvPr/>
        </p:nvSpPr>
        <p:spPr bwMode="auto">
          <a:xfrm>
            <a:off x="868680" y="3931920"/>
            <a:ext cx="1045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`--update` / `-u` добавляет новые файлы и перезаписывает совпадающие пути</a:t>
            </a:r>
            <a:endParaRPr lang="en-US" sz="1600"/>
          </a:p>
          <a:p>
            <a:pPr marL="203200" indent="-2032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`--file` / `-f` указывает, какой JAR обновляем</a:t>
            </a:r>
            <a:endParaRPr lang="en-US" sz="1600"/>
          </a:p>
          <a:p>
            <a:pPr marL="203200" indent="-203200">
              <a:lnSpc>
                <a:spcPct val="114999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Хорошо подходит для добавления ресурсов или исправлений без полной пересборки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1355" name="Shape 0"/>
          <p:cNvSpPr/>
          <p:nvPr/>
        </p:nvSpPr>
        <p:spPr bwMode="auto">
          <a:xfrm>
            <a:off x="0" y="0"/>
            <a:ext cx="12192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36878950" name="Shape 1"/>
          <p:cNvSpPr/>
          <p:nvPr/>
        </p:nvSpPr>
        <p:spPr bwMode="auto">
          <a:xfrm>
            <a:off x="0" y="603504"/>
            <a:ext cx="12192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00426660" name="Text 2"/>
          <p:cNvSpPr/>
          <p:nvPr/>
        </p:nvSpPr>
        <p:spPr bwMode="auto">
          <a:xfrm>
            <a:off x="640080" y="146304"/>
            <a:ext cx="1091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Чуть дальше: multi-release JAR (MRJAR) + шпаргалка</a:t>
            </a:r>
            <a:endParaRPr lang="en-US" sz="2200"/>
          </a:p>
        </p:txBody>
      </p:sp>
      <p:sp>
        <p:nvSpPr>
          <p:cNvPr id="2071276761" name="Text 3"/>
          <p:cNvSpPr/>
          <p:nvPr/>
        </p:nvSpPr>
        <p:spPr bwMode="auto">
          <a:xfrm>
            <a:off x="594360" y="1051560"/>
            <a:ext cx="1100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MRJAR — один JAR для нескольких версий Java (9+):</a:t>
            </a:r>
            <a:endParaRPr lang="en-US" sz="1800"/>
          </a:p>
        </p:txBody>
      </p:sp>
      <p:sp>
        <p:nvSpPr>
          <p:cNvPr id="512693746" name="Text 4"/>
          <p:cNvSpPr/>
          <p:nvPr/>
        </p:nvSpPr>
        <p:spPr bwMode="auto">
          <a:xfrm>
            <a:off x="594360" y="1417320"/>
            <a:ext cx="1100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Классы для новых JDK кладут в META-INF/versions/&lt;N&gt;/.</a:t>
            </a:r>
            <a:endParaRPr lang="en-US" sz="1600"/>
          </a:p>
        </p:txBody>
      </p:sp>
      <p:sp>
        <p:nvSpPr>
          <p:cNvPr id="1930480826" name="Shape 5"/>
          <p:cNvSpPr/>
          <p:nvPr/>
        </p:nvSpPr>
        <p:spPr bwMode="auto">
          <a:xfrm>
            <a:off x="594360" y="1874520"/>
            <a:ext cx="5341620" cy="31089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1400471" name="Text 6"/>
          <p:cNvSpPr/>
          <p:nvPr/>
        </p:nvSpPr>
        <p:spPr bwMode="auto">
          <a:xfrm>
            <a:off x="868680" y="2057400"/>
            <a:ext cx="47929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Структура</a:t>
            </a:r>
            <a:endParaRPr lang="en-US" sz="1600"/>
          </a:p>
        </p:txBody>
      </p:sp>
      <p:sp>
        <p:nvSpPr>
          <p:cNvPr id="43574704" name="Text 7"/>
          <p:cNvSpPr/>
          <p:nvPr/>
        </p:nvSpPr>
        <p:spPr bwMode="auto">
          <a:xfrm>
            <a:off x="868680" y="2377440"/>
            <a:ext cx="47929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app.jar</a:t>
            </a:r>
            <a:endParaRPr lang="en-US" sz="1250"/>
          </a:p>
          <a:p>
            <a:pPr marL="0" indent="0">
              <a:buNone/>
              <a:defRPr/>
            </a:pPr>
            <a:r>
              <a:rPr lang="en-US" sz="12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├─ com/foo/NameProvider.class   (Java 8)</a:t>
            </a:r>
            <a:endParaRPr lang="en-US" sz="1250"/>
          </a:p>
          <a:p>
            <a:pPr marL="0" indent="0">
              <a:buNone/>
              <a:defRPr/>
            </a:pPr>
            <a:r>
              <a:rPr lang="en-US" sz="12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└─ META-INF/versions/10/</a:t>
            </a:r>
            <a:endParaRPr lang="en-US" sz="1250"/>
          </a:p>
          <a:p>
            <a:pPr marL="0" indent="0">
              <a:buNone/>
              <a:defRPr/>
            </a:pPr>
            <a:r>
              <a:rPr lang="en-US" sz="125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   └─ com/foo/NameProvider.class (Java 10+)</a:t>
            </a:r>
            <a:endParaRPr lang="en-US" sz="1250"/>
          </a:p>
        </p:txBody>
      </p:sp>
      <p:sp>
        <p:nvSpPr>
          <p:cNvPr id="2025861716" name="Shape 8"/>
          <p:cNvSpPr/>
          <p:nvPr/>
        </p:nvSpPr>
        <p:spPr bwMode="auto">
          <a:xfrm>
            <a:off x="6256020" y="1874520"/>
            <a:ext cx="5341620" cy="3108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9048309" name="Text 9"/>
          <p:cNvSpPr/>
          <p:nvPr/>
        </p:nvSpPr>
        <p:spPr bwMode="auto">
          <a:xfrm>
            <a:off x="6530340" y="2057400"/>
            <a:ext cx="47929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Создание через `--release`</a:t>
            </a:r>
            <a:endParaRPr lang="en-US" sz="1600"/>
          </a:p>
        </p:txBody>
      </p:sp>
      <p:sp>
        <p:nvSpPr>
          <p:cNvPr id="1803595488" name="Shape 10"/>
          <p:cNvSpPr/>
          <p:nvPr/>
        </p:nvSpPr>
        <p:spPr bwMode="auto">
          <a:xfrm>
            <a:off x="6484620" y="2423160"/>
            <a:ext cx="4884420" cy="141732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  <a:effectLst>
            <a:outerShdw blurRad="38100" dist="19050" dir="2700000" sx="100000" sy="100000" kx="0" ky="0" algn="bl" rotWithShape="0">
              <a:srgbClr val="000000">
                <a:alpha val="25000"/>
              </a:srgbClr>
            </a:outerShdw>
          </a:effectLst>
        </p:spPr>
      </p:sp>
      <p:sp>
        <p:nvSpPr>
          <p:cNvPr id="1598187428" name="Text 11"/>
          <p:cNvSpPr/>
          <p:nvPr/>
        </p:nvSpPr>
        <p:spPr bwMode="auto">
          <a:xfrm>
            <a:off x="6713220" y="2606040"/>
            <a:ext cx="44272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jar --create --file foo.jar \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-C classes . \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--release 10 -C classes-10 .</a:t>
            </a:r>
            <a:endParaRPr lang="en-US" sz="1400"/>
          </a:p>
        </p:txBody>
      </p:sp>
      <p:sp>
        <p:nvSpPr>
          <p:cNvPr id="285061633" name="Text 12"/>
          <p:cNvSpPr/>
          <p:nvPr/>
        </p:nvSpPr>
        <p:spPr bwMode="auto">
          <a:xfrm>
            <a:off x="6530340" y="3977640"/>
            <a:ext cx="47929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JDK выберет «подходящую» версию класса для своей major-версии.</a:t>
            </a:r>
            <a:endParaRPr lang="en-US" sz="1400"/>
          </a:p>
        </p:txBody>
      </p:sp>
      <p:sp>
        <p:nvSpPr>
          <p:cNvPr id="1066917057" name="Shape 13"/>
          <p:cNvSpPr/>
          <p:nvPr/>
        </p:nvSpPr>
        <p:spPr bwMode="auto">
          <a:xfrm>
            <a:off x="594360" y="5120640"/>
            <a:ext cx="11003280" cy="12344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4327294" name="Text 14"/>
          <p:cNvSpPr/>
          <p:nvPr/>
        </p:nvSpPr>
        <p:spPr bwMode="auto">
          <a:xfrm>
            <a:off x="868680" y="52852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Шпаргалка:</a:t>
            </a:r>
            <a:endParaRPr lang="en-US" sz="1400"/>
          </a:p>
        </p:txBody>
      </p:sp>
      <p:sp>
        <p:nvSpPr>
          <p:cNvPr id="326231588" name="Text 15"/>
          <p:cNvSpPr/>
          <p:nvPr/>
        </p:nvSpPr>
        <p:spPr bwMode="auto">
          <a:xfrm>
            <a:off x="2606040" y="5285232"/>
            <a:ext cx="871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создать:  jar --create --file a.jar ...   |   список:  jar --list --file a.jar   |   распаковать:  jar --extract --file a.jar</a:t>
            </a:r>
            <a:endParaRPr lang="en-US" sz="1150"/>
          </a:p>
        </p:txBody>
      </p:sp>
      <p:sp>
        <p:nvSpPr>
          <p:cNvPr id="36581969" name="Text 16"/>
          <p:cNvSpPr/>
          <p:nvPr/>
        </p:nvSpPr>
        <p:spPr bwMode="auto">
          <a:xfrm>
            <a:off x="2606040" y="5577840"/>
            <a:ext cx="871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обновить: jar --update --file a.jar ...   |   entry point: jar --create --file a.jar --main-class pkg.Main ...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 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/>
  <cp:revision>5</cp:revision>
  <dcterms:created xsi:type="dcterms:W3CDTF">2025-12-13T03:35:19Z</dcterms:created>
  <dcterms:modified xsi:type="dcterms:W3CDTF">2025-12-17T20:09:18Z</dcterms:modified>
</cp:coreProperties>
</file>