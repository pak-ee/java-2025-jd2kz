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582d9ba1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582d9ba1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582d9ba1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582d9ba1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582d9ba1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a582d9ba1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582d9ba19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582d9ba19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582d9ba19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a582d9ba19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582d9ba19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a582d9ba19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582d9ba19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582d9ba19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66e990463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a66e990463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582d9ba19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582d9ba19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582d9ba19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a582d9ba19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582d9ba19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a582d9ba19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582d9ba19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a582d9ba19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66e990463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a66e990463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66e990463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a66e990463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a66e990463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a66e990463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582d9ba19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a582d9ba19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a582d9ba19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a582d9ba19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proselyte.net/jvm-basics/" TargetMode="External"/><Relationship Id="rId4" Type="http://schemas.openxmlformats.org/officeDocument/2006/relationships/hyperlink" Target="https://java.msk.ru/integer-cache-%D0%B2-java/" TargetMode="External"/><Relationship Id="rId5" Type="http://schemas.openxmlformats.org/officeDocument/2006/relationships/hyperlink" Target="https://habr.com/ru/articles/536288/" TargetMode="External"/><Relationship Id="rId6" Type="http://schemas.openxmlformats.org/officeDocument/2006/relationships/hyperlink" Target="https://docs.oracle.com/javase/8/embedded/develop-apps-platforms/codecache.htm#A1100181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-251092" y="6129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900"/>
              <a:t>Кеширование в JVM</a:t>
            </a:r>
            <a:endParaRPr b="1" sz="49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825033" y="2946217"/>
            <a:ext cx="8520600" cy="163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ru" sz="2057">
                <a:solidFill>
                  <a:schemeClr val="dk1"/>
                </a:solidFill>
              </a:rPr>
              <a:t>Волгина Анастасия, 5030102/30101</a:t>
            </a:r>
            <a:endParaRPr sz="2057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ru" sz="2057">
                <a:solidFill>
                  <a:schemeClr val="dk1"/>
                </a:solidFill>
              </a:rPr>
              <a:t>Виднов Максим, 5030102/30101</a:t>
            </a:r>
            <a:endParaRPr sz="1057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41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257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2820"/>
              <a:t>Память JVM</a:t>
            </a:r>
            <a:endParaRPr b="1" sz="2820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ru"/>
              <a:t>Куча (Heap)</a:t>
            </a:r>
            <a:r>
              <a:rPr lang="ru"/>
              <a:t> - объекты и их данные</a:t>
            </a:r>
            <a:endParaRPr/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Содержит пул строк (String Pool)</a:t>
            </a:r>
            <a:endParaRPr/>
          </a:p>
          <a:p>
            <a:pPr indent="-342900" lvl="0" marL="457200" rtl="0" algn="just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ru"/>
              <a:t>Стек (Stack)</a:t>
            </a:r>
            <a:r>
              <a:rPr lang="ru"/>
              <a:t> - локальные переменные, ссылки на объекты, информация о вызовах методов</a:t>
            </a:r>
            <a:endParaRPr/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Для каждого потока свой стек</a:t>
            </a:r>
            <a:endParaRPr/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Стек - последовательность стековых фреймов (Stack Frame): 1 Stack Frame - 1 вызов метода</a:t>
            </a:r>
            <a:endParaRPr/>
          </a:p>
          <a:p>
            <a:pPr indent="0" lvl="0" marL="45720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LIFO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 title="heap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4658" y="315275"/>
            <a:ext cx="7351900" cy="4512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idx="1" type="body"/>
          </p:nvPr>
        </p:nvSpPr>
        <p:spPr>
          <a:xfrm>
            <a:off x="311700" y="1293200"/>
            <a:ext cx="8273400" cy="23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ru"/>
              <a:t>Область методов (Method Area) </a:t>
            </a:r>
            <a:r>
              <a:rPr lang="ru"/>
              <a:t>- метаданные классов, пул констант, статические переменные, код методов</a:t>
            </a:r>
            <a:endParaRPr/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Разделяется между всеми потоками </a:t>
            </a:r>
            <a:endParaRPr/>
          </a:p>
          <a:p>
            <a:pPr indent="-342900" lvl="0" marL="457200" rtl="0" algn="just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ru"/>
              <a:t>Регистры нативных методов (Native Methods Stacks)</a:t>
            </a:r>
            <a:r>
              <a:rPr lang="ru"/>
              <a:t> -  стековые фреймы для вызовов нативных методов</a:t>
            </a:r>
            <a:endParaRPr b="1"/>
          </a:p>
        </p:txBody>
      </p:sp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257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2820"/>
              <a:t>Память JVM</a:t>
            </a:r>
            <a:endParaRPr b="1" sz="2820"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3376000"/>
            <a:ext cx="8273400" cy="9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ru"/>
              <a:t>Code Cache </a:t>
            </a:r>
            <a:r>
              <a:rPr lang="ru"/>
              <a:t>- машинный код, скомпилированный JIT компилятором, машинный код самой JVM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2820"/>
              <a:t>Введение</a:t>
            </a:r>
            <a:endParaRPr b="1" sz="2820"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10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ru"/>
              <a:t>Кеширование</a:t>
            </a:r>
            <a:r>
              <a:rPr lang="ru"/>
              <a:t> - сохранение данных или результатов вычислений для быстрого повторного использования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2136601"/>
            <a:ext cx="8520600" cy="8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Кеширование объектов: </a:t>
            </a:r>
            <a:r>
              <a:rPr b="1" lang="ru"/>
              <a:t>пул строк, IntegerCache</a:t>
            </a:r>
            <a:endParaRPr b="1"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2980801"/>
            <a:ext cx="8520600" cy="8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Кеширование результатов операций: </a:t>
            </a:r>
            <a:r>
              <a:rPr b="1" lang="ru"/>
              <a:t>JIT-компиляция и Code Cache</a:t>
            </a:r>
            <a:endParaRPr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132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2820"/>
              <a:t>Пул строк (String Pool)</a:t>
            </a:r>
            <a:endParaRPr b="1" sz="2820"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705025"/>
            <a:ext cx="8520600" cy="10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ru" sz="1700"/>
              <a:t>Пул строк</a:t>
            </a:r>
            <a:r>
              <a:rPr lang="ru" sz="1700"/>
              <a:t> – область памяти внутри кучи для хранения строковых литералов</a:t>
            </a:r>
            <a:endParaRPr sz="17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8"/>
          <p:cNvSpPr txBox="1"/>
          <p:nvPr/>
        </p:nvSpPr>
        <p:spPr>
          <a:xfrm>
            <a:off x="311700" y="1134686"/>
            <a:ext cx="81765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</a:pPr>
            <a:r>
              <a:rPr lang="ru" sz="1700">
                <a:solidFill>
                  <a:schemeClr val="dk2"/>
                </a:solidFill>
              </a:rPr>
              <a:t>Создаем строки с повторяющимися значениями через </a:t>
            </a:r>
            <a:r>
              <a:rPr b="1" lang="ru" sz="1700">
                <a:solidFill>
                  <a:schemeClr val="dk2"/>
                </a:solidFill>
              </a:rPr>
              <a:t>литералы</a:t>
            </a:r>
            <a:r>
              <a:rPr lang="ru" sz="1700">
                <a:solidFill>
                  <a:schemeClr val="dk2"/>
                </a:solidFill>
              </a:rPr>
              <a:t> или метод </a:t>
            </a:r>
            <a:r>
              <a:rPr b="1" lang="ru" sz="1700">
                <a:solidFill>
                  <a:schemeClr val="dk2"/>
                </a:solidFill>
              </a:rPr>
              <a:t>intern()</a:t>
            </a:r>
            <a:r>
              <a:rPr lang="ru" sz="1700">
                <a:solidFill>
                  <a:schemeClr val="dk2"/>
                </a:solidFill>
              </a:rPr>
              <a:t> - переменные ссылаются на один и тот же объект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89" name="Google Shape;89;p18" title="Снимок экрана 2025-11-19 212749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025" y="1905300"/>
            <a:ext cx="4692587" cy="301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8" title="Снимок экрана 2025-11-18 21452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62325" y="3993600"/>
            <a:ext cx="2025900" cy="93105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8"/>
          <p:cNvSpPr/>
          <p:nvPr/>
        </p:nvSpPr>
        <p:spPr>
          <a:xfrm>
            <a:off x="6915425" y="2021475"/>
            <a:ext cx="1172400" cy="50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8"/>
          <p:cNvSpPr/>
          <p:nvPr/>
        </p:nvSpPr>
        <p:spPr>
          <a:xfrm>
            <a:off x="6712125" y="2666513"/>
            <a:ext cx="1579000" cy="766050"/>
          </a:xfrm>
          <a:prstGeom prst="flowChartDecision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8"/>
          <p:cNvSpPr/>
          <p:nvPr/>
        </p:nvSpPr>
        <p:spPr>
          <a:xfrm>
            <a:off x="5270813" y="3313225"/>
            <a:ext cx="1172400" cy="50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4" name="Google Shape;94;p18"/>
          <p:cNvCxnSpPr>
            <a:stCxn id="91" idx="2"/>
            <a:endCxn id="92" idx="0"/>
          </p:cNvCxnSpPr>
          <p:nvPr/>
        </p:nvCxnSpPr>
        <p:spPr>
          <a:xfrm>
            <a:off x="7501625" y="2521875"/>
            <a:ext cx="0" cy="14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" name="Google Shape;95;p18"/>
          <p:cNvCxnSpPr>
            <a:stCxn id="92" idx="1"/>
          </p:cNvCxnSpPr>
          <p:nvPr/>
        </p:nvCxnSpPr>
        <p:spPr>
          <a:xfrm flipH="1">
            <a:off x="5847525" y="3049538"/>
            <a:ext cx="864600" cy="1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" name="Google Shape;96;p18"/>
          <p:cNvCxnSpPr>
            <a:endCxn id="93" idx="0"/>
          </p:cNvCxnSpPr>
          <p:nvPr/>
        </p:nvCxnSpPr>
        <p:spPr>
          <a:xfrm>
            <a:off x="5853113" y="3057325"/>
            <a:ext cx="3900" cy="25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" name="Google Shape;97;p18"/>
          <p:cNvCxnSpPr>
            <a:endCxn id="92" idx="3"/>
          </p:cNvCxnSpPr>
          <p:nvPr/>
        </p:nvCxnSpPr>
        <p:spPr>
          <a:xfrm rot="10800000">
            <a:off x="8291125" y="3049538"/>
            <a:ext cx="259800" cy="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" name="Google Shape;98;p18"/>
          <p:cNvCxnSpPr/>
          <p:nvPr/>
        </p:nvCxnSpPr>
        <p:spPr>
          <a:xfrm>
            <a:off x="8082800" y="3562450"/>
            <a:ext cx="5100" cy="72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9" name="Google Shape;99;p18"/>
          <p:cNvSpPr/>
          <p:nvPr/>
        </p:nvSpPr>
        <p:spPr>
          <a:xfrm>
            <a:off x="7501625" y="4283650"/>
            <a:ext cx="1172400" cy="500400"/>
          </a:xfrm>
          <a:prstGeom prst="parallelogram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0" name="Google Shape;100;p18"/>
          <p:cNvCxnSpPr>
            <a:stCxn id="93" idx="3"/>
          </p:cNvCxnSpPr>
          <p:nvPr/>
        </p:nvCxnSpPr>
        <p:spPr>
          <a:xfrm flipH="1" rot="10800000">
            <a:off x="6443213" y="3559225"/>
            <a:ext cx="2122500" cy="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" name="Google Shape;101;p18"/>
          <p:cNvCxnSpPr/>
          <p:nvPr/>
        </p:nvCxnSpPr>
        <p:spPr>
          <a:xfrm>
            <a:off x="8549175" y="3062000"/>
            <a:ext cx="10800" cy="48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" name="Google Shape;102;p18"/>
          <p:cNvSpPr txBox="1"/>
          <p:nvPr/>
        </p:nvSpPr>
        <p:spPr>
          <a:xfrm>
            <a:off x="6918275" y="2099100"/>
            <a:ext cx="1172400" cy="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2"/>
                </a:solidFill>
              </a:rPr>
              <a:t>Объявление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03" name="Google Shape;103;p18"/>
          <p:cNvSpPr txBox="1"/>
          <p:nvPr/>
        </p:nvSpPr>
        <p:spPr>
          <a:xfrm>
            <a:off x="6977825" y="2802575"/>
            <a:ext cx="14625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2"/>
                </a:solidFill>
              </a:rPr>
              <a:t>Есть ли такая строка в пуле?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04" name="Google Shape;104;p18"/>
          <p:cNvSpPr txBox="1"/>
          <p:nvPr/>
        </p:nvSpPr>
        <p:spPr>
          <a:xfrm>
            <a:off x="5853200" y="2771350"/>
            <a:ext cx="4905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2"/>
                </a:solidFill>
              </a:rPr>
              <a:t>нет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05" name="Google Shape;105;p18"/>
          <p:cNvSpPr txBox="1"/>
          <p:nvPr/>
        </p:nvSpPr>
        <p:spPr>
          <a:xfrm>
            <a:off x="8220625" y="2771338"/>
            <a:ext cx="4008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2"/>
                </a:solidFill>
              </a:rPr>
              <a:t>да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06" name="Google Shape;106;p18"/>
          <p:cNvSpPr txBox="1"/>
          <p:nvPr/>
        </p:nvSpPr>
        <p:spPr>
          <a:xfrm>
            <a:off x="5270825" y="3303425"/>
            <a:ext cx="1172400" cy="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2"/>
                </a:solidFill>
              </a:rPr>
              <a:t>Создать новый объект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07" name="Google Shape;107;p18"/>
          <p:cNvSpPr txBox="1"/>
          <p:nvPr/>
        </p:nvSpPr>
        <p:spPr>
          <a:xfrm>
            <a:off x="7719425" y="4283625"/>
            <a:ext cx="1172400" cy="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2"/>
                </a:solidFill>
              </a:rPr>
              <a:t>Вернуть ссылку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 txBox="1"/>
          <p:nvPr>
            <p:ph type="title"/>
          </p:nvPr>
        </p:nvSpPr>
        <p:spPr>
          <a:xfrm>
            <a:off x="311700" y="257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2820"/>
              <a:t>Пул строк (String Pool)</a:t>
            </a:r>
            <a:endParaRPr b="1" sz="2820"/>
          </a:p>
        </p:txBody>
      </p:sp>
      <p:sp>
        <p:nvSpPr>
          <p:cNvPr id="113" name="Google Shape;113;p19"/>
          <p:cNvSpPr txBox="1"/>
          <p:nvPr>
            <p:ph idx="1" type="body"/>
          </p:nvPr>
        </p:nvSpPr>
        <p:spPr>
          <a:xfrm>
            <a:off x="311700" y="1293200"/>
            <a:ext cx="8520600" cy="84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Позволяет сократить использование памяти при работе со строками, содержимое которых может повторяться</a:t>
            </a:r>
            <a:endParaRPr/>
          </a:p>
        </p:txBody>
      </p:sp>
      <p:sp>
        <p:nvSpPr>
          <p:cNvPr id="114" name="Google Shape;114;p19"/>
          <p:cNvSpPr txBox="1"/>
          <p:nvPr/>
        </p:nvSpPr>
        <p:spPr>
          <a:xfrm>
            <a:off x="311700" y="2294275"/>
            <a:ext cx="7879500" cy="18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Управление размером String Pool: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800">
                <a:solidFill>
                  <a:schemeClr val="dk2"/>
                </a:solidFill>
              </a:rPr>
              <a:t>-XX:StringTableSize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800">
                <a:solidFill>
                  <a:schemeClr val="dk2"/>
                </a:solidFill>
              </a:rPr>
              <a:t>-XX:StringTableSizePerBucket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/>
          <p:nvPr>
            <p:ph type="title"/>
          </p:nvPr>
        </p:nvSpPr>
        <p:spPr>
          <a:xfrm>
            <a:off x="277500" y="150701"/>
            <a:ext cx="8589000" cy="7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2820"/>
              <a:t>Кеширование объектов классов-оболочек</a:t>
            </a:r>
            <a:endParaRPr b="1" sz="2820"/>
          </a:p>
        </p:txBody>
      </p:sp>
      <p:sp>
        <p:nvSpPr>
          <p:cNvPr id="120" name="Google Shape;120;p20"/>
          <p:cNvSpPr txBox="1"/>
          <p:nvPr>
            <p:ph idx="1" type="body"/>
          </p:nvPr>
        </p:nvSpPr>
        <p:spPr>
          <a:xfrm>
            <a:off x="311700" y="1070531"/>
            <a:ext cx="8520600" cy="9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Классы-оболочки (</a:t>
            </a:r>
            <a:r>
              <a:rPr b="1" lang="ru"/>
              <a:t>Integer</a:t>
            </a:r>
            <a:r>
              <a:rPr lang="ru"/>
              <a:t>, </a:t>
            </a:r>
            <a:r>
              <a:rPr b="1" lang="ru"/>
              <a:t>Byte</a:t>
            </a:r>
            <a:r>
              <a:rPr lang="ru"/>
              <a:t>, </a:t>
            </a:r>
            <a:r>
              <a:rPr b="1" lang="ru"/>
              <a:t>Shor</a:t>
            </a:r>
            <a:r>
              <a:rPr b="1" lang="ru"/>
              <a:t>t</a:t>
            </a:r>
            <a:r>
              <a:rPr lang="ru"/>
              <a:t>, </a:t>
            </a:r>
            <a:r>
              <a:rPr b="1" lang="ru"/>
              <a:t>Long</a:t>
            </a:r>
            <a:r>
              <a:rPr lang="ru"/>
              <a:t>, </a:t>
            </a:r>
            <a:r>
              <a:rPr b="1" lang="ru"/>
              <a:t>Character</a:t>
            </a:r>
            <a:r>
              <a:rPr lang="ru"/>
              <a:t>)  кешируют значения в ограниченном диапазоне</a:t>
            </a:r>
            <a:endParaRPr/>
          </a:p>
        </p:txBody>
      </p:sp>
      <p:sp>
        <p:nvSpPr>
          <p:cNvPr id="121" name="Google Shape;121;p20"/>
          <p:cNvSpPr txBox="1"/>
          <p:nvPr/>
        </p:nvSpPr>
        <p:spPr>
          <a:xfrm>
            <a:off x="311700" y="3731250"/>
            <a:ext cx="499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Для чего нужно - о</a:t>
            </a:r>
            <a:r>
              <a:rPr lang="ru" sz="1800">
                <a:solidFill>
                  <a:schemeClr val="dk2"/>
                </a:solidFill>
              </a:rPr>
              <a:t>птимизация памяти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2" name="Google Shape;122;p20"/>
          <p:cNvSpPr txBox="1"/>
          <p:nvPr/>
        </p:nvSpPr>
        <p:spPr>
          <a:xfrm>
            <a:off x="311700" y="2467773"/>
            <a:ext cx="8112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Кешируемый диапазон (по умолчанию): </a:t>
            </a:r>
            <a:r>
              <a:rPr b="1" lang="ru" sz="1800">
                <a:solidFill>
                  <a:schemeClr val="dk2"/>
                </a:solidFill>
              </a:rPr>
              <a:t>от -128 до 127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123" name="Google Shape;123;p20"/>
          <p:cNvSpPr txBox="1"/>
          <p:nvPr/>
        </p:nvSpPr>
        <p:spPr>
          <a:xfrm>
            <a:off x="311700" y="3097581"/>
            <a:ext cx="726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Расширение верхней границы: </a:t>
            </a:r>
            <a:r>
              <a:rPr b="1" lang="ru" sz="1800">
                <a:solidFill>
                  <a:schemeClr val="dk2"/>
                </a:solidFill>
              </a:rPr>
              <a:t>-XX:AutoBoxCacheMax=size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124" name="Google Shape;124;p20"/>
          <p:cNvSpPr txBox="1"/>
          <p:nvPr/>
        </p:nvSpPr>
        <p:spPr>
          <a:xfrm>
            <a:off x="311700" y="1896637"/>
            <a:ext cx="820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Выполняется при использовании метода </a:t>
            </a:r>
            <a:r>
              <a:rPr b="1" lang="ru" sz="1800">
                <a:solidFill>
                  <a:schemeClr val="dk2"/>
                </a:solidFill>
              </a:rPr>
              <a:t>valueOf</a:t>
            </a:r>
            <a:r>
              <a:rPr lang="ru" sz="1800">
                <a:solidFill>
                  <a:schemeClr val="dk2"/>
                </a:solidFill>
              </a:rPr>
              <a:t> и при </a:t>
            </a:r>
            <a:r>
              <a:rPr b="1" lang="ru" sz="1800">
                <a:solidFill>
                  <a:schemeClr val="dk2"/>
                </a:solidFill>
              </a:rPr>
              <a:t>автоупаковке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 txBox="1"/>
          <p:nvPr>
            <p:ph type="title"/>
          </p:nvPr>
        </p:nvSpPr>
        <p:spPr>
          <a:xfrm>
            <a:off x="277500" y="150701"/>
            <a:ext cx="8589000" cy="7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2820"/>
              <a:t>Кеширование объектов классов-оболочек</a:t>
            </a:r>
            <a:endParaRPr b="1" sz="2820"/>
          </a:p>
        </p:txBody>
      </p:sp>
      <p:pic>
        <p:nvPicPr>
          <p:cNvPr id="130" name="Google Shape;130;p21" title="Снимок экрана 2025-11-19 2127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200" y="794949"/>
            <a:ext cx="4838289" cy="261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1" title="Снимок экрана 2025-11-19 21244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80026" y="1213664"/>
            <a:ext cx="1914525" cy="704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1"/>
          <p:cNvSpPr txBox="1"/>
          <p:nvPr/>
        </p:nvSpPr>
        <p:spPr>
          <a:xfrm>
            <a:off x="5586225" y="769850"/>
            <a:ext cx="25638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По умолчанию: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33" name="Google Shape;133;p21" title="Снимок экрана 2025-11-19 21231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49275" y="2612525"/>
            <a:ext cx="207645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1"/>
          <p:cNvSpPr txBox="1"/>
          <p:nvPr/>
        </p:nvSpPr>
        <p:spPr>
          <a:xfrm>
            <a:off x="5680025" y="2139338"/>
            <a:ext cx="3369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700">
                <a:solidFill>
                  <a:schemeClr val="dk2"/>
                </a:solidFill>
              </a:rPr>
              <a:t>-XX:AutoBoxCacheMax=150</a:t>
            </a:r>
            <a:endParaRPr sz="1700">
              <a:solidFill>
                <a:schemeClr val="dk2"/>
              </a:solidFill>
            </a:endParaRPr>
          </a:p>
        </p:txBody>
      </p:sp>
      <p:pic>
        <p:nvPicPr>
          <p:cNvPr id="135" name="Google Shape;135;p21" title="Снимок экрана 2025-11-19 212413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8200" y="3533459"/>
            <a:ext cx="5331075" cy="14415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2" title="Снимок экрана 2025-11-18 23174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675" y="79874"/>
            <a:ext cx="7704000" cy="4983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3" title="Снимок экрана 2025-11-18 2318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213" y="407450"/>
            <a:ext cx="8767576" cy="432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4" title="Снимок экрана 2025-11-18 23182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82650"/>
            <a:ext cx="8839200" cy="3513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5"/>
          <p:cNvSpPr txBox="1"/>
          <p:nvPr>
            <p:ph type="title"/>
          </p:nvPr>
        </p:nvSpPr>
        <p:spPr>
          <a:xfrm>
            <a:off x="311700" y="257425"/>
            <a:ext cx="8589000" cy="7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2820"/>
              <a:t>JIT и Code Cache</a:t>
            </a:r>
            <a:endParaRPr b="1" sz="2820"/>
          </a:p>
        </p:txBody>
      </p:sp>
      <p:sp>
        <p:nvSpPr>
          <p:cNvPr id="156" name="Google Shape;156;p25"/>
          <p:cNvSpPr txBox="1"/>
          <p:nvPr>
            <p:ph idx="1" type="body"/>
          </p:nvPr>
        </p:nvSpPr>
        <p:spPr>
          <a:xfrm>
            <a:off x="311700" y="1070531"/>
            <a:ext cx="8520600" cy="9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ru"/>
              <a:t>JIT (Just-In-Time)</a:t>
            </a:r>
            <a:r>
              <a:rPr lang="ru"/>
              <a:t> компилятор компилирует часто выполняемый код - “горячие точки” (hot spots)</a:t>
            </a:r>
            <a:endParaRPr/>
          </a:p>
        </p:txBody>
      </p:sp>
      <p:sp>
        <p:nvSpPr>
          <p:cNvPr id="157" name="Google Shape;157;p25"/>
          <p:cNvSpPr txBox="1"/>
          <p:nvPr>
            <p:ph idx="1" type="body"/>
          </p:nvPr>
        </p:nvSpPr>
        <p:spPr>
          <a:xfrm>
            <a:off x="307754" y="1874128"/>
            <a:ext cx="8520600" cy="9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Скомпилированный JIT компилятором машинный код хранится в </a:t>
            </a:r>
            <a:r>
              <a:rPr b="1" lang="ru"/>
              <a:t>Code Cache</a:t>
            </a:r>
            <a:endParaRPr b="1"/>
          </a:p>
        </p:txBody>
      </p:sp>
      <p:sp>
        <p:nvSpPr>
          <p:cNvPr id="158" name="Google Shape;158;p25"/>
          <p:cNvSpPr txBox="1"/>
          <p:nvPr>
            <p:ph idx="1" type="body"/>
          </p:nvPr>
        </p:nvSpPr>
        <p:spPr>
          <a:xfrm>
            <a:off x="319450" y="2651874"/>
            <a:ext cx="8706300" cy="9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Повышение производительности - вместо многократной интерпретации одного и того же байт-кода выполняется быстрый машинный код из кеша</a:t>
            </a:r>
            <a:endParaRPr/>
          </a:p>
        </p:txBody>
      </p:sp>
      <p:sp>
        <p:nvSpPr>
          <p:cNvPr id="159" name="Google Shape;159;p25"/>
          <p:cNvSpPr txBox="1"/>
          <p:nvPr>
            <p:ph idx="1" type="body"/>
          </p:nvPr>
        </p:nvSpPr>
        <p:spPr>
          <a:xfrm>
            <a:off x="307750" y="3458948"/>
            <a:ext cx="8520600" cy="15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При заполнении Code Cache JIT-компиляция прекращается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ru"/>
              <a:t>-XX:+UseCodeCacheFlushing</a:t>
            </a:r>
            <a:r>
              <a:rPr lang="ru"/>
              <a:t> - включить очистку Code Cache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6"/>
          <p:cNvSpPr txBox="1"/>
          <p:nvPr>
            <p:ph type="title"/>
          </p:nvPr>
        </p:nvSpPr>
        <p:spPr>
          <a:xfrm>
            <a:off x="311700" y="257425"/>
            <a:ext cx="8589000" cy="7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2820"/>
              <a:t>JIT и Code Cache</a:t>
            </a:r>
            <a:endParaRPr b="1" sz="2820"/>
          </a:p>
        </p:txBody>
      </p:sp>
      <p:sp>
        <p:nvSpPr>
          <p:cNvPr id="165" name="Google Shape;165;p26"/>
          <p:cNvSpPr txBox="1"/>
          <p:nvPr>
            <p:ph idx="1" type="body"/>
          </p:nvPr>
        </p:nvSpPr>
        <p:spPr>
          <a:xfrm>
            <a:off x="311700" y="935333"/>
            <a:ext cx="8520600" cy="143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Управление размером Code Cache: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700"/>
              <a:t>-XX:InitialCodeCacheSize</a:t>
            </a:r>
            <a:r>
              <a:rPr lang="ru" sz="1700"/>
              <a:t> - первоначальный размер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ru" sz="1700"/>
              <a:t>-XX:ReservedCodeCacheSize</a:t>
            </a:r>
            <a:r>
              <a:rPr lang="ru" sz="1700"/>
              <a:t> - максимальный размер</a:t>
            </a:r>
            <a:endParaRPr sz="1700"/>
          </a:p>
        </p:txBody>
      </p:sp>
      <p:sp>
        <p:nvSpPr>
          <p:cNvPr id="166" name="Google Shape;166;p26"/>
          <p:cNvSpPr txBox="1"/>
          <p:nvPr>
            <p:ph idx="1" type="body"/>
          </p:nvPr>
        </p:nvSpPr>
        <p:spPr>
          <a:xfrm>
            <a:off x="307750" y="2436948"/>
            <a:ext cx="8520600" cy="51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Сегменты Code Cache:</a:t>
            </a:r>
            <a:endParaRPr/>
          </a:p>
        </p:txBody>
      </p:sp>
      <p:sp>
        <p:nvSpPr>
          <p:cNvPr id="167" name="Google Shape;167;p26"/>
          <p:cNvSpPr txBox="1"/>
          <p:nvPr/>
        </p:nvSpPr>
        <p:spPr>
          <a:xfrm>
            <a:off x="213951" y="2918375"/>
            <a:ext cx="8520600" cy="16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-"/>
            </a:pPr>
            <a:r>
              <a:rPr b="1" lang="ru" sz="1700">
                <a:solidFill>
                  <a:schemeClr val="dk2"/>
                </a:solidFill>
              </a:rPr>
              <a:t>JVM internal (non-method code)</a:t>
            </a:r>
            <a:r>
              <a:rPr lang="ru" sz="1700">
                <a:solidFill>
                  <a:schemeClr val="dk2"/>
                </a:solidFill>
              </a:rPr>
              <a:t> - машинный код самой JVM (установить размер: -XX:NonNMethodCodeHeapSize)</a:t>
            </a:r>
            <a:endParaRPr sz="1700">
              <a:solidFill>
                <a:schemeClr val="dk2"/>
              </a:solidFill>
            </a:endParaRPr>
          </a:p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-"/>
            </a:pPr>
            <a:r>
              <a:rPr b="1" lang="ru" sz="1700">
                <a:solidFill>
                  <a:schemeClr val="dk2"/>
                </a:solidFill>
              </a:rPr>
              <a:t>Profiled code</a:t>
            </a:r>
            <a:r>
              <a:rPr lang="ru" sz="1700">
                <a:solidFill>
                  <a:schemeClr val="dk2"/>
                </a:solidFill>
              </a:rPr>
              <a:t> - частично оптимизированный машинный код с коротким временем жизни (установить размер: -XX:ProfiledCodeHeapSize)</a:t>
            </a:r>
            <a:endParaRPr sz="1700">
              <a:solidFill>
                <a:schemeClr val="dk2"/>
              </a:solidFill>
            </a:endParaRPr>
          </a:p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-"/>
            </a:pPr>
            <a:r>
              <a:rPr b="1" lang="ru" sz="1700">
                <a:solidFill>
                  <a:schemeClr val="dk2"/>
                </a:solidFill>
              </a:rPr>
              <a:t>Non-profiled code</a:t>
            </a:r>
            <a:r>
              <a:rPr lang="ru" sz="1700">
                <a:solidFill>
                  <a:schemeClr val="dk2"/>
                </a:solidFill>
              </a:rPr>
              <a:t> - полностью оптимизированный код с потенциально долгим временем жизни (установить размер: -XX: NonProfiledCodeHeapSize)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7" title="Снимок экрана 2025-11-20 122043.png"/>
          <p:cNvPicPr preferRelativeResize="0"/>
          <p:nvPr/>
        </p:nvPicPr>
        <p:blipFill rotWithShape="1">
          <a:blip r:embed="rId3">
            <a:alphaModFix/>
          </a:blip>
          <a:srcRect b="0" l="288" r="288" t="0"/>
          <a:stretch/>
        </p:blipFill>
        <p:spPr>
          <a:xfrm>
            <a:off x="624239" y="93800"/>
            <a:ext cx="7135310" cy="42263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7" title="Снимок экрана 2025-11-19 23255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4250" y="4367001"/>
            <a:ext cx="4932350" cy="67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8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2820"/>
              <a:t>Заключение</a:t>
            </a:r>
            <a:endParaRPr b="1" sz="2820"/>
          </a:p>
        </p:txBody>
      </p:sp>
      <p:sp>
        <p:nvSpPr>
          <p:cNvPr id="179" name="Google Shape;179;p28"/>
          <p:cNvSpPr txBox="1"/>
          <p:nvPr>
            <p:ph idx="1" type="body"/>
          </p:nvPr>
        </p:nvSpPr>
        <p:spPr>
          <a:xfrm>
            <a:off x="311700" y="1057851"/>
            <a:ext cx="8520600" cy="8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Пул строк, кеширование в классах-оболочках - позволяют избежать создания дублирующихся объектов</a:t>
            </a:r>
            <a:endParaRPr b="1"/>
          </a:p>
        </p:txBody>
      </p:sp>
      <p:sp>
        <p:nvSpPr>
          <p:cNvPr id="180" name="Google Shape;180;p28"/>
          <p:cNvSpPr txBox="1"/>
          <p:nvPr>
            <p:ph idx="1" type="body"/>
          </p:nvPr>
        </p:nvSpPr>
        <p:spPr>
          <a:xfrm>
            <a:off x="296075" y="1989064"/>
            <a:ext cx="8520600" cy="17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JIT-компиляция и Code Cache - позволяют избежать повторной интерпретации одного и того же байт-кода за счет хранения скомпилированного машинного кода для “горячих точек”</a:t>
            </a:r>
            <a:endParaRPr b="1"/>
          </a:p>
        </p:txBody>
      </p:sp>
      <p:sp>
        <p:nvSpPr>
          <p:cNvPr id="181" name="Google Shape;181;p28"/>
          <p:cNvSpPr txBox="1"/>
          <p:nvPr>
            <p:ph idx="1" type="body"/>
          </p:nvPr>
        </p:nvSpPr>
        <p:spPr>
          <a:xfrm>
            <a:off x="498300" y="3264250"/>
            <a:ext cx="8520600" cy="11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Итог: оптимизация памяти и времени выполнения. Критично для приложений, работающих с большим количеством данных, высоконагруженных сервисов.</a:t>
            </a:r>
            <a:endParaRPr b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9"/>
          <p:cNvSpPr txBox="1"/>
          <p:nvPr>
            <p:ph type="title"/>
          </p:nvPr>
        </p:nvSpPr>
        <p:spPr>
          <a:xfrm>
            <a:off x="311700" y="319960"/>
            <a:ext cx="8589000" cy="7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2820"/>
              <a:t>Источники</a:t>
            </a:r>
            <a:endParaRPr b="1" sz="2820"/>
          </a:p>
        </p:txBody>
      </p:sp>
      <p:sp>
        <p:nvSpPr>
          <p:cNvPr id="187" name="Google Shape;187;p29"/>
          <p:cNvSpPr txBox="1"/>
          <p:nvPr>
            <p:ph idx="1" type="body"/>
          </p:nvPr>
        </p:nvSpPr>
        <p:spPr>
          <a:xfrm>
            <a:off x="311700" y="1355721"/>
            <a:ext cx="8520600" cy="2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ru" sz="1900" u="sng">
                <a:solidFill>
                  <a:schemeClr val="hlink"/>
                </a:solidFill>
                <a:hlinkClick r:id="rId3"/>
              </a:rPr>
              <a:t>https://proselyte.net/jvm-basics/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ru" sz="1900" u="sng">
                <a:solidFill>
                  <a:schemeClr val="hlink"/>
                </a:solidFill>
                <a:hlinkClick r:id="rId4"/>
              </a:rPr>
              <a:t>https://java.msk.ru/integer-cache-%D0%B2-java/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ru" sz="1900"/>
              <a:t>Исходный код JDK (java.lang.Integer)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ru" sz="1900" u="sng">
                <a:solidFill>
                  <a:schemeClr val="hlink"/>
                </a:solidFill>
                <a:hlinkClick r:id="rId5"/>
              </a:rPr>
              <a:t>https://habr.com/ru/articles/536288/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ru" sz="2000" u="sng">
                <a:solidFill>
                  <a:schemeClr val="hlink"/>
                </a:solidFill>
                <a:hlinkClick r:id="rId6"/>
              </a:rPr>
              <a:t>https://docs.oracle.com/javase/8/embedded/develop-apps-platforms/codecache.htm#A1100181</a:t>
            </a:r>
            <a:endParaRPr sz="2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0"/>
          <p:cNvSpPr txBox="1"/>
          <p:nvPr>
            <p:ph type="title"/>
          </p:nvPr>
        </p:nvSpPr>
        <p:spPr>
          <a:xfrm>
            <a:off x="358600" y="2124550"/>
            <a:ext cx="8589000" cy="7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4020"/>
              <a:t>Спасибо за внимание!</a:t>
            </a:r>
            <a:endParaRPr b="1" sz="402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